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4f93b5f5e84280" /><Relationship Type="http://schemas.openxmlformats.org/officeDocument/2006/relationships/extended-properties" Target="/docProps/app.xml" Id="R9bbedbe9b0814a2f" /><Relationship Type="http://schemas.openxmlformats.org/officeDocument/2006/relationships/officeDocument" Target="/ppt/presentation.xml" Id="R986f92b58f4840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9322e8d4774113"/>
  </p:sldMasterIdLst>
  <p:notesMasterIdLst>
    <p:notesMasterId xmlns:r="http://schemas.openxmlformats.org/officeDocument/2006/relationships" r:id="Rd0bdd3237dbf4758"/>
  </p:notesMasterIdLst>
  <p:sldIdLst>
    <p:sldId xmlns:r="http://schemas.openxmlformats.org/officeDocument/2006/relationships" id="256" r:id="Ra60ede146da14eff"/>
    <p:sldId xmlns:r="http://schemas.openxmlformats.org/officeDocument/2006/relationships" id="257" r:id="Re8101c13c91445f1"/>
    <p:sldId xmlns:r="http://schemas.openxmlformats.org/officeDocument/2006/relationships" id="258" r:id="R6d5efa911a3141ac"/>
    <p:sldId xmlns:r="http://schemas.openxmlformats.org/officeDocument/2006/relationships" id="259" r:id="Rb0055dc62a2b4ad7"/>
    <p:sldId xmlns:r="http://schemas.openxmlformats.org/officeDocument/2006/relationships" id="260" r:id="Rd103a8509aca4578"/>
    <p:sldId xmlns:r="http://schemas.openxmlformats.org/officeDocument/2006/relationships" id="261" r:id="Rccc1780f45254395"/>
    <p:sldId xmlns:r="http://schemas.openxmlformats.org/officeDocument/2006/relationships" id="262" r:id="Rf9073fdbb6444a0c"/>
    <p:sldId xmlns:r="http://schemas.openxmlformats.org/officeDocument/2006/relationships" id="263" r:id="R45df0b5898f543e9"/>
    <p:sldId xmlns:r="http://schemas.openxmlformats.org/officeDocument/2006/relationships" id="264" r:id="R4a39fc6dbf3b4ab8"/>
    <p:sldId xmlns:r="http://schemas.openxmlformats.org/officeDocument/2006/relationships" id="265" r:id="Rafff099300984d6f"/>
    <p:sldId xmlns:r="http://schemas.openxmlformats.org/officeDocument/2006/relationships" id="266" r:id="R1392f01c6d3d4eb7"/>
    <p:sldId xmlns:r="http://schemas.openxmlformats.org/officeDocument/2006/relationships" id="267" r:id="Re95a9790fc9c40f8"/>
    <p:sldId xmlns:r="http://schemas.openxmlformats.org/officeDocument/2006/relationships" id="268" r:id="R515450544519496c"/>
    <p:sldId xmlns:r="http://schemas.openxmlformats.org/officeDocument/2006/relationships" id="269" r:id="Rfcb024e941624247"/>
    <p:sldId xmlns:r="http://schemas.openxmlformats.org/officeDocument/2006/relationships" id="270" r:id="R933e1b7bec1d483b"/>
    <p:sldId xmlns:r="http://schemas.openxmlformats.org/officeDocument/2006/relationships" id="271" r:id="R6b3d3c5fdf9840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f746b8679c4c57" /><Relationship Type="http://schemas.openxmlformats.org/officeDocument/2006/relationships/slideMaster" Target="/ppt/slideMasters/slideMaster1.xml" Id="Re19322e8d4774113" /><Relationship Type="http://schemas.openxmlformats.org/officeDocument/2006/relationships/notesMaster" Target="/ppt/notesMasters/notesMaster1.xml" Id="Rd0bdd3237dbf4758" /><Relationship Type="http://schemas.openxmlformats.org/officeDocument/2006/relationships/presProps" Target="/ppt/presProps.xml" Id="Rcbf0a539e8644978" /><Relationship Type="http://schemas.openxmlformats.org/officeDocument/2006/relationships/tableStyles" Target="/ppt/tableStyles.xml" Id="R9a86f97bfa9f4b76" /><Relationship Type="http://schemas.openxmlformats.org/officeDocument/2006/relationships/slide" Target="/ppt/slides/slide1.xml" Id="Ra60ede146da14eff" /><Relationship Type="http://schemas.openxmlformats.org/officeDocument/2006/relationships/slide" Target="/ppt/slides/slide2.xml" Id="Re8101c13c91445f1" /><Relationship Type="http://schemas.openxmlformats.org/officeDocument/2006/relationships/slide" Target="/ppt/slides/slide3.xml" Id="R6d5efa911a3141ac" /><Relationship Type="http://schemas.openxmlformats.org/officeDocument/2006/relationships/slide" Target="/ppt/slides/slide4.xml" Id="Rb0055dc62a2b4ad7" /><Relationship Type="http://schemas.openxmlformats.org/officeDocument/2006/relationships/slide" Target="/ppt/slides/slide5.xml" Id="Rd103a8509aca4578" /><Relationship Type="http://schemas.openxmlformats.org/officeDocument/2006/relationships/slide" Target="/ppt/slides/slide6.xml" Id="Rccc1780f45254395" /><Relationship Type="http://schemas.openxmlformats.org/officeDocument/2006/relationships/slide" Target="/ppt/slides/slide7.xml" Id="Rf9073fdbb6444a0c" /><Relationship Type="http://schemas.openxmlformats.org/officeDocument/2006/relationships/slide" Target="/ppt/slides/slide8.xml" Id="R45df0b5898f543e9" /><Relationship Type="http://schemas.openxmlformats.org/officeDocument/2006/relationships/slide" Target="/ppt/slides/slide9.xml" Id="R4a39fc6dbf3b4ab8" /><Relationship Type="http://schemas.openxmlformats.org/officeDocument/2006/relationships/slide" Target="/ppt/slides/slide10.xml" Id="Rafff099300984d6f" /><Relationship Type="http://schemas.openxmlformats.org/officeDocument/2006/relationships/slide" Target="/ppt/slides/slide11.xml" Id="R1392f01c6d3d4eb7" /><Relationship Type="http://schemas.openxmlformats.org/officeDocument/2006/relationships/slide" Target="/ppt/slides/slide12.xml" Id="Re95a9790fc9c40f8" /><Relationship Type="http://schemas.openxmlformats.org/officeDocument/2006/relationships/slide" Target="/ppt/slides/slide13.xml" Id="R515450544519496c" /><Relationship Type="http://schemas.openxmlformats.org/officeDocument/2006/relationships/slide" Target="/ppt/slides/slide14.xml" Id="Rfcb024e941624247" /><Relationship Type="http://schemas.openxmlformats.org/officeDocument/2006/relationships/slide" Target="/ppt/slides/slide15.xml" Id="R933e1b7bec1d483b" /><Relationship Type="http://schemas.openxmlformats.org/officeDocument/2006/relationships/slide" Target="/ppt/slides/slide16.xml" Id="R6b3d3c5fdf9840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a4ee49ba24d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ffce58eefa400a" /><Relationship Type="http://schemas.openxmlformats.org/officeDocument/2006/relationships/notesMaster" Target="/ppt/notesMasters/notesMaster1.xml" Id="Rb7a7a4af90d04f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e21eac823a4ce1" /><Relationship Type="http://schemas.openxmlformats.org/officeDocument/2006/relationships/notesMaster" Target="/ppt/notesMasters/notesMaster1.xml" Id="R35d7501e48424f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0df43f28a541f9" /><Relationship Type="http://schemas.openxmlformats.org/officeDocument/2006/relationships/notesMaster" Target="/ppt/notesMasters/notesMaster1.xml" Id="R6bae7eee7f0a4e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1c5aa15f0649bf" /><Relationship Type="http://schemas.openxmlformats.org/officeDocument/2006/relationships/notesMaster" Target="/ppt/notesMasters/notesMaster1.xml" Id="R8e45a6e250d64e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3357c7845248e4" /><Relationship Type="http://schemas.openxmlformats.org/officeDocument/2006/relationships/notesMaster" Target="/ppt/notesMasters/notesMaster1.xml" Id="R56b7737690c24e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325bc972204f96" /><Relationship Type="http://schemas.openxmlformats.org/officeDocument/2006/relationships/notesMaster" Target="/ppt/notesMasters/notesMaster1.xml" Id="Rad5e701a35524b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06bcab2ba04692" /><Relationship Type="http://schemas.openxmlformats.org/officeDocument/2006/relationships/notesMaster" Target="/ppt/notesMasters/notesMaster1.xml" Id="R87b2ef5ea41949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a7919e71354656" /><Relationship Type="http://schemas.openxmlformats.org/officeDocument/2006/relationships/notesMaster" Target="/ppt/notesMasters/notesMaster1.xml" Id="Rdc96887f807048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833c8e75484171" /><Relationship Type="http://schemas.openxmlformats.org/officeDocument/2006/relationships/notesMaster" Target="/ppt/notesMasters/notesMaster1.xml" Id="R92ec6a6bb07446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8eed676533477f" /><Relationship Type="http://schemas.openxmlformats.org/officeDocument/2006/relationships/notesMaster" Target="/ppt/notesMasters/notesMaster1.xml" Id="R7b024f56156448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4cd2b98ff8492d" /><Relationship Type="http://schemas.openxmlformats.org/officeDocument/2006/relationships/notesMaster" Target="/ppt/notesMasters/notesMaster1.xml" Id="R373cd7bc813c4d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9719f15eb3423b" /><Relationship Type="http://schemas.openxmlformats.org/officeDocument/2006/relationships/notesMaster" Target="/ppt/notesMasters/notesMaster1.xml" Id="Rf4a7e5033f104c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7c5441533a4eff" /><Relationship Type="http://schemas.openxmlformats.org/officeDocument/2006/relationships/notesMaster" Target="/ppt/notesMasters/notesMaster1.xml" Id="R2f68913e633a40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a3430ce39f4b36" /><Relationship Type="http://schemas.openxmlformats.org/officeDocument/2006/relationships/notesMaster" Target="/ppt/notesMasters/notesMaster1.xml" Id="R87ed8fc458ff42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04f255e5f34163" /><Relationship Type="http://schemas.openxmlformats.org/officeDocument/2006/relationships/notesMaster" Target="/ppt/notesMasters/notesMaster1.xml" Id="R31dd675fb33945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e4e2b25f7a4249" /><Relationship Type="http://schemas.openxmlformats.org/officeDocument/2006/relationships/notesMaster" Target="/ppt/notesMasters/notesMaster1.xml" Id="R55da0c43ff664a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 Visual direction: forest green, ivory, brass and amber; domestic spaces become threatening through blocking and sound. Concept art, not production photography.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 Buyer positioning is creative positioning supplied by the one-pager, not a commissioning claim. Estate and supporting locations derive from source materials. Stunt coordination and other requirements require a production breakdown.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 Names reproduce supplied suggestions. They are alternatives, not a proposed attached ensemble. Family relationships and casting approach should be developed together. Availability, interest and compensation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THE_CAREGIVERS_SECRET_Studio_OnePager.pdf and THE_CAREGIVERS_SECRET_Cast_Suggestions.pdf (October 15, 2026); supplied v8 screenplay for supporting story details. Latest one-pager controls pitch positioning. Original AI-generated concept art illustrates fictional atmosphere and does not depict attached cast. No attachment or availability claims. Packaging: screenplay and companion materials available. No cast, director or financing attachments confirmed in supplied one-pager. Page count and draft label omitted because one-pager describes 83 pages/Rewrite 6 while the supplied v8 PDF has 72 screenplay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4367caa4342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a20c7a36949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0c3576bc94d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6553b484254f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1a64e74c244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1752b52d142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FE54A-9B2A-446D-9D05-8624D7385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B7C803-88A0-4F42-85A8-D7EAC740C3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FC9664-4990-4554-8651-B9ECE112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607E51-0E76-403B-A7DF-8F2CA87E9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945E53-BF7F-42F2-A205-D705DCB195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5798E9-875C-4F7D-B7C4-EDD8F64D3F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9E35AB-188B-4760-A652-1E0C871051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88FB17-6F3D-4B9C-A97B-AAC7E0E07A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628DD1-064F-40FF-8979-493C48087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BFF2D4-975F-415D-B996-5859621BF7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26f4b623444c00" /><Relationship Type="http://schemas.openxmlformats.org/officeDocument/2006/relationships/slideLayout" Target="/ppt/slideLayouts/slideLayout1.xml" Id="Re7237dd7471e475d" /><Relationship Type="http://schemas.openxmlformats.org/officeDocument/2006/relationships/slideLayout" Target="/ppt/slideLayouts/slideLayout2.xml" Id="Re1caa1894c114c37" /><Relationship Type="http://schemas.openxmlformats.org/officeDocument/2006/relationships/slideLayout" Target="/ppt/slideLayouts/slideLayout3.xml" Id="R3e556e7a3d904ea9" /><Relationship Type="http://schemas.openxmlformats.org/officeDocument/2006/relationships/slideLayout" Target="/ppt/slideLayouts/slideLayout4.xml" Id="R5f76f8e7b7fe4e13" /><Relationship Type="http://schemas.openxmlformats.org/officeDocument/2006/relationships/slideLayout" Target="/ppt/slideLayouts/slideLayout5.xml" Id="R3b2c457b0a6b4371" /><Relationship Type="http://schemas.openxmlformats.org/officeDocument/2006/relationships/slideLayout" Target="/ppt/slideLayouts/slideLayout6.xml" Id="R8f7783d2aab747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237dd7471e475d"/>
    <p:sldLayoutId xmlns:r="http://schemas.openxmlformats.org/officeDocument/2006/relationships" id="2147483650" r:id="Re1caa1894c114c37"/>
    <p:sldLayoutId xmlns:r="http://schemas.openxmlformats.org/officeDocument/2006/relationships" id="2147483651" r:id="R3e556e7a3d904ea9"/>
    <p:sldLayoutId xmlns:r="http://schemas.openxmlformats.org/officeDocument/2006/relationships" id="2147483652" r:id="R5f76f8e7b7fe4e13"/>
    <p:sldLayoutId xmlns:r="http://schemas.openxmlformats.org/officeDocument/2006/relationships" id="2147483653" r:id="R3b2c457b0a6b4371"/>
    <p:sldLayoutId xmlns:r="http://schemas.openxmlformats.org/officeDocument/2006/relationships" id="2147483654" r:id="R8f7783d2aab747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823d83b764e1d" /><Relationship Type="http://schemas.openxmlformats.org/officeDocument/2006/relationships/image" Target="/ppt/media/image.png" Id="R48485200b6ec4133" /><Relationship Type="http://schemas.openxmlformats.org/officeDocument/2006/relationships/notesSlide" Target="/ppt/notesSlides/notesSlide1.xml" Id="R393b0e6bb8df46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e3011c63794ea8" /><Relationship Type="http://schemas.openxmlformats.org/officeDocument/2006/relationships/notesSlide" Target="/ppt/notesSlides/notesSlide2.xml" Id="Rae52bd0ec5ad4d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7a9f8481fe4adb" /><Relationship Type="http://schemas.openxmlformats.org/officeDocument/2006/relationships/notesSlide" Target="/ppt/notesSlides/notesSlide3.xml" Id="R5400fb3af593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13ee7e60b64a8b" /><Relationship Type="http://schemas.openxmlformats.org/officeDocument/2006/relationships/notesSlide" Target="/ppt/notesSlides/notesSlide4.xml" Id="R1eeba66c78714f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5245e33b84fd5" /><Relationship Type="http://schemas.openxmlformats.org/officeDocument/2006/relationships/notesSlide" Target="/ppt/notesSlides/notesSlide5.xml" Id="Re38440c940b443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c8fb947424137" /><Relationship Type="http://schemas.openxmlformats.org/officeDocument/2006/relationships/notesSlide" Target="/ppt/notesSlides/notesSlide6.xml" Id="Rb7e71c31c70345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00637d03140a8" /><Relationship Type="http://schemas.openxmlformats.org/officeDocument/2006/relationships/notesSlide" Target="/ppt/notesSlides/notesSlide7.xml" Id="R8bd4b2db680049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59abd40ad4d10" /><Relationship Type="http://schemas.openxmlformats.org/officeDocument/2006/relationships/notesSlide" Target="/ppt/notesSlides/notesSlide8.xml" Id="R7eb60f82c7cd4e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5afb9c5dd4964" /><Relationship Type="http://schemas.openxmlformats.org/officeDocument/2006/relationships/notesSlide" Target="/ppt/notesSlides/notesSlide9.xml" Id="R1091d60fdcaf40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0fad8a6fd439e" /><Relationship Type="http://schemas.openxmlformats.org/officeDocument/2006/relationships/image" Target="/ppt/media/image2.png" Id="R02c913dc5d0c448d" /><Relationship Type="http://schemas.openxmlformats.org/officeDocument/2006/relationships/notesSlide" Target="/ppt/notesSlides/notesSlide10.xml" Id="R039b8542d1ac48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377ba9a5a4eb5" /><Relationship Type="http://schemas.openxmlformats.org/officeDocument/2006/relationships/notesSlide" Target="/ppt/notesSlides/notesSlide11.xml" Id="R58f7839f04ad43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122bfe5a648f7" /><Relationship Type="http://schemas.openxmlformats.org/officeDocument/2006/relationships/notesSlide" Target="/ppt/notesSlides/notesSlide12.xml" Id="R129e9fc0a19c42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f4666c23ad4694" /><Relationship Type="http://schemas.openxmlformats.org/officeDocument/2006/relationships/notesSlide" Target="/ppt/notesSlides/notesSlide13.xml" Id="R937f0e27329647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655523235847cb" /><Relationship Type="http://schemas.openxmlformats.org/officeDocument/2006/relationships/notesSlide" Target="/ppt/notesSlides/notesSlide14.xml" Id="R6c8dacb5dfcb47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9253f10454494" /><Relationship Type="http://schemas.openxmlformats.org/officeDocument/2006/relationships/notesSlide" Target="/ppt/notesSlides/notesSlide15.xml" Id="R49d95b56e10147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0fa64a94842cc" /><Relationship Type="http://schemas.openxmlformats.org/officeDocument/2006/relationships/image" Target="/ppt/media/image3.png" Id="R773706e25a7142bd" /><Relationship Type="http://schemas.openxmlformats.org/officeDocument/2006/relationships/notesSlide" Target="/ppt/notesSlides/notesSlide16.xml" Id="Rb822fc5470b845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4DCCE-1C5F-4449-888D-BFF48389CA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85200b6ec413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740810B0-113C-460C-A9CC-492C4BDE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9E3A909-AFE4-4241-93AC-280780E5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509E788-E030-4B4A-A89D-384F8E12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334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5550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5550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5550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THE CAREGIVER’S</a:t>
            </a:r>
          </a:p>
          <a:p xmlns:a="http://schemas.openxmlformats.org/drawingml/2006/main">
            <a:pPr>
              <a:defRPr sz="5550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5550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SECRET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FE3CA74-1315-451F-BD32-7686833D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81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She was hired to care.</a:t>
            </a:r>
          </a:p>
          <a:p xmlns:a="http://schemas.openxmlformats.org/drawingml/2006/main">
            <a:pPr>
              <a:defRPr sz="217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She was chosen to take the blame.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133B0A5-10F3-47AB-92C5-F0A5B69C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A domestic conspiracy thriller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542B380-0BE3-41F4-BC12-570DF4F2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Written by Kelly R. Tenney</a:t>
            </a:r>
          </a:p>
        </p:txBody>
      </p:sp>
    </p:spTree>
    <p:extLst>
      <p:ext uri="{BB962C8B-B14F-4D97-AF65-F5344CB8AC3E}">
        <p14:creationId xmlns:p14="http://schemas.microsoft.com/office/powerpoint/2010/main" val="257759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496E52A-F65E-4830-9220-537F668A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C97823-D8E7-4FFD-9E10-AF433B71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102522"/>
                </a:solidFill>
                <a:latin typeface="Georgia"/>
                <a:ea typeface="Georgia"/>
                <a:cs typeface="Georgia"/>
              </a:rPr>
              <a:t>The premise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ABC7DC5-F1A8-40C1-8F2A-3F1715F4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1B9A27F-C987-4FCB-B4B9-607BF2FF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382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9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9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A disgraced nurse takes a live-in job caring for a silenced former senator, then discovers the family that hired her chose her on purpose: her one bad mistake makes her the perfect person to blame.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0938EF6-B8BD-442A-BF37-80E76A52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Original movie   /   Domestic suspense   /   Atlanta setting</a:t>
            </a:r>
          </a:p>
        </p:txBody>
      </p:sp>
    </p:spTree>
    <p:extLst>
      <p:ext uri="{BB962C8B-B14F-4D97-AF65-F5344CB8AC3E}">
        <p14:creationId xmlns:p14="http://schemas.microsoft.com/office/powerpoint/2010/main" val="716868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A0D231C-8ED2-4935-A3C7-6824B1AC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22B4935-A2A2-4C4E-A395-88708F4D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The audience’s way in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63D390-2680-45B2-AA11-98B6019E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159842E-4B33-4F57-ACC3-C8891995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00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Dana needs this job to keep her family housed.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Eleanor needs someone to recognize that she is still there.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The woman paying Dana controls whose version of the truth survives.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A4EC84B-DF77-4056-A133-65B479D1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An intimate alliance inside a house built to keep outsiders out.</a:t>
            </a:r>
          </a:p>
        </p:txBody>
      </p:sp>
    </p:spTree>
    <p:extLst>
      <p:ext uri="{BB962C8B-B14F-4D97-AF65-F5344CB8AC3E}">
        <p14:creationId xmlns:p14="http://schemas.microsoft.com/office/powerpoint/2010/main" val="1092277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084C71C-E428-48A2-ABAA-C002E09A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46F48A8-6E31-4FC2-8159-872168E1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102522"/>
                </a:solidFill>
                <a:latin typeface="Georgia"/>
                <a:ea typeface="Georgia"/>
                <a:cs typeface="Georgia"/>
              </a:rPr>
              <a:t>The story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92B103-4881-4658-B7CB-A5361B01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B737E7-F988-43E7-A2CD-237C74C4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THE OFFER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FAC3E87-F7B6-4CAA-8A34-461EECC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190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Dana accepts a private-duty job at the Whitfield estate. Her patient’s fear contradicts the immaculate care records.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C79CFD-A8AF-4973-BC52-0DECD27D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860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THE DISCOVERY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80EFED3-8D7E-446D-8718-1830721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952750"/>
            <a:ext cx="3190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Eleanor begins to communicate. Dana uncovers diverted foundation money and a plan to make her the scapegoat.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3701471-E1D0-4D06-82E7-9C86BAAC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THE CHOICE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173694B-45FD-42F5-94C4-8DBA4360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190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With Eleanor’s transfer approaching and Luca within Priscilla’s reach, Dana must risk her future to keep her patient from disappearing.</a:t>
            </a:r>
          </a:p>
        </p:txBody>
      </p:sp>
    </p:spTree>
    <p:extLst>
      <p:ext uri="{BB962C8B-B14F-4D97-AF65-F5344CB8AC3E}">
        <p14:creationId xmlns:p14="http://schemas.microsoft.com/office/powerpoint/2010/main" val="1196232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5554693C-6C43-4AA4-830F-2DF18571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168E4B-988E-48F0-87E3-57532DA9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Dana Reyes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5FC54C5-654E-4FCF-9E91-B61ADE6D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101D8B2-85FE-4FB1-B6FE-9BE03C2A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34  /  LPN  /  Single mother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D5C2FA9-61A1-41DD-BDE5-B7189884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She notices what everyone else has stopped seeing.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87C13C6-7465-48AF-A602-C250FCB5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A false chart entry cost Dana her job and damaged her credibility. Now her employer intends to use that history against her.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D7ADEF9-EAE3-4004-9E4B-2EC0BB92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Her journey: from protecting her livelihood through silence to protecting another woman by telling the truth.</a:t>
            </a:r>
          </a:p>
        </p:txBody>
      </p:sp>
    </p:spTree>
    <p:extLst>
      <p:ext uri="{BB962C8B-B14F-4D97-AF65-F5344CB8AC3E}">
        <p14:creationId xmlns:p14="http://schemas.microsoft.com/office/powerpoint/2010/main" val="1788405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90139BC5-35B7-426F-A124-A466A350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0D4C0E4-F9EC-4FA8-BA5B-1CE5007C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102522"/>
                </a:solidFill>
                <a:latin typeface="Georgia"/>
                <a:ea typeface="Georgia"/>
                <a:cs typeface="Georgia"/>
              </a:rPr>
              <a:t>Eleanor Whitfield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ABE1B0-805E-4C0A-84B2-81FFB880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7E4BEEB-6E64-4076-8ABF-34C5EDCC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876B40"/>
                </a:solidFill>
                <a:latin typeface="Aptos"/>
                <a:ea typeface="Aptos"/>
                <a:cs typeface="Aptos"/>
              </a:rPr>
              <a:t>72  /  Former senator  /  Whistleblower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A45FEDD-7A60-4702-BAEB-CD33C7C5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47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345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Her voice is limited. Her will is not.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70728F-BD9A-44FA-B60E-210E544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Once a public authority, Eleanor now depends on the people controlling her treatment. Her past contains a truth she would rather keep hidden.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C0B81A3-A5E0-428F-8F3B-23A005D6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876B40"/>
                </a:solidFill>
                <a:latin typeface="Aptos"/>
                <a:ea typeface="Aptos"/>
                <a:cs typeface="Aptos"/>
              </a:rPr>
              <a:t>A performance built through eyes, a left hand, and one determined thumb.</a:t>
            </a:r>
          </a:p>
        </p:txBody>
      </p:sp>
    </p:spTree>
    <p:extLst>
      <p:ext uri="{BB962C8B-B14F-4D97-AF65-F5344CB8AC3E}">
        <p14:creationId xmlns:p14="http://schemas.microsoft.com/office/powerpoint/2010/main" val="985242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583F7D95-8BAC-4BCD-9900-7A3FEC49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513C907-1042-4721-9501-2B09E04C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Priscilla Whitfield-Vance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1168014-D5C0-43FE-B15A-CB95C07F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800A622-1CEE-4DB6-A29A-083AF257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Daughter  /  Foundation chair  /  Employer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00E3D50-F2E6-4D29-8FD7-4875E8D3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47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3450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She makes control look like care.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A33C1BE-53D6-4CD0-AADA-0CABD112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Priscilla offers Dana the help she needs, then turns that generosity into leverage. She knows how to manage a household, a donor, and a damaging account of events.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4087E09-A90F-43A1-A62A-46E49FC0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Her wound: a lifetime in her mother’s shadow.</a:t>
            </a:r>
          </a:p>
          <a:p xmlns:a="http://schemas.openxmlformats.org/drawingml/2006/main">
            <a:pPr>
              <a:defRPr sz="20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Her choice: make her mother powerless.</a:t>
            </a:r>
          </a:p>
        </p:txBody>
      </p:sp>
    </p:spTree>
    <p:extLst>
      <p:ext uri="{BB962C8B-B14F-4D97-AF65-F5344CB8AC3E}">
        <p14:creationId xmlns:p14="http://schemas.microsoft.com/office/powerpoint/2010/main" val="9497072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6590D20B-03A4-411F-896A-57624BEE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3D19BB8-AB54-4A34-9119-991D129F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102522"/>
                </a:solidFill>
                <a:latin typeface="Georgia"/>
                <a:ea typeface="Georgia"/>
                <a:cs typeface="Georgia"/>
              </a:rPr>
              <a:t>The people around the bed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8190525-C113-4604-B03E-EBC8D7D1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061507E-6E72-4549-BD3F-A209080F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ADRIAN VANCE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C0BB2C-EF76-4129-B729-6F93DF00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71700"/>
            <a:ext cx="7191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The physician and husband whose professional authority sustains the deception. His final choice carries a cost.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49A04AB-933D-4DBF-A606-DFC24782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MARGOT BELL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18FCDCF-023E-4EF3-875E-0F05754B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48050"/>
            <a:ext cx="7191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The housekeeper trapped by her son’s secret and years of obedience. Helping Dana means implicating herself.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6894946-CD3E-4A05-A181-9CFEAA6F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ROSA &amp; LUCA REYES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56E692C-2626-4ACB-9B0A-D9FBF704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7191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The family Dana is trying to protect. Their home and daily routines make the price of her courage tangible.</a:t>
            </a:r>
          </a:p>
        </p:txBody>
      </p:sp>
    </p:spTree>
    <p:extLst>
      <p:ext uri="{BB962C8B-B14F-4D97-AF65-F5344CB8AC3E}">
        <p14:creationId xmlns:p14="http://schemas.microsoft.com/office/powerpoint/2010/main" val="1121362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AC42EFA6-C48E-4D31-8D82-F7C5156C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E49678-807F-492D-B883-934321DB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The suspense engine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6A29C8-1EA6-44F5-A10F-43E228A3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4A832C-5A58-489C-853D-3F370359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8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Every act of communication changes the balance of power.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826F62A-FBC9-4408-A0E0-B66AF4C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CEAE7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CEAE76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CEAE76"/>
                </a:solidFill>
                <a:latin typeface="Georgia"/>
                <a:ea typeface="Georgia"/>
                <a:cs typeface="Georgia"/>
              </a:rPr>
              <a:t>HELP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89A7423-6020-4FDB-A36B-43548D26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62325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Dana recognizes the plea.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A2D9107-7A70-40BA-9B00-2B1012AE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CEAE7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CEAE76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CEAE76"/>
                </a:solidFill>
                <a:latin typeface="Georgia"/>
                <a:ea typeface="Georgia"/>
                <a:cs typeface="Georgia"/>
              </a:rPr>
              <a:t>DON’T SIGN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D889150-D05D-42B9-A74A-C218FB38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1955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Care records become evidence.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BBAD585-16D6-4FFC-8428-45A81A4A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CEAE7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CEAE76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CEAE76"/>
                </a:solidFill>
                <a:latin typeface="Georgia"/>
                <a:ea typeface="Georgia"/>
                <a:cs typeface="Georgia"/>
              </a:rPr>
              <a:t>BOY FIRST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74B5246-EB5B-477E-AAD9-853BB2B3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76775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Eleanor protects her rescuer.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885A59E-76C4-43CB-B112-ECCACE8E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CEAE7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CEAE76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CEAE76"/>
                </a:solidFill>
                <a:latin typeface="Georgia"/>
                <a:ea typeface="Georgia"/>
                <a:cs typeface="Georgia"/>
              </a:rPr>
              <a:t>NO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BDCE5D4-18DC-44D3-AED1-D68BA33E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33400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Eleanor takes back the choice.</a:t>
            </a:r>
          </a:p>
        </p:txBody>
      </p:sp>
    </p:spTree>
    <p:extLst>
      <p:ext uri="{BB962C8B-B14F-4D97-AF65-F5344CB8AC3E}">
        <p14:creationId xmlns:p14="http://schemas.microsoft.com/office/powerpoint/2010/main" val="659873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498ED-81B8-48F8-BABB-A1AE6FEBF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913dc5d0c448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EC9AF8B8-AFCD-4D47-92B2-BBDBE07C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54D756D-00D8-4AB1-B5C3-6575C3C9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The world &amp; tone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EE626C9-BFD2-4AF5-91C7-59D127B9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633E2EE-BC49-42B9-8A98-DAD6EA1E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Buckhead privilege.</a:t>
            </a:r>
          </a:p>
          <a:p xmlns:a="http://schemas.openxmlformats.org/drawingml/2006/main">
            <a:pPr>
              <a:defRPr sz="3150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A patient behind a closed door.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5AB5CBA-3818-4CCF-B486-FC9D18A3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71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Warm lamps and polished rooms conceal surveillance, coercion, and carefully maintained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The camera stays close to Dana and Eleanor. Suspense grows through withheld answers and small physical choices.</a:t>
            </a:r>
          </a:p>
        </p:txBody>
      </p:sp>
    </p:spTree>
    <p:extLst>
      <p:ext uri="{BB962C8B-B14F-4D97-AF65-F5344CB8AC3E}">
        <p14:creationId xmlns:p14="http://schemas.microsoft.com/office/powerpoint/2010/main" val="12823476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63B265E9-29F8-42BB-9C74-B95C1BC4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DB9028-B34C-4823-A00D-7EC86665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102522"/>
                </a:solidFill>
                <a:latin typeface="Georgia"/>
                <a:ea typeface="Georgia"/>
                <a:cs typeface="Georgia"/>
              </a:rPr>
              <a:t>Moments that sell the film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98B5F6F-D922-4435-ACF9-2E1689E2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E129EED-4CA1-48CF-92C8-3B5D94A2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102522"/>
                </a:solidFill>
                <a:latin typeface="Georgia"/>
                <a:ea typeface="Georgia"/>
                <a:cs typeface="Georgia"/>
              </a:rPr>
              <a:t>The first plea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D594C96-7386-43E5-97D4-C6719F19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A broken glass. A hand on Dana’s sleeve. “Help.”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8099B10-0DF6-42D1-B8CF-74FAA549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102522"/>
                </a:solidFill>
                <a:latin typeface="Georgia"/>
                <a:ea typeface="Georgia"/>
                <a:cs typeface="Georgia"/>
              </a:rPr>
              <a:t>The impossible signature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38F6228-DE93-4D97-B0E3-9B2E404E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95625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A flowing signature on a document the patient could not have signed.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4D6246D-E69A-4D56-8AFF-335A459E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102522"/>
                </a:solidFill>
                <a:latin typeface="Georgia"/>
                <a:ea typeface="Georgia"/>
                <a:cs typeface="Georgia"/>
              </a:rPr>
              <a:t>The blackout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592E786-EA3C-4792-BC84-39CBB5A4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One thumb holds an alarm down while the house tries to silence it.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5E91D6C-BD56-4112-9806-5011E8C7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102522"/>
                </a:solidFill>
                <a:latin typeface="Georgia"/>
                <a:ea typeface="Georgia"/>
                <a:cs typeface="Georgia"/>
              </a:rPr>
              <a:t>The emotional turn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356DF39-34D0-4C82-AFCD-75CB019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95875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Eleanor sends Dana home to her son: “Boy first.”</a:t>
            </a:r>
          </a:p>
        </p:txBody>
      </p:sp>
    </p:spTree>
    <p:extLst>
      <p:ext uri="{BB962C8B-B14F-4D97-AF65-F5344CB8AC3E}">
        <p14:creationId xmlns:p14="http://schemas.microsoft.com/office/powerpoint/2010/main" val="5785186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1944410-1C87-45A8-9DE3-6DCF1F7E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FF4FD3-557F-4215-9FE6-78E28B33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Audience &amp; production approach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CFBDD9-3F49-4369-A5CA-B33CDBA3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70F7115-610C-4861-8D38-77250F01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6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62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Positioned for the Lifetime / LMN domestic-thriller audience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0E08130-54E9-4DC3-8FF5-A03A5A46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A female-led story of betrayal inside the home, with a vulnerable patient and a mother who must trust her own judgment.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FCDBDB4-2728-4E50-9C66-2670A683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One primary estate anchors the film. Supporting locations include a care facility, family home, hospital, and school pickup area.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821F319-5D11-4982-AD5C-E4CA5524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Performance-driven suspense. Limited physical action. Practical blackout sequence. Budget and schedule to be developed.</a:t>
            </a:r>
          </a:p>
        </p:txBody>
      </p:sp>
    </p:spTree>
    <p:extLst>
      <p:ext uri="{BB962C8B-B14F-4D97-AF65-F5344CB8AC3E}">
        <p14:creationId xmlns:p14="http://schemas.microsoft.com/office/powerpoint/2010/main" val="828857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74F6C4C6-0A1F-4E83-876F-2EFF085C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9D5D8A5-EA96-4C78-A5B8-905A9796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102522"/>
                </a:solidFill>
                <a:latin typeface="Georgia"/>
                <a:ea typeface="Georgia"/>
                <a:cs typeface="Georgia"/>
              </a:rPr>
              <a:t>Casting possibilities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3EEC1D2-3F60-459F-93E0-7C3841B3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AA4F92F-83E4-4AC2-BC12-2021162B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876B40"/>
                </a:solidFill>
                <a:latin typeface="Aptos"/>
                <a:ea typeface="Aptos"/>
                <a:cs typeface="Aptos"/>
              </a:rPr>
              <a:t>Creative wish list only. No attachments or outreach confirmed.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6CF44AE-DDEF-4173-A119-47DF1F0A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DANA REYES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23AC82E-D12B-44D4-94F4-12C183CB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0032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Melissa Barrera   /   Diane Guerrero   /   Camila Mendes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B33C8B2-5800-4B99-ACA9-69CF0536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ELEANOR WHITFIELD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5A694B1-8F60-4710-A6C1-0D8A445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6707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Phylicia Rashad   /   Sissy Spacek   /   Lorraine Toussaint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9CC713B-89ED-4659-B803-BB006AB4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PRISCILLA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242D5FA-9628-4AD7-81FF-AC0F7040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93382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Elizabeth Reaser   /   Tiffani Thiessen   /   Kelly Rutherford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AF92D24-A668-4412-8C15-B6008D20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ADRIAN VANCE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5D9C01-0033-4E06-BC15-1891FBC1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0057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Scott Foley   /   Jason Priestley   /   Tim Daly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C03F19E-6D32-4676-9CD5-7D0AFE40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MARGOT BELL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58DEABA-5233-4412-BAD1-4C374398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6732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Wendy Raquel Robinson   /   Kimberly Elise   /   Judy Reyes</a:t>
            </a:r>
          </a:p>
        </p:txBody>
      </p:sp>
    </p:spTree>
    <p:extLst>
      <p:ext uri="{BB962C8B-B14F-4D97-AF65-F5344CB8AC3E}">
        <p14:creationId xmlns:p14="http://schemas.microsoft.com/office/powerpoint/2010/main" val="2479829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876923A3-66ED-4A04-BD35-8669D1CB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05069FF-278B-4C17-89B3-FC8FB360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102522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102522"/>
                </a:solidFill>
                <a:latin typeface="Georgia"/>
                <a:ea typeface="Georgia"/>
                <a:cs typeface="Georgia"/>
              </a:rPr>
              <a:t>Supporting cast possibilities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A1BD365-7FFA-41C6-A39F-FC7DB37C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66B0650-64AD-4DFB-BF67-7E949DB2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876B40"/>
                </a:solidFill>
                <a:latin typeface="Aptos"/>
                <a:ea typeface="Aptos"/>
                <a:cs typeface="Aptos"/>
              </a:rPr>
              <a:t>Creative wish list only. Availability and interest unverified.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E928460-C27C-4F9A-9240-56E87CBF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ROSA REYES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1C150E6-8BFE-49EE-9AE8-0B125411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0032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Rosie Perez   /   Justina Machado   /   Angélica Aragón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FC6C9AE-2FEE-44EF-8FBF-D95D6DA1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KEZIA ADAMS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2BFCB43-4B88-4103-A5C7-6F6FFE2F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6707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Sheryl Lee Ralph   /   Anika Noni Rose   /   Tonya Pinkins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7337819-4B77-4474-BADA-D6249F45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LENA ORTIZ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74AEA57-1BEC-450F-91AA-1A87ED18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93382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Roselyn Sánchez   /   Aimee Garcia   /   Camille Guaty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5081879-5654-4871-A6A9-9CDB483C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THERESA HOLLIS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5CAE159-EFA4-48ED-8F59-4AD18335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0057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Yvonne Orji   /   Sufe Bradshaw   /   Gabrielle Dennis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0D81470-1573-41A8-952B-BD151D20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76B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B40"/>
                </a:solidFill>
                <a:latin typeface="Aptos"/>
                <a:ea typeface="Aptos"/>
                <a:cs typeface="Aptos"/>
              </a:rPr>
              <a:t>LUCA, WALTER &amp; RAY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737E7B4-611C-4D86-8BC8-D99CD5BA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6732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5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522"/>
                </a:solidFill>
                <a:latin typeface="Aptos"/>
                <a:ea typeface="Aptos"/>
                <a:cs typeface="Aptos"/>
              </a:rPr>
              <a:t>Open child casting and a regional character-actor search</a:t>
            </a:r>
          </a:p>
        </p:txBody>
      </p:sp>
    </p:spTree>
    <p:extLst>
      <p:ext uri="{BB962C8B-B14F-4D97-AF65-F5344CB8AC3E}">
        <p14:creationId xmlns:p14="http://schemas.microsoft.com/office/powerpoint/2010/main" val="924813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3492395-2FF5-4170-97B6-F017405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1019B95-0872-4DFE-AAE5-63108808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Under the Plate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726409B-87DB-4CAD-9B7C-5B60A816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8DAEC2-877E-4CF2-B88E-C4BAA02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A proposed eight-episode vertical companion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8AF5A7B-EDDF-442D-9076-3FA4D20C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47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5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352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Before Dana, there was Theresa.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8B04CB3-9A9B-4700-BF57-A291EBBE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990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The prior caregiver’s story explores the same household from the woman who left it. Her experience leads into the opening of the feature.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DF70C58-2D88-4CBD-8B88-5AD69D3F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Companion concept identified in the supplied package. Separate development and financing.</a:t>
            </a:r>
          </a:p>
        </p:txBody>
      </p:sp>
    </p:spTree>
    <p:extLst>
      <p:ext uri="{BB962C8B-B14F-4D97-AF65-F5344CB8AC3E}">
        <p14:creationId xmlns:p14="http://schemas.microsoft.com/office/powerpoint/2010/main" val="13312393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C6E32-7D52-4EB2-A967-6CFEDB3AF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706e25a7142b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9B2115F8-BB3C-4D4B-840A-927436EC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NCCA ENTERTAINMENT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5B2FC2DE-D68E-4DA7-8D34-B24C3A3E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8B6A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A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1998FBC-E665-4C52-BA1F-A0096931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51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51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5175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THE CAREGIVER’S</a:t>
            </a:r>
          </a:p>
          <a:p xmlns:a="http://schemas.openxmlformats.org/drawingml/2006/main">
            <a:pPr>
              <a:defRPr sz="5175" b="0">
                <a:solidFill>
                  <a:srgbClr val="F4F0E5"/>
                </a:solidFill>
                <a:latin typeface="Georgia"/>
                <a:ea typeface="Georgia"/>
                <a:cs typeface="Georgia"/>
              </a:defRPr>
            </a:pPr>
            <a:r>
              <a:rPr sz="5175" b="0">
                <a:solidFill>
                  <a:srgbClr val="F4F0E5"/>
                </a:solidFill>
                <a:latin typeface="Georgia"/>
                <a:ea typeface="Georgia"/>
                <a:cs typeface="Georgia"/>
              </a:rPr>
              <a:t>SECRET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8C392EC-52AB-42CD-B730-98C6BC99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A woman who listens can change everything.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AD00385-E70C-40CE-AA92-4E9B9DE8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NCCA ENTERTAINMENT</a:t>
            </a:r>
          </a:p>
          <a:p xmlns:a="http://schemas.openxmlformats.org/drawingml/2006/main">
            <a:pPr>
              <a:defRPr sz="2100" b="0">
                <a:solidFill>
                  <a:srgbClr val="CEAE7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EAE76"/>
                </a:solidFill>
                <a:latin typeface="Aptos"/>
                <a:ea typeface="Aptos"/>
                <a:cs typeface="Aptos"/>
              </a:rPr>
              <a:t>Kelly R. Tenney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485958A-E5AF-4BE5-AA41-D807FD22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contact@nccaentertainment.com</a:t>
            </a:r>
          </a:p>
          <a:p xmlns:a="http://schemas.openxmlformats.org/drawingml/2006/main">
            <a:pPr>
              <a:defRPr sz="1725" b="0">
                <a:solidFill>
                  <a:srgbClr val="F4F0E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4F0E5"/>
                </a:solidFill>
                <a:latin typeface="Aptos"/>
                <a:ea typeface="Aptos"/>
                <a:cs typeface="Aptos"/>
              </a:rPr>
              <a:t>(910) 262-9307</a:t>
            </a:r>
          </a:p>
        </p:txBody>
      </p:sp>
    </p:spTree>
    <p:extLst>
      <p:ext uri="{BB962C8B-B14F-4D97-AF65-F5344CB8AC3E}">
        <p14:creationId xmlns:p14="http://schemas.microsoft.com/office/powerpoint/2010/main" val="1817763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2026-10-15T16:54:04.4380000Z</dcterms:created>
  <dcterms:modified xsi:type="dcterms:W3CDTF">2026-10-15T16:54:04.4380000Z</dcterms:modified>
</coreProperties>
</file>