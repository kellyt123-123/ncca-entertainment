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9cab4b78264da5" /><Relationship Type="http://schemas.openxmlformats.org/officeDocument/2006/relationships/extended-properties" Target="/docProps/app.xml" Id="Rcf7187b8f4aa41ee" /><Relationship Type="http://schemas.openxmlformats.org/officeDocument/2006/relationships/officeDocument" Target="/ppt/presentation.xml" Id="R460091e1e52244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180ec9f87e4d72"/>
  </p:sldMasterIdLst>
  <p:notesMasterIdLst>
    <p:notesMasterId xmlns:r="http://schemas.openxmlformats.org/officeDocument/2006/relationships" r:id="R16bb5786f6a5454e"/>
  </p:notesMasterIdLst>
  <p:sldIdLst>
    <p:sldId xmlns:r="http://schemas.openxmlformats.org/officeDocument/2006/relationships" id="256" r:id="R097b7908bfc749a2"/>
    <p:sldId xmlns:r="http://schemas.openxmlformats.org/officeDocument/2006/relationships" id="257" r:id="Ra123a9237f804168"/>
    <p:sldId xmlns:r="http://schemas.openxmlformats.org/officeDocument/2006/relationships" id="258" r:id="R3f9b7578f1ce418f"/>
    <p:sldId xmlns:r="http://schemas.openxmlformats.org/officeDocument/2006/relationships" id="259" r:id="R545853058b584d23"/>
    <p:sldId xmlns:r="http://schemas.openxmlformats.org/officeDocument/2006/relationships" id="260" r:id="R4651b9164fd3437e"/>
    <p:sldId xmlns:r="http://schemas.openxmlformats.org/officeDocument/2006/relationships" id="261" r:id="R213fcf4856ca4ac4"/>
    <p:sldId xmlns:r="http://schemas.openxmlformats.org/officeDocument/2006/relationships" id="262" r:id="Re40c557ead1a4935"/>
    <p:sldId xmlns:r="http://schemas.openxmlformats.org/officeDocument/2006/relationships" id="263" r:id="Ra194f0ddcf874424"/>
    <p:sldId xmlns:r="http://schemas.openxmlformats.org/officeDocument/2006/relationships" id="264" r:id="Ree97fb2f79b14770"/>
    <p:sldId xmlns:r="http://schemas.openxmlformats.org/officeDocument/2006/relationships" id="265" r:id="R6030d8dc99ac494e"/>
    <p:sldId xmlns:r="http://schemas.openxmlformats.org/officeDocument/2006/relationships" id="266" r:id="Rf0a53a2352cb4c49"/>
    <p:sldId xmlns:r="http://schemas.openxmlformats.org/officeDocument/2006/relationships" id="267" r:id="Rded0cb8d8b5345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642b98369449fd" /><Relationship Type="http://schemas.openxmlformats.org/officeDocument/2006/relationships/slideMaster" Target="/ppt/slideMasters/slideMaster1.xml" Id="Rec180ec9f87e4d72" /><Relationship Type="http://schemas.openxmlformats.org/officeDocument/2006/relationships/notesMaster" Target="/ppt/notesMasters/notesMaster1.xml" Id="R16bb5786f6a5454e" /><Relationship Type="http://schemas.openxmlformats.org/officeDocument/2006/relationships/presProps" Target="/ppt/presProps.xml" Id="Re12c641bdc0647b5" /><Relationship Type="http://schemas.openxmlformats.org/officeDocument/2006/relationships/tableStyles" Target="/ppt/tableStyles.xml" Id="R5c9086bd69864204" /><Relationship Type="http://schemas.openxmlformats.org/officeDocument/2006/relationships/slide" Target="/ppt/slides/slide1.xml" Id="R097b7908bfc749a2" /><Relationship Type="http://schemas.openxmlformats.org/officeDocument/2006/relationships/slide" Target="/ppt/slides/slide2.xml" Id="Ra123a9237f804168" /><Relationship Type="http://schemas.openxmlformats.org/officeDocument/2006/relationships/slide" Target="/ppt/slides/slide3.xml" Id="R3f9b7578f1ce418f" /><Relationship Type="http://schemas.openxmlformats.org/officeDocument/2006/relationships/slide" Target="/ppt/slides/slide4.xml" Id="R545853058b584d23" /><Relationship Type="http://schemas.openxmlformats.org/officeDocument/2006/relationships/slide" Target="/ppt/slides/slide5.xml" Id="R4651b9164fd3437e" /><Relationship Type="http://schemas.openxmlformats.org/officeDocument/2006/relationships/slide" Target="/ppt/slides/slide6.xml" Id="R213fcf4856ca4ac4" /><Relationship Type="http://schemas.openxmlformats.org/officeDocument/2006/relationships/slide" Target="/ppt/slides/slide7.xml" Id="Re40c557ead1a4935" /><Relationship Type="http://schemas.openxmlformats.org/officeDocument/2006/relationships/slide" Target="/ppt/slides/slide8.xml" Id="Ra194f0ddcf874424" /><Relationship Type="http://schemas.openxmlformats.org/officeDocument/2006/relationships/slide" Target="/ppt/slides/slide9.xml" Id="Ree97fb2f79b14770" /><Relationship Type="http://schemas.openxmlformats.org/officeDocument/2006/relationships/slide" Target="/ppt/slides/slide10.xml" Id="R6030d8dc99ac494e" /><Relationship Type="http://schemas.openxmlformats.org/officeDocument/2006/relationships/slide" Target="/ppt/slides/slide11.xml" Id="Rf0a53a2352cb4c49" /><Relationship Type="http://schemas.openxmlformats.org/officeDocument/2006/relationships/slide" Target="/ppt/slides/slide12.xml" Id="Rded0cb8d8b5345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c71cdb802b4c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4654513d994334" /><Relationship Type="http://schemas.openxmlformats.org/officeDocument/2006/relationships/notesMaster" Target="/ppt/notesMasters/notesMaster1.xml" Id="R269a6456a45343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30f7040d7e4205" /><Relationship Type="http://schemas.openxmlformats.org/officeDocument/2006/relationships/notesMaster" Target="/ppt/notesMasters/notesMaster1.xml" Id="R93402df37ff54e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da17e3d2504668" /><Relationship Type="http://schemas.openxmlformats.org/officeDocument/2006/relationships/notesMaster" Target="/ppt/notesMasters/notesMaster1.xml" Id="Rd09cfd434bbc47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6927a5d7f544e8" /><Relationship Type="http://schemas.openxmlformats.org/officeDocument/2006/relationships/notesMaster" Target="/ppt/notesMasters/notesMaster1.xml" Id="R7337a3c341f645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ee28592b714d88" /><Relationship Type="http://schemas.openxmlformats.org/officeDocument/2006/relationships/notesMaster" Target="/ppt/notesMasters/notesMaster1.xml" Id="R898425cd15244f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eb022ca6c94b6e" /><Relationship Type="http://schemas.openxmlformats.org/officeDocument/2006/relationships/notesMaster" Target="/ppt/notesMasters/notesMaster1.xml" Id="R59fb5d62af704e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af460b20674a99" /><Relationship Type="http://schemas.openxmlformats.org/officeDocument/2006/relationships/notesMaster" Target="/ppt/notesMasters/notesMaster1.xml" Id="R87201aef7e6548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ff7c3bc6584308" /><Relationship Type="http://schemas.openxmlformats.org/officeDocument/2006/relationships/notesMaster" Target="/ppt/notesMasters/notesMaster1.xml" Id="R2b897176332246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c29d78d1d941e8" /><Relationship Type="http://schemas.openxmlformats.org/officeDocument/2006/relationships/notesMaster" Target="/ppt/notesMasters/notesMaster1.xml" Id="Re02d78e299904f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40d39c775c4a9d" /><Relationship Type="http://schemas.openxmlformats.org/officeDocument/2006/relationships/notesMaster" Target="/ppt/notesMasters/notesMaster1.xml" Id="R2d971e8d42424f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4ce81f1f8d4a0d" /><Relationship Type="http://schemas.openxmlformats.org/officeDocument/2006/relationships/notesMaster" Target="/ppt/notesMasters/notesMaster1.xml" Id="R30307250692347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41fed7886540ae" /><Relationship Type="http://schemas.openxmlformats.org/officeDocument/2006/relationships/notesMaster" Target="/ppt/notesMasters/notesMaster1.xml" Id="Rfe2bb0a29a1040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 source: The_Perfect_Assistant_FULL_REVISED.fadein, supplied by the author. Adapted from the prior 12-slide deck conversation. Fictional generated character concepts and mood imagery, not cast photographs.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 source: The_Perfect_Assistant_FULL_REVISED.fadein, supplied by the author. Adapted from the prior 12-slide deck conversation. Fictional generated character concepts and mood imagery, not cast photographs.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 source: The_Perfect_Assistant_FULL_REVISED.fadein, supplied by the author. Adapted from the prior 12-slide deck conversation. Fictional generated character concepts and mood imagery, not cast photographs.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Comparables are creative positioning references, not revenue or performance claims. Sources: https://www.sonypictures.com/movies/theperfectguy ; https://www.mylifetime.com/movies/single-black-female ; https://www.20thcenturystudios.com/movies/the-devil-wears-prada . Acrimony is a subjective thematic comparison from the prior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 source: The_Perfect_Assistant_FULL_REVISED.fadein, supplied by the author. Adapted from the prior 12-slide deck conversation. Fictional generated character concepts and mood imagery, not cast photographs.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 source: The_Perfect_Assistant_FULL_REVISED.fadein, supplied by the author. Adapted from the prior 12-slide deck conversation. Fictional generated character concepts and mood imagery, not cast photographs.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 source: The_Perfect_Assistant_FULL_REVISED.fadein, supplied by the author. Adapted from the prior 12-slide deck conversation. Fictional generated character concepts and mood imagery, not cast photographs.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 source: The_Perfect_Assistant_FULL_REVISED.fadein, supplied by the author. Adapted from the prior 12-slide deck conversation. Fictional generated character concepts and mood imagery, not cast photographs.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 source: The_Perfect_Assistant_FULL_REVISED.fadein, supplied by the author. Adapted from the prior 12-slide deck conversation. Fictional generated character concepts and mood imagery, not cast photographs.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Aspirational creative wishlist from the prior deck conversation. No cast attachments, offers or availability implied. Casting descriptions are creative judgments.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Buyer lanes are creative positioning proposals, not verified acquisition interest or access. Source for BET programming context: https://www.bet.com/tag/5k2gxx/bet-original-movies . Lifetime genre reference: https://www.mylifetime.com/movies/single-black-female . Production scope is inferred from the supplied screenplay and requires a breakdown and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 source: The_Perfect_Assistant_FULL_REVISED.fadein, supplied by the author. Adapted from the prior 12-slide deck conversation. Fictional generated character concepts and mood imagery, not cast photographs.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f8f86d9a744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5878a765f44d55" /><Relationship Type="http://schemas.openxmlformats.org/officeDocument/2006/relationships/slideLayout" Target="/ppt/slideLayouts/slideLayout1.xml" Id="R2d507d83950740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507d83950740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3241b5e5e4cf0" /><Relationship Type="http://schemas.openxmlformats.org/officeDocument/2006/relationships/image" Target="/ppt/media/image.png" Id="R90087635829e454b" /><Relationship Type="http://schemas.openxmlformats.org/officeDocument/2006/relationships/notesSlide" Target="/ppt/notesSlides/notesSlide1.xml" Id="Rf984e64bc56d43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f847c17dd4dc4" /><Relationship Type="http://schemas.openxmlformats.org/officeDocument/2006/relationships/image" Target="/ppt/media/image2.png" Id="Rdcd6bbbd10664b9f" /><Relationship Type="http://schemas.openxmlformats.org/officeDocument/2006/relationships/notesSlide" Target="/ppt/notesSlides/notesSlide2.xml" Id="R2432571bbc9745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a2c5d8de24a89" /><Relationship Type="http://schemas.openxmlformats.org/officeDocument/2006/relationships/image" Target="/ppt/media/image3.png" Id="R6ff93ff9a7d04d56" /><Relationship Type="http://schemas.openxmlformats.org/officeDocument/2006/relationships/notesSlide" Target="/ppt/notesSlides/notesSlide3.xml" Id="R1e03aa2ae4164e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2129597584446" /><Relationship Type="http://schemas.openxmlformats.org/officeDocument/2006/relationships/notesSlide" Target="/ppt/notesSlides/notesSlide4.xml" Id="R48b39374a2b349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42e8f637f4745" /><Relationship Type="http://schemas.openxmlformats.org/officeDocument/2006/relationships/image" Target="/ppt/media/image4.png" Id="R6edacaa5cf4f4313" /><Relationship Type="http://schemas.openxmlformats.org/officeDocument/2006/relationships/notesSlide" Target="/ppt/notesSlides/notesSlide5.xml" Id="Re4b06e2fdefc40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7c33ec89e4703" /><Relationship Type="http://schemas.openxmlformats.org/officeDocument/2006/relationships/image" Target="/ppt/media/image5.png" Id="R611bf6baa088485e" /><Relationship Type="http://schemas.openxmlformats.org/officeDocument/2006/relationships/notesSlide" Target="/ppt/notesSlides/notesSlide6.xml" Id="R753fc2ba137a47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5d3f368c14264" /><Relationship Type="http://schemas.openxmlformats.org/officeDocument/2006/relationships/image" Target="/ppt/media/image6.png" Id="Rbaa0567d0f234784" /><Relationship Type="http://schemas.openxmlformats.org/officeDocument/2006/relationships/notesSlide" Target="/ppt/notesSlides/notesSlide7.xml" Id="Rd32a1d4392dc40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1523782b34db7" /><Relationship Type="http://schemas.openxmlformats.org/officeDocument/2006/relationships/notesSlide" Target="/ppt/notesSlides/notesSlide8.xml" Id="R875faa8bbc1c4c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2e3806bb54445" /><Relationship Type="http://schemas.openxmlformats.org/officeDocument/2006/relationships/image" Target="/ppt/media/image7.png" Id="R19b9a30a3602432f" /><Relationship Type="http://schemas.openxmlformats.org/officeDocument/2006/relationships/image" Target="/ppt/media/image8.png" Id="R073c762ec64e4c03" /><Relationship Type="http://schemas.openxmlformats.org/officeDocument/2006/relationships/image" Target="/ppt/media/image9.png" Id="R70b70f0a2e3447a4" /><Relationship Type="http://schemas.openxmlformats.org/officeDocument/2006/relationships/notesSlide" Target="/ppt/notesSlides/notesSlide9.xml" Id="R1483e98b5e5941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a7b51d45f47d6" /><Relationship Type="http://schemas.openxmlformats.org/officeDocument/2006/relationships/notesSlide" Target="/ppt/notesSlides/notesSlide10.xml" Id="R3ab2dc63b1e14e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7df376adf4a76" /><Relationship Type="http://schemas.openxmlformats.org/officeDocument/2006/relationships/image" Target="/ppt/media/image10.png" Id="Ra7fa8395dff14378" /><Relationship Type="http://schemas.openxmlformats.org/officeDocument/2006/relationships/notesSlide" Target="/ppt/notesSlides/notesSlide11.xml" Id="R21682b5fbf114e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c549aa8c546f0" /><Relationship Type="http://schemas.openxmlformats.org/officeDocument/2006/relationships/notesSlide" Target="/ppt/notesSlides/notesSlide12.xml" Id="R0c468545806d42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63502C65-DE92-4C29-AD85-23E0852E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87635829e454b"/>
          <a:srcRect xmlns:a="http://schemas.openxmlformats.org/drawingml/2006/main" l="0" t="109" r="0" b="1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857250"/>
            <a:ext cx="6096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PSYCHOLOGICAL THRILLER / FEATURE FILM">
            <a:extLst xmlns:a="http://schemas.openxmlformats.org/drawingml/2006/main">
              <a:ext uri="{FF2B5EF4-FFF2-40B4-BE49-F238E27FC236}">
                <a16:creationId xmlns:a16="http://schemas.microsoft.com/office/drawing/2014/main" id="{9B82E274-1A3E-4946-AB40-811710E5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PSYCHOLOGICAL THRILLER / FEATURE FILM</a:t>
            </a:r>
          </a:p>
        </p:txBody>
      </p:sp>
      <p:sp>
        <p:nvSpPr>
          <p:cNvPr id="4" name="THE PERFECT&#10;ASSISTANT">
            <a:extLst xmlns:a="http://schemas.openxmlformats.org/drawingml/2006/main">
              <a:ext uri="{FF2B5EF4-FFF2-40B4-BE49-F238E27FC236}">
                <a16:creationId xmlns:a16="http://schemas.microsoft.com/office/drawing/2014/main" id="{2BA3E2F1-5131-4F93-9C35-4194B23B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THE PERFECT</a:t>
            </a:r>
          </a:p>
          <a:p xmlns:a="http://schemas.openxmlformats.org/drawingml/2006/main">
            <a:pPr>
              <a:defRPr sz="49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ASSISTANT</a:t>
            </a:r>
          </a:p>
        </p:txBody>
      </p:sp>
      <p:sp>
        <p:nvSpPr>
          <p:cNvPr id="5" name="She knows exactly what you need.&#10;She also kno">
            <a:extLst xmlns:a="http://schemas.openxmlformats.org/drawingml/2006/main">
              <a:ext uri="{FF2B5EF4-FFF2-40B4-BE49-F238E27FC236}">
                <a16:creationId xmlns:a16="http://schemas.microsoft.com/office/drawing/2014/main" id="{4817F201-39B1-405C-B767-F79CE99B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She knows exactly what you need.</a:t>
            </a:r>
          </a:p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She also knows what your family buried.</a:t>
            </a:r>
          </a:p>
        </p:txBody>
      </p:sp>
      <p:sp>
        <p:nvSpPr>
          <p:cNvPr id="6" name="ATLANTA. FASHION. FAMILY SECRETS.">
            <a:extLst xmlns:a="http://schemas.openxmlformats.org/drawingml/2006/main">
              <a:ext uri="{FF2B5EF4-FFF2-40B4-BE49-F238E27FC236}">
                <a16:creationId xmlns:a16="http://schemas.microsoft.com/office/drawing/2014/main" id="{B3FFEE04-F2AD-4FD6-9DD9-2E23CD93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ATLANTA. FASHION. FAMILY SECRETS.</a:t>
            </a:r>
          </a:p>
        </p:txBody>
      </p:sp>
    </p:spTree>
    <p:extLst>
      <p:ext uri="{BB962C8B-B14F-4D97-AF65-F5344CB8AC3E}">
        <p14:creationId xmlns:p14="http://schemas.microsoft.com/office/powerpoint/2010/main" val="1028241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3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3F7B5D85-6B9B-41D9-B7D0-D1D5DD33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Logline">
            <a:extLst xmlns:a="http://schemas.openxmlformats.org/drawingml/2006/main">
              <a:ext uri="{FF2B5EF4-FFF2-40B4-BE49-F238E27FC236}">
                <a16:creationId xmlns:a16="http://schemas.microsoft.com/office/drawing/2014/main" id="{46EB0126-2CC9-45C9-83FA-6BF4879C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Logline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6bbbd10664b9f"/>
          <a:srcRect xmlns:a="http://schemas.openxmlformats.org/drawingml/2006/main" l="21864" t="0" r="21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he perfect hire.&#10;The buried truth.">
            <a:extLst xmlns:a="http://schemas.openxmlformats.org/drawingml/2006/main">
              <a:ext uri="{FF2B5EF4-FFF2-40B4-BE49-F238E27FC236}">
                <a16:creationId xmlns:a16="http://schemas.microsoft.com/office/drawing/2014/main" id="{3F9C9039-93E4-4ED6-9667-2018E7FB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The perfect hire.</a:t>
            </a:r>
          </a:p>
          <a:p xmlns:a="http://schemas.openxmlformats.org/drawingml/2006/main">
            <a:pPr>
              <a:defRPr sz="330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The buried truth.</a:t>
            </a:r>
          </a:p>
        </p:txBody>
      </p:sp>
      <p:sp>
        <p:nvSpPr>
          <p:cNvPr id="5" name="When an Atlanta fashion founder hires an assi">
            <a:extLst xmlns:a="http://schemas.openxmlformats.org/drawingml/2006/main">
              <a:ext uri="{FF2B5EF4-FFF2-40B4-BE49-F238E27FC236}">
                <a16:creationId xmlns:a16="http://schemas.microsoft.com/office/drawing/2014/main" id="{C12EBB2F-F6DE-49FE-87F1-270DA8E8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6334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When an Atlanta fashion founder hires an assistant who anticipates her every need, the young woman’s growing access exposes a secret tied to her late father. To protect her company, Brielle must confront the family history she has spent her life avoiding.</a:t>
            </a:r>
          </a:p>
        </p:txBody>
      </p:sp>
      <p:sp>
        <p:nvSpPr>
          <p:cNvPr id="6" name="A PSYCHOLOGICAL THRILLER WITH A FAMILY-DRAMA ">
            <a:extLst xmlns:a="http://schemas.openxmlformats.org/drawingml/2006/main">
              <a:ext uri="{FF2B5EF4-FFF2-40B4-BE49-F238E27FC236}">
                <a16:creationId xmlns:a16="http://schemas.microsoft.com/office/drawing/2014/main" id="{75C9772C-8BBF-429F-8158-25D51DEC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A PSYCHOLOGICAL THRILLER WITH A FAMILY-DRAMA CORE</a:t>
            </a:r>
          </a:p>
        </p:txBody>
      </p:sp>
    </p:spTree>
    <p:extLst>
      <p:ext uri="{BB962C8B-B14F-4D97-AF65-F5344CB8AC3E}">
        <p14:creationId xmlns:p14="http://schemas.microsoft.com/office/powerpoint/2010/main" val="1893023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3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4652A4EF-3F1C-4941-88C0-F46D08C2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The hook">
            <a:extLst xmlns:a="http://schemas.openxmlformats.org/drawingml/2006/main">
              <a:ext uri="{FF2B5EF4-FFF2-40B4-BE49-F238E27FC236}">
                <a16:creationId xmlns:a16="http://schemas.microsoft.com/office/drawing/2014/main" id="{AE44ED2C-86E0-4CC9-82EA-FDE21931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The hook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93ff9a7d04d56"/>
          <a:srcRect xmlns:a="http://schemas.openxmlformats.org/drawingml/2006/main" l="19464" t="0" r="194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Brielle invited&#10;her in">
            <a:extLst xmlns:a="http://schemas.openxmlformats.org/drawingml/2006/main">
              <a:ext uri="{FF2B5EF4-FFF2-40B4-BE49-F238E27FC236}">
                <a16:creationId xmlns:a16="http://schemas.microsoft.com/office/drawing/2014/main" id="{E0B8E56B-4E7D-4A4C-B942-E552B5A6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Brielle invited</a:t>
            </a:r>
          </a:p>
          <a:p xmlns:a="http://schemas.openxmlformats.org/drawingml/2006/main">
            <a:pPr>
              <a:defRPr sz="43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her in</a:t>
            </a:r>
          </a:p>
        </p:txBody>
      </p:sp>
      <p:sp>
        <p:nvSpPr>
          <p:cNvPr id="5" name="Kennedy earns access by becoming indispensabl">
            <a:extLst xmlns:a="http://schemas.openxmlformats.org/drawingml/2006/main">
              <a:ext uri="{FF2B5EF4-FFF2-40B4-BE49-F238E27FC236}">
                <a16:creationId xmlns:a16="http://schemas.microsoft.com/office/drawing/2014/main" id="{0E6DE5F6-B0D6-40A6-941C-3A0AEE68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Kennedy earns access by becoming indispensable. Every boundary crossed first looks like exceptional competence.</a:t>
            </a:r>
          </a:p>
        </p:txBody>
      </p:sp>
      <p:sp>
        <p:nvSpPr>
          <p:cNvPr id="6" name="She knows the coffee order.&#10;Then the keys. Th">
            <a:extLst xmlns:a="http://schemas.openxmlformats.org/drawingml/2006/main">
              <a:ext uri="{FF2B5EF4-FFF2-40B4-BE49-F238E27FC236}">
                <a16:creationId xmlns:a16="http://schemas.microsoft.com/office/drawing/2014/main" id="{F7AB542A-CAE1-4EA7-B3E9-A1BE2C28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She knows the coffee order.</a:t>
            </a:r>
          </a:p>
          <a:p xmlns:a="http://schemas.openxmlformats.org/drawingml/2006/main">
            <a:pPr>
              <a:defRPr sz="2100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Then the keys. Then the family.</a:t>
            </a:r>
          </a:p>
        </p:txBody>
      </p:sp>
    </p:spTree>
    <p:extLst>
      <p:ext uri="{BB962C8B-B14F-4D97-AF65-F5344CB8AC3E}">
        <p14:creationId xmlns:p14="http://schemas.microsoft.com/office/powerpoint/2010/main" val="1247570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35D6C1A9-ADE3-4FF6-B19F-5BC33658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Tone &amp; comparables">
            <a:extLst xmlns:a="http://schemas.openxmlformats.org/drawingml/2006/main">
              <a:ext uri="{FF2B5EF4-FFF2-40B4-BE49-F238E27FC236}">
                <a16:creationId xmlns:a16="http://schemas.microsoft.com/office/drawing/2014/main" id="{5BEF84DF-FCC6-4726-BE27-2BF1D8EA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Tone &amp; comparables</a:t>
            </a:r>
          </a:p>
        </p:txBody>
      </p:sp>
      <p:sp>
        <p:nvSpPr>
          <p:cNvPr id="3" name="Elegant. Intimate. Unsettling.">
            <a:extLst xmlns:a="http://schemas.openxmlformats.org/drawingml/2006/main">
              <a:ext uri="{FF2B5EF4-FFF2-40B4-BE49-F238E27FC236}">
                <a16:creationId xmlns:a16="http://schemas.microsoft.com/office/drawing/2014/main" id="{9364C526-0859-4F8C-A584-C1EC781A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B89B60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B89B60"/>
                </a:solidFill>
                <a:latin typeface="Georgia"/>
                <a:ea typeface="Georgia"/>
                <a:cs typeface="Georgia"/>
              </a:rPr>
              <a:t>Elegant. Intimate. Unsettling.</a:t>
            </a:r>
          </a:p>
        </p:txBody>
      </p:sp>
      <p:sp>
        <p:nvSpPr>
          <p:cNvPr id="4" name="THE PERFECT GUY">
            <a:extLst xmlns:a="http://schemas.openxmlformats.org/drawingml/2006/main">
              <a:ext uri="{FF2B5EF4-FFF2-40B4-BE49-F238E27FC236}">
                <a16:creationId xmlns:a16="http://schemas.microsoft.com/office/drawing/2014/main" id="{CEE2E094-FF93-4421-B44B-0B7C214E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THE PERFECT GUY</a:t>
            </a:r>
          </a:p>
        </p:txBody>
      </p:sp>
      <p:sp>
        <p:nvSpPr>
          <p:cNvPr id="5" name="Polished Black-led suspense. Charm gives dang">
            <a:extLst xmlns:a="http://schemas.openxmlformats.org/drawingml/2006/main">
              <a:ext uri="{FF2B5EF4-FFF2-40B4-BE49-F238E27FC236}">
                <a16:creationId xmlns:a16="http://schemas.microsoft.com/office/drawing/2014/main" id="{7132E331-3FA2-4E37-92FF-767B265A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Polished Black-led suspense. Charm gives danger its cover.</a:t>
            </a:r>
          </a:p>
        </p:txBody>
      </p:sp>
      <p:sp>
        <p:nvSpPr>
          <p:cNvPr id="6" name="SINGLE BLACK FEMALE">
            <a:extLst xmlns:a="http://schemas.openxmlformats.org/drawingml/2006/main">
              <a:ext uri="{FF2B5EF4-FFF2-40B4-BE49-F238E27FC236}">
                <a16:creationId xmlns:a16="http://schemas.microsoft.com/office/drawing/2014/main" id="{9C096F51-A8B8-49BD-8521-F7C51E0D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SINGLE BLACK FEMALE</a:t>
            </a:r>
          </a:p>
        </p:txBody>
      </p:sp>
      <p:sp>
        <p:nvSpPr>
          <p:cNvPr id="7" name="Assistant intimacy turns trust into a threat.">
            <a:extLst xmlns:a="http://schemas.openxmlformats.org/drawingml/2006/main">
              <a:ext uri="{FF2B5EF4-FFF2-40B4-BE49-F238E27FC236}">
                <a16:creationId xmlns:a16="http://schemas.microsoft.com/office/drawing/2014/main" id="{BD4A8B62-7167-48DB-B71A-53823B19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860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Assistant intimacy turns trust into a threat.</a:t>
            </a:r>
          </a:p>
        </p:txBody>
      </p:sp>
      <p:sp>
        <p:nvSpPr>
          <p:cNvPr id="8" name="ACRIMONY">
            <a:extLst xmlns:a="http://schemas.openxmlformats.org/drawingml/2006/main">
              <a:ext uri="{FF2B5EF4-FFF2-40B4-BE49-F238E27FC236}">
                <a16:creationId xmlns:a16="http://schemas.microsoft.com/office/drawing/2014/main" id="{BD4648F1-AFC9-4468-8C07-49010186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ACRIMONY</a:t>
            </a:r>
          </a:p>
        </p:txBody>
      </p:sp>
      <p:sp>
        <p:nvSpPr>
          <p:cNvPr id="9" name="Old emotional wounds reshape the present.">
            <a:extLst xmlns:a="http://schemas.openxmlformats.org/drawingml/2006/main">
              <a:ext uri="{FF2B5EF4-FFF2-40B4-BE49-F238E27FC236}">
                <a16:creationId xmlns:a16="http://schemas.microsoft.com/office/drawing/2014/main" id="{7E5CBD06-EC9B-42DC-A144-140FDD11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Old emotional wounds reshape the present.</a:t>
            </a:r>
          </a:p>
        </p:txBody>
      </p:sp>
      <p:sp>
        <p:nvSpPr>
          <p:cNvPr id="10" name="THE DEVIL WEARS PRADA">
            <a:extLst xmlns:a="http://schemas.openxmlformats.org/drawingml/2006/main">
              <a:ext uri="{FF2B5EF4-FFF2-40B4-BE49-F238E27FC236}">
                <a16:creationId xmlns:a16="http://schemas.microsoft.com/office/drawing/2014/main" id="{3341D4DF-98C9-4778-A25B-7EBF2521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THE DEVIL WEARS PRADA</a:t>
            </a:r>
          </a:p>
        </p:txBody>
      </p:sp>
      <p:sp>
        <p:nvSpPr>
          <p:cNvPr id="11" name="Fashion hierarchy and executive-assistant int">
            <a:extLst xmlns:a="http://schemas.openxmlformats.org/drawingml/2006/main">
              <a:ext uri="{FF2B5EF4-FFF2-40B4-BE49-F238E27FC236}">
                <a16:creationId xmlns:a16="http://schemas.microsoft.com/office/drawing/2014/main" id="{5ABE59FA-CFB8-4EEF-9487-2FDC1CF1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Fashion hierarchy and executive-assistant intimacy. World reference.</a:t>
            </a:r>
          </a:p>
        </p:txBody>
      </p:sp>
      <p:sp>
        <p:nvSpPr>
          <p:cNvPr id="12" name="The distinguishing turn: suspicion gives way ">
            <a:extLst xmlns:a="http://schemas.openxmlformats.org/drawingml/2006/main">
              <a:ext uri="{FF2B5EF4-FFF2-40B4-BE49-F238E27FC236}">
                <a16:creationId xmlns:a16="http://schemas.microsoft.com/office/drawing/2014/main" id="{96BB21DE-C162-455E-B13C-3A16164C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6CDD9"/>
                </a:solidFill>
                <a:latin typeface="Arial"/>
                <a:ea typeface="Arial"/>
                <a:cs typeface="Arial"/>
              </a:rPr>
              <a:t>The distinguishing turn: suspicion gives way to sisterhood, accountability and boundaries.</a:t>
            </a:r>
          </a:p>
        </p:txBody>
      </p:sp>
    </p:spTree>
    <p:extLst>
      <p:ext uri="{BB962C8B-B14F-4D97-AF65-F5344CB8AC3E}">
        <p14:creationId xmlns:p14="http://schemas.microsoft.com/office/powerpoint/2010/main" val="281921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C189718D-7759-4514-BDAE-9B76AF6E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acaa5cf4f4313"/>
          <a:srcRect xmlns:a="http://schemas.openxmlformats.org/drawingml/2006/main" l="17771" t="0" r="17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BRIELLE THOMAS / 42">
            <a:extLst xmlns:a="http://schemas.openxmlformats.org/drawingml/2006/main">
              <a:ext uri="{FF2B5EF4-FFF2-40B4-BE49-F238E27FC236}">
                <a16:creationId xmlns:a16="http://schemas.microsoft.com/office/drawing/2014/main" id="{BD98AAD5-E870-4BB7-8939-376D78D3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286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BRIELLE THOMAS / 42</a:t>
            </a:r>
          </a:p>
        </p:txBody>
      </p:sp>
      <p:sp>
        <p:nvSpPr>
          <p:cNvPr id="4" name="The woman&#10;behind the brand">
            <a:extLst xmlns:a="http://schemas.openxmlformats.org/drawingml/2006/main">
              <a:ext uri="{FF2B5EF4-FFF2-40B4-BE49-F238E27FC236}">
                <a16:creationId xmlns:a16="http://schemas.microsoft.com/office/drawing/2014/main" id="{839886EA-A035-442B-BB69-9612A2F2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19200"/>
            <a:ext cx="561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The woman</a:t>
            </a:r>
          </a:p>
          <a:p xmlns:a="http://schemas.openxmlformats.org/drawingml/2006/main">
            <a:pPr>
              <a:defRPr sz="3675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behind the brand</a:t>
            </a:r>
          </a:p>
        </p:txBody>
      </p:sp>
      <p:sp>
        <p:nvSpPr>
          <p:cNvPr id="5" name="FOUNDER &amp; CEO, THOMAS LEGACY">
            <a:extLst xmlns:a="http://schemas.openxmlformats.org/drawingml/2006/main">
              <a:ext uri="{FF2B5EF4-FFF2-40B4-BE49-F238E27FC236}">
                <a16:creationId xmlns:a16="http://schemas.microsoft.com/office/drawing/2014/main" id="{27B95A3C-CA37-4F5B-B573-F553C409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05100"/>
            <a:ext cx="566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FOUNDER &amp; CEO, THOMAS LEGACY</a:t>
            </a:r>
          </a:p>
        </p:txBody>
      </p:sp>
      <p:sp>
        <p:nvSpPr>
          <p:cNvPr id="6" name="GOAL">
            <a:extLst xmlns:a="http://schemas.openxmlformats.org/drawingml/2006/main">
              <a:ext uri="{FF2B5EF4-FFF2-40B4-BE49-F238E27FC236}">
                <a16:creationId xmlns:a16="http://schemas.microsoft.com/office/drawing/2014/main" id="{D9AA9403-39D8-4E70-9676-311D994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7" name="Protect the company and deliver the Legacy Co">
            <a:extLst xmlns:a="http://schemas.openxmlformats.org/drawingml/2006/main">
              <a:ext uri="{FF2B5EF4-FFF2-40B4-BE49-F238E27FC236}">
                <a16:creationId xmlns:a16="http://schemas.microsoft.com/office/drawing/2014/main" id="{BB668291-F854-4193-9694-9A03093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09975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Protect the company and deliver the Legacy Collection showcase.</a:t>
            </a:r>
          </a:p>
        </p:txBody>
      </p:sp>
      <p:sp>
        <p:nvSpPr>
          <p:cNvPr id="8" name="CONFLICT">
            <a:extLst xmlns:a="http://schemas.openxmlformats.org/drawingml/2006/main">
              <a:ext uri="{FF2B5EF4-FFF2-40B4-BE49-F238E27FC236}">
                <a16:creationId xmlns:a16="http://schemas.microsoft.com/office/drawing/2014/main" id="{646DA617-A5CE-492F-BD9D-E4B90621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862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CONFLICT</a:t>
            </a:r>
          </a:p>
        </p:txBody>
      </p:sp>
      <p:sp>
        <p:nvSpPr>
          <p:cNvPr id="9" name="She trusts Kennedy’s competence while ignorin">
            <a:extLst xmlns:a="http://schemas.openxmlformats.org/drawingml/2006/main">
              <a:ext uri="{FF2B5EF4-FFF2-40B4-BE49-F238E27FC236}">
                <a16:creationId xmlns:a16="http://schemas.microsoft.com/office/drawing/2014/main" id="{74DE6B76-443D-47C4-A868-59978D77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96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She trusts Kennedy’s competence while ignoring the warning signs.</a:t>
            </a:r>
          </a:p>
        </p:txBody>
      </p:sp>
      <p:sp>
        <p:nvSpPr>
          <p:cNvPr id="10" name="Her arc: trade the safety of silence for trut">
            <a:extLst xmlns:a="http://schemas.openxmlformats.org/drawingml/2006/main">
              <a:ext uri="{FF2B5EF4-FFF2-40B4-BE49-F238E27FC236}">
                <a16:creationId xmlns:a16="http://schemas.microsoft.com/office/drawing/2014/main" id="{F3C4C684-4EC5-411F-A9A1-8CA12E15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762625"/>
            <a:ext cx="5429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6CDD9"/>
                </a:solidFill>
                <a:latin typeface="Arial"/>
                <a:ea typeface="Arial"/>
                <a:cs typeface="Arial"/>
              </a:rPr>
              <a:t>Her arc: trade the safety of silence for truth, with boundaries she can defend.</a:t>
            </a:r>
          </a:p>
        </p:txBody>
      </p:sp>
    </p:spTree>
    <p:extLst>
      <p:ext uri="{BB962C8B-B14F-4D97-AF65-F5344CB8AC3E}">
        <p14:creationId xmlns:p14="http://schemas.microsoft.com/office/powerpoint/2010/main" val="1859286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6">
            <a:extLst xmlns:a="http://schemas.openxmlformats.org/drawingml/2006/main">
              <a:ext uri="{FF2B5EF4-FFF2-40B4-BE49-F238E27FC236}">
                <a16:creationId xmlns:a16="http://schemas.microsoft.com/office/drawing/2014/main" id="{FCED5349-8E12-4780-87FB-EB761FB5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bf6baa088485e"/>
          <a:srcRect xmlns:a="http://schemas.openxmlformats.org/drawingml/2006/main" l="17829" t="0" r="178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KENNEDY / 24">
            <a:extLst xmlns:a="http://schemas.openxmlformats.org/drawingml/2006/main">
              <a:ext uri="{FF2B5EF4-FFF2-40B4-BE49-F238E27FC236}">
                <a16:creationId xmlns:a16="http://schemas.microsoft.com/office/drawing/2014/main" id="{AB21BDEB-F5CD-4C75-9AE5-FF18D763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6CDD9"/>
                </a:solidFill>
                <a:latin typeface="Arial"/>
                <a:ea typeface="Arial"/>
                <a:cs typeface="Arial"/>
              </a:rPr>
              <a:t>KENNEDY / 24</a:t>
            </a:r>
          </a:p>
        </p:txBody>
      </p:sp>
      <p:sp>
        <p:nvSpPr>
          <p:cNvPr id="4" name="The assistant&#10;with a claim">
            <a:extLst xmlns:a="http://schemas.openxmlformats.org/drawingml/2006/main">
              <a:ext uri="{FF2B5EF4-FFF2-40B4-BE49-F238E27FC236}">
                <a16:creationId xmlns:a16="http://schemas.microsoft.com/office/drawing/2014/main" id="{837609E9-7AC0-43F7-9528-73D94AE8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09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The assistant</a:t>
            </a:r>
          </a:p>
          <a:p xmlns:a="http://schemas.openxmlformats.org/drawingml/2006/main">
            <a:pPr>
              <a:defRPr sz="40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with a claim</a:t>
            </a:r>
          </a:p>
        </p:txBody>
      </p:sp>
      <p:sp>
        <p:nvSpPr>
          <p:cNvPr id="5" name="GOAL">
            <a:extLst xmlns:a="http://schemas.openxmlformats.org/drawingml/2006/main">
              <a:ext uri="{FF2B5EF4-FFF2-40B4-BE49-F238E27FC236}">
                <a16:creationId xmlns:a16="http://schemas.microsoft.com/office/drawing/2014/main" id="{05B0C7D7-AE01-4694-88D6-2374BAA7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6" name="Enter the family that excluded her and discov">
            <a:extLst xmlns:a="http://schemas.openxmlformats.org/drawingml/2006/main">
              <a:ext uri="{FF2B5EF4-FFF2-40B4-BE49-F238E27FC236}">
                <a16:creationId xmlns:a16="http://schemas.microsoft.com/office/drawing/2014/main" id="{6E653AE7-06F1-454F-B0AF-AF608065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Enter the family that excluded her and discover whether she can hate Brielle.</a:t>
            </a:r>
          </a:p>
        </p:txBody>
      </p:sp>
      <p:sp>
        <p:nvSpPr>
          <p:cNvPr id="7" name="SECRET">
            <a:extLst xmlns:a="http://schemas.openxmlformats.org/drawingml/2006/main">
              <a:ext uri="{FF2B5EF4-FFF2-40B4-BE49-F238E27FC236}">
                <a16:creationId xmlns:a16="http://schemas.microsoft.com/office/drawing/2014/main" id="{7C382329-56A2-40AF-8F17-F3C5504B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  <p:sp>
        <p:nvSpPr>
          <p:cNvPr id="8" name="She is Elijah Thomas’s daughter. The intervie">
            <a:extLst xmlns:a="http://schemas.openxmlformats.org/drawingml/2006/main">
              <a:ext uri="{FF2B5EF4-FFF2-40B4-BE49-F238E27FC236}">
                <a16:creationId xmlns:a16="http://schemas.microsoft.com/office/drawing/2014/main" id="{0C88C2CD-1968-4B5C-8DEE-7975483E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She is Elijah Thomas’s daughter. The interview was a prepared way in.</a:t>
            </a:r>
          </a:p>
        </p:txBody>
      </p:sp>
      <p:sp>
        <p:nvSpPr>
          <p:cNvPr id="9" name="Her arc: own the harm she caused and pursue d">
            <a:extLst xmlns:a="http://schemas.openxmlformats.org/drawingml/2006/main">
              <a:ext uri="{FF2B5EF4-FFF2-40B4-BE49-F238E27FC236}">
                <a16:creationId xmlns:a16="http://schemas.microsoft.com/office/drawing/2014/main" id="{3E392263-842D-41F1-8432-8F30679B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6CDD9"/>
                </a:solidFill>
                <a:latin typeface="Arial"/>
                <a:ea typeface="Arial"/>
                <a:cs typeface="Arial"/>
              </a:rPr>
              <a:t>Her arc: own the harm she caused and pursue design under her own name.</a:t>
            </a:r>
          </a:p>
        </p:txBody>
      </p:sp>
    </p:spTree>
    <p:extLst>
      <p:ext uri="{BB962C8B-B14F-4D97-AF65-F5344CB8AC3E}">
        <p14:creationId xmlns:p14="http://schemas.microsoft.com/office/powerpoint/2010/main" val="102858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7">
            <a:extLst xmlns:a="http://schemas.openxmlformats.org/drawingml/2006/main">
              <a:ext uri="{FF2B5EF4-FFF2-40B4-BE49-F238E27FC236}">
                <a16:creationId xmlns:a16="http://schemas.microsoft.com/office/drawing/2014/main" id="{46BCFE92-1C9C-491D-817B-E0DC63A2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Supporting characters">
            <a:extLst xmlns:a="http://schemas.openxmlformats.org/drawingml/2006/main">
              <a:ext uri="{FF2B5EF4-FFF2-40B4-BE49-F238E27FC236}">
                <a16:creationId xmlns:a16="http://schemas.microsoft.com/office/drawing/2014/main" id="{BABFD057-09C6-445B-8FBE-F40D5EEC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Supporting characters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0567d0f234784"/>
          <a:srcRect xmlns:a="http://schemas.openxmlformats.org/drawingml/2006/main" l="21813" t="0" r="218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0" y="1381125"/>
            <a:ext cx="30480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DOLORES THOMAS / 69">
            <a:extLst xmlns:a="http://schemas.openxmlformats.org/drawingml/2006/main">
              <a:ext uri="{FF2B5EF4-FFF2-40B4-BE49-F238E27FC236}">
                <a16:creationId xmlns:a16="http://schemas.microsoft.com/office/drawing/2014/main" id="{4BD553D8-D1B8-4AC7-873E-31A5038C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DOLORES THOMAS / 69</a:t>
            </a:r>
          </a:p>
        </p:txBody>
      </p:sp>
      <p:sp>
        <p:nvSpPr>
          <p:cNvPr id="5" name="Brielle’s mother. Her attempts to confess dis">
            <a:extLst xmlns:a="http://schemas.openxmlformats.org/drawingml/2006/main">
              <a:ext uri="{FF2B5EF4-FFF2-40B4-BE49-F238E27FC236}">
                <a16:creationId xmlns:a16="http://schemas.microsoft.com/office/drawing/2014/main" id="{50AC13BD-DF5A-4A3D-B507-DF30EC5A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Brielle’s mother. Her attempts to confess disturb decades of silence.</a:t>
            </a:r>
          </a:p>
        </p:txBody>
      </p:sp>
      <p:sp>
        <p:nvSpPr>
          <p:cNvPr id="6" name="NADINE BANKS / 41">
            <a:extLst xmlns:a="http://schemas.openxmlformats.org/drawingml/2006/main">
              <a:ext uri="{FF2B5EF4-FFF2-40B4-BE49-F238E27FC236}">
                <a16:creationId xmlns:a16="http://schemas.microsoft.com/office/drawing/2014/main" id="{F7811E6B-D443-4EA4-A52C-93F53728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NADINE BANKS / 41</a:t>
            </a:r>
          </a:p>
        </p:txBody>
      </p:sp>
      <p:sp>
        <p:nvSpPr>
          <p:cNvPr id="7" name="Best friend and business partner. She questio">
            <a:extLst xmlns:a="http://schemas.openxmlformats.org/drawingml/2006/main">
              <a:ext uri="{FF2B5EF4-FFF2-40B4-BE49-F238E27FC236}">
                <a16:creationId xmlns:a16="http://schemas.microsoft.com/office/drawing/2014/main" id="{7D670206-7FB1-4326-8FBD-5C1F2AF2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Best friend and business partner. She questions Kennedy, then stands by Brielle.</a:t>
            </a:r>
          </a:p>
        </p:txBody>
      </p:sp>
      <p:sp>
        <p:nvSpPr>
          <p:cNvPr id="8" name="MARCUS HOLLIS-THOMAS">
            <a:extLst xmlns:a="http://schemas.openxmlformats.org/drawingml/2006/main">
              <a:ext uri="{FF2B5EF4-FFF2-40B4-BE49-F238E27FC236}">
                <a16:creationId xmlns:a16="http://schemas.microsoft.com/office/drawing/2014/main" id="{E62607C1-24C9-49A1-8194-9072618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MARCUS HOLLIS-THOMAS</a:t>
            </a:r>
          </a:p>
        </p:txBody>
      </p:sp>
      <p:sp>
        <p:nvSpPr>
          <p:cNvPr id="9" name="The ex-husband. He turns family knowledge int">
            <a:extLst xmlns:a="http://schemas.openxmlformats.org/drawingml/2006/main">
              <a:ext uri="{FF2B5EF4-FFF2-40B4-BE49-F238E27FC236}">
                <a16:creationId xmlns:a16="http://schemas.microsoft.com/office/drawing/2014/main" id="{3B01C4F7-E311-478E-BDED-92E017D7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The ex-husband. He turns family knowledge into business leverage.</a:t>
            </a:r>
          </a:p>
        </p:txBody>
      </p:sp>
      <p:sp>
        <p:nvSpPr>
          <p:cNvPr id="10" name="ELIJAH THOMAS">
            <a:extLst xmlns:a="http://schemas.openxmlformats.org/drawingml/2006/main">
              <a:ext uri="{FF2B5EF4-FFF2-40B4-BE49-F238E27FC236}">
                <a16:creationId xmlns:a16="http://schemas.microsoft.com/office/drawing/2014/main" id="{79FCA3F8-9472-45F4-8C6D-961B853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ELIJAH THOMAS</a:t>
            </a:r>
          </a:p>
        </p:txBody>
      </p:sp>
      <p:sp>
        <p:nvSpPr>
          <p:cNvPr id="11" name="The late father. His double life sits beneath">
            <a:extLst xmlns:a="http://schemas.openxmlformats.org/drawingml/2006/main">
              <a:ext uri="{FF2B5EF4-FFF2-40B4-BE49-F238E27FC236}">
                <a16:creationId xmlns:a16="http://schemas.microsoft.com/office/drawing/2014/main" id="{A839E55F-A9CF-4E4B-9365-00E47491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The late father. His double life sits beneath the brand’s celebrated legacy.</a:t>
            </a:r>
          </a:p>
        </p:txBody>
      </p:sp>
      <p:sp>
        <p:nvSpPr>
          <p:cNvPr id="12" name="KENNEDY’S MOTHER">
            <a:extLst xmlns:a="http://schemas.openxmlformats.org/drawingml/2006/main">
              <a:ext uri="{FF2B5EF4-FFF2-40B4-BE49-F238E27FC236}">
                <a16:creationId xmlns:a16="http://schemas.microsoft.com/office/drawing/2014/main" id="{E0F486DB-8E8D-4A17-B84B-7CAAD5B7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6CDD9"/>
                </a:solidFill>
                <a:latin typeface="Arial"/>
                <a:ea typeface="Arial"/>
                <a:cs typeface="Arial"/>
              </a:rPr>
              <a:t>KENNEDY’S MOTHER</a:t>
            </a:r>
          </a:p>
        </p:txBody>
      </p:sp>
      <p:sp>
        <p:nvSpPr>
          <p:cNvPr id="13" name="Her account of Elijah fuels Kennedy’s anger a">
            <a:extLst xmlns:a="http://schemas.openxmlformats.org/drawingml/2006/main">
              <a:ext uri="{FF2B5EF4-FFF2-40B4-BE49-F238E27FC236}">
                <a16:creationId xmlns:a16="http://schemas.microsoft.com/office/drawing/2014/main" id="{AD3B62D0-37E3-47C5-B1DA-7B75A394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Her account of Elijah fuels Kennedy’s anger and sense of exclusion.</a:t>
            </a:r>
          </a:p>
        </p:txBody>
      </p:sp>
    </p:spTree>
    <p:extLst>
      <p:ext uri="{BB962C8B-B14F-4D97-AF65-F5344CB8AC3E}">
        <p14:creationId xmlns:p14="http://schemas.microsoft.com/office/powerpoint/2010/main" val="302836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8">
            <a:extLst xmlns:a="http://schemas.openxmlformats.org/drawingml/2006/main">
              <a:ext uri="{FF2B5EF4-FFF2-40B4-BE49-F238E27FC236}">
                <a16:creationId xmlns:a16="http://schemas.microsoft.com/office/drawing/2014/main" id="{2C997527-13C4-47CA-94B1-0FD022B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Plot summary">
            <a:extLst xmlns:a="http://schemas.openxmlformats.org/drawingml/2006/main">
              <a:ext uri="{FF2B5EF4-FFF2-40B4-BE49-F238E27FC236}">
                <a16:creationId xmlns:a16="http://schemas.microsoft.com/office/drawing/2014/main" id="{3B844EF9-779C-404F-AFD1-5FD93008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Plot summary</a:t>
            </a:r>
          </a:p>
        </p:txBody>
      </p:sp>
      <p:sp>
        <p:nvSpPr>
          <p:cNvPr id="3" name="I  THE PERFECT HIRE">
            <a:extLst xmlns:a="http://schemas.openxmlformats.org/drawingml/2006/main">
              <a:ext uri="{FF2B5EF4-FFF2-40B4-BE49-F238E27FC236}">
                <a16:creationId xmlns:a16="http://schemas.microsoft.com/office/drawing/2014/main" id="{690E0858-9AF7-49D6-A746-54F63E5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6CDD9"/>
                </a:solidFill>
                <a:latin typeface="Arial"/>
                <a:ea typeface="Arial"/>
                <a:cs typeface="Arial"/>
              </a:rPr>
              <a:t>I  THE PERFECT HIRE</a:t>
            </a:r>
          </a:p>
        </p:txBody>
      </p:sp>
      <p:sp>
        <p:nvSpPr>
          <p:cNvPr id="4" name="As a showcase and Marcus’s equity demands squ">
            <a:extLst xmlns:a="http://schemas.openxmlformats.org/drawingml/2006/main">
              <a:ext uri="{FF2B5EF4-FFF2-40B4-BE49-F238E27FC236}">
                <a16:creationId xmlns:a16="http://schemas.microsoft.com/office/drawing/2014/main" id="{BB5A05EE-B6CA-4E6F-B262-649C8A9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3051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As a showcase and Marcus’s equity demands squeeze Brielle, Kennedy makes herself essential. Dolores’s hospitalization brings a warning: Elijah had another daughter.</a:t>
            </a:r>
          </a:p>
        </p:txBody>
      </p:sp>
      <p:sp>
        <p:nvSpPr>
          <p:cNvPr id="5" name="II  THE WOMAN INSIDE">
            <a:extLst xmlns:a="http://schemas.openxmlformats.org/drawingml/2006/main">
              <a:ext uri="{FF2B5EF4-FFF2-40B4-BE49-F238E27FC236}">
                <a16:creationId xmlns:a16="http://schemas.microsoft.com/office/drawing/2014/main" id="{949109A7-DF80-4C08-B870-8BE29EFD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6CDD9"/>
                </a:solidFill>
                <a:latin typeface="Arial"/>
                <a:ea typeface="Arial"/>
                <a:cs typeface="Arial"/>
              </a:rPr>
              <a:t>II  THE WOMAN INSIDE</a:t>
            </a:r>
          </a:p>
        </p:txBody>
      </p:sp>
      <p:sp>
        <p:nvSpPr>
          <p:cNvPr id="6" name="Private access and false references prompt Br">
            <a:extLst xmlns:a="http://schemas.openxmlformats.org/drawingml/2006/main">
              <a:ext uri="{FF2B5EF4-FFF2-40B4-BE49-F238E27FC236}">
                <a16:creationId xmlns:a16="http://schemas.microsoft.com/office/drawing/2014/main" id="{7CB69153-8566-4658-9076-B2480456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33051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Private access and false references prompt Brielle’s investigation. After a press interview violates her trust, Kennedy admits she is Brielle’s half-sister.</a:t>
            </a:r>
          </a:p>
        </p:txBody>
      </p:sp>
      <p:sp>
        <p:nvSpPr>
          <p:cNvPr id="7" name="III  THE TRUTH IN PUBLIC">
            <a:extLst xmlns:a="http://schemas.openxmlformats.org/drawingml/2006/main">
              <a:ext uri="{FF2B5EF4-FFF2-40B4-BE49-F238E27FC236}">
                <a16:creationId xmlns:a16="http://schemas.microsoft.com/office/drawing/2014/main" id="{C9CA26F5-FC88-4652-9901-F37F633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6CDD9"/>
                </a:solidFill>
                <a:latin typeface="Arial"/>
                <a:ea typeface="Arial"/>
                <a:cs typeface="Arial"/>
              </a:rPr>
              <a:t>III  THE TRUTH IN PUBLIC</a:t>
            </a:r>
          </a:p>
        </p:txBody>
      </p:sp>
      <p:sp>
        <p:nvSpPr>
          <p:cNvPr id="8" name="A pharmacy error clears Kennedy of the medica">
            <a:extLst xmlns:a="http://schemas.openxmlformats.org/drawingml/2006/main">
              <a:ext uri="{FF2B5EF4-FFF2-40B4-BE49-F238E27FC236}">
                <a16:creationId xmlns:a16="http://schemas.microsoft.com/office/drawing/2014/main" id="{98464208-1761-447D-858C-E8077BAA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19325"/>
            <a:ext cx="33051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A pharmacy error clears Kennedy of the medication scare. Facing Marcus’s leverage and a leaked photograph, Brielle tells the truth, ends Kennedy’s access and offers family without a job.</a:t>
            </a:r>
          </a:p>
        </p:txBody>
      </p:sp>
      <p:sp>
        <p:nvSpPr>
          <p:cNvPr id="9" name="Sunday dinner opens a door. Trust still has t">
            <a:extLst xmlns:a="http://schemas.openxmlformats.org/drawingml/2006/main">
              <a:ext uri="{FF2B5EF4-FFF2-40B4-BE49-F238E27FC236}">
                <a16:creationId xmlns:a16="http://schemas.microsoft.com/office/drawing/2014/main" id="{1047BCFD-1BC6-4A00-9F0E-27262C87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429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Sunday dinner opens a door. Trust still has to be rebuilt.</a:t>
            </a:r>
          </a:p>
        </p:txBody>
      </p:sp>
    </p:spTree>
    <p:extLst>
      <p:ext uri="{BB962C8B-B14F-4D97-AF65-F5344CB8AC3E}">
        <p14:creationId xmlns:p14="http://schemas.microsoft.com/office/powerpoint/2010/main" val="1999010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9">
            <a:extLst xmlns:a="http://schemas.openxmlformats.org/drawingml/2006/main">
              <a:ext uri="{FF2B5EF4-FFF2-40B4-BE49-F238E27FC236}">
                <a16:creationId xmlns:a16="http://schemas.microsoft.com/office/drawing/2014/main" id="{AD5742EF-A23F-4056-A87E-574381C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Visual style">
            <a:extLst xmlns:a="http://schemas.openxmlformats.org/drawingml/2006/main">
              <a:ext uri="{FF2B5EF4-FFF2-40B4-BE49-F238E27FC236}">
                <a16:creationId xmlns:a16="http://schemas.microsoft.com/office/drawing/2014/main" id="{E23F6C09-4753-453C-B0F0-63253530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Visual style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9a30a3602432f"/>
          <a:srcRect xmlns:a="http://schemas.openxmlformats.org/drawingml/2006/main" l="0" t="3166" r="0" b="31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57325"/>
            <a:ext cx="3457575" cy="273367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c762ec64e4c03"/>
          <a:srcRect xmlns:a="http://schemas.openxmlformats.org/drawingml/2006/main" l="0" t="3250" r="0" b="3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6725" y="1457325"/>
            <a:ext cx="3457575" cy="273367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70f0a2e3447a4"/>
          <a:srcRect xmlns:a="http://schemas.openxmlformats.org/drawingml/2006/main" l="0" t="5481" r="0" b="5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1457325"/>
            <a:ext cx="3638550" cy="2733675"/>
          </a:xfrm>
          <a:prstGeom xmlns:a="http://schemas.openxmlformats.org/drawingml/2006/main" prst="rect">
            <a:avLst/>
          </a:prstGeom>
        </p:spPr>
      </p:pic>
      <p:sp>
        <p:nvSpPr>
          <p:cNvPr id="6" name="BLACK GLASS / EMERALD / GOLD">
            <a:extLst xmlns:a="http://schemas.openxmlformats.org/drawingml/2006/main">
              <a:ext uri="{FF2B5EF4-FFF2-40B4-BE49-F238E27FC236}">
                <a16:creationId xmlns:a16="http://schemas.microsoft.com/office/drawing/2014/main" id="{98E02951-E494-4242-B6A9-9FD08B1F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3457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BLACK GLASS / EMERALD / GOLD</a:t>
            </a:r>
          </a:p>
        </p:txBody>
      </p:sp>
      <p:sp>
        <p:nvSpPr>
          <p:cNvPr id="7" name="SEPIA / IVORY / FAMILY HISTORY">
            <a:extLst xmlns:a="http://schemas.openxmlformats.org/drawingml/2006/main">
              <a:ext uri="{FF2B5EF4-FFF2-40B4-BE49-F238E27FC236}">
                <a16:creationId xmlns:a16="http://schemas.microsoft.com/office/drawing/2014/main" id="{E23F6AED-A905-44D7-BE03-B7DBC881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419600"/>
            <a:ext cx="3457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SEPIA / IVORY / FAMILY HISTORY</a:t>
            </a:r>
          </a:p>
        </p:txBody>
      </p:sp>
      <p:sp>
        <p:nvSpPr>
          <p:cNvPr id="8" name="COLD BLUE / FLUORESCENCE">
            <a:extLst xmlns:a="http://schemas.openxmlformats.org/drawingml/2006/main">
              <a:ext uri="{FF2B5EF4-FFF2-40B4-BE49-F238E27FC236}">
                <a16:creationId xmlns:a16="http://schemas.microsoft.com/office/drawing/2014/main" id="{78C36F0A-2DCC-4F02-963D-8599429C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1960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6CDD9"/>
                </a:solidFill>
                <a:latin typeface="Arial"/>
                <a:ea typeface="Arial"/>
                <a:cs typeface="Arial"/>
              </a:rPr>
              <a:t>COLD BLUE / FLUORESCENCE</a:t>
            </a:r>
          </a:p>
        </p:txBody>
      </p:sp>
      <p:sp>
        <p:nvSpPr>
          <p:cNvPr id="9" name="Controlled symmetry gives way to shared frame">
            <a:extLst xmlns:a="http://schemas.openxmlformats.org/drawingml/2006/main">
              <a:ext uri="{FF2B5EF4-FFF2-40B4-BE49-F238E27FC236}">
                <a16:creationId xmlns:a16="http://schemas.microsoft.com/office/drawing/2014/main" id="{30D7D060-5603-49B1-B4B4-2E073842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572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Controlled symmetry gives way to shared frames and uneasy reflections. Garment racks become corridors. Phones, keys and old photos turn routine objects into evidence.</a:t>
            </a:r>
          </a:p>
        </p:txBody>
      </p:sp>
    </p:spTree>
    <p:extLst>
      <p:ext uri="{BB962C8B-B14F-4D97-AF65-F5344CB8AC3E}">
        <p14:creationId xmlns:p14="http://schemas.microsoft.com/office/powerpoint/2010/main" val="507498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10">
            <a:extLst xmlns:a="http://schemas.openxmlformats.org/drawingml/2006/main">
              <a:ext uri="{FF2B5EF4-FFF2-40B4-BE49-F238E27FC236}">
                <a16:creationId xmlns:a16="http://schemas.microsoft.com/office/drawing/2014/main" id="{02BFC3A6-6DA3-4D80-B12C-55105F7A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Aspirational casting wishlist">
            <a:extLst xmlns:a="http://schemas.openxmlformats.org/drawingml/2006/main">
              <a:ext uri="{FF2B5EF4-FFF2-40B4-BE49-F238E27FC236}">
                <a16:creationId xmlns:a16="http://schemas.microsoft.com/office/drawing/2014/main" id="{1B81469F-1420-422A-8730-1AFDBEC1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Aspirational casting wishlist</a:t>
            </a:r>
          </a:p>
        </p:txBody>
      </p:sp>
      <p:sp>
        <p:nvSpPr>
          <p:cNvPr id="3" name="Presence, precision and emotional range">
            <a:extLst xmlns:a="http://schemas.openxmlformats.org/drawingml/2006/main">
              <a:ext uri="{FF2B5EF4-FFF2-40B4-BE49-F238E27FC236}">
                <a16:creationId xmlns:a16="http://schemas.microsoft.com/office/drawing/2014/main" id="{5199D2DD-BCCB-4148-97A0-2B4412D7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89B60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B89B60"/>
                </a:solidFill>
                <a:latin typeface="Georgia"/>
                <a:ea typeface="Georgia"/>
                <a:cs typeface="Georgia"/>
              </a:rPr>
              <a:t>Presence, precision and emotional range</a:t>
            </a:r>
          </a:p>
        </p:txBody>
      </p:sp>
      <p:sp>
        <p:nvSpPr>
          <p:cNvPr id="4" name="BRIELLE THOMAS">
            <a:extLst xmlns:a="http://schemas.openxmlformats.org/drawingml/2006/main">
              <a:ext uri="{FF2B5EF4-FFF2-40B4-BE49-F238E27FC236}">
                <a16:creationId xmlns:a16="http://schemas.microsoft.com/office/drawing/2014/main" id="{AD63A628-FDF3-4058-9C86-9FBEC5E4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BRIELLE THOMAS</a:t>
            </a:r>
          </a:p>
        </p:txBody>
      </p:sp>
      <p:sp>
        <p:nvSpPr>
          <p:cNvPr id="5" name="Tika Sumpter">
            <a:extLst xmlns:a="http://schemas.openxmlformats.org/drawingml/2006/main">
              <a:ext uri="{FF2B5EF4-FFF2-40B4-BE49-F238E27FC236}">
                <a16:creationId xmlns:a16="http://schemas.microsoft.com/office/drawing/2014/main" id="{59F9AD59-4B16-4858-80EB-4DB059ED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28850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Tika Sumpter</a:t>
            </a:r>
          </a:p>
        </p:txBody>
      </p:sp>
      <p:sp>
        <p:nvSpPr>
          <p:cNvPr id="6" name="Authority with guarded vulnerability">
            <a:extLst xmlns:a="http://schemas.openxmlformats.org/drawingml/2006/main">
              <a:ext uri="{FF2B5EF4-FFF2-40B4-BE49-F238E27FC236}">
                <a16:creationId xmlns:a16="http://schemas.microsoft.com/office/drawing/2014/main" id="{874BA510-DE1A-4035-A954-CB90AAFD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66950"/>
            <a:ext cx="4191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Authority with guarded vulnerability</a:t>
            </a:r>
          </a:p>
        </p:txBody>
      </p:sp>
      <p:sp>
        <p:nvSpPr>
          <p:cNvPr id="7" name="KENNEDY">
            <a:extLst xmlns:a="http://schemas.openxmlformats.org/drawingml/2006/main">
              <a:ext uri="{FF2B5EF4-FFF2-40B4-BE49-F238E27FC236}">
                <a16:creationId xmlns:a16="http://schemas.microsoft.com/office/drawing/2014/main" id="{B39A4386-C5AF-4C4B-9DB4-91F9569F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KENNEDY</a:t>
            </a:r>
          </a:p>
        </p:txBody>
      </p:sp>
      <p:sp>
        <p:nvSpPr>
          <p:cNvPr id="8" name="Ryan Destiny">
            <a:extLst xmlns:a="http://schemas.openxmlformats.org/drawingml/2006/main">
              <a:ext uri="{FF2B5EF4-FFF2-40B4-BE49-F238E27FC236}">
                <a16:creationId xmlns:a16="http://schemas.microsoft.com/office/drawing/2014/main" id="{01DA6AAF-2DAD-46F6-BC6B-CD6D3FC6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62275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Ryan Destiny</a:t>
            </a:r>
          </a:p>
        </p:txBody>
      </p:sp>
      <p:sp>
        <p:nvSpPr>
          <p:cNvPr id="9" name="Composure with an unsettled interior">
            <a:extLst xmlns:a="http://schemas.openxmlformats.org/drawingml/2006/main">
              <a:ext uri="{FF2B5EF4-FFF2-40B4-BE49-F238E27FC236}">
                <a16:creationId xmlns:a16="http://schemas.microsoft.com/office/drawing/2014/main" id="{5F59C66C-0F33-4450-BF43-DB181511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4191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Composure with an unsettled interior</a:t>
            </a:r>
          </a:p>
        </p:txBody>
      </p:sp>
      <p:sp>
        <p:nvSpPr>
          <p:cNvPr id="10" name="NADINE BANKS">
            <a:extLst xmlns:a="http://schemas.openxmlformats.org/drawingml/2006/main">
              <a:ext uri="{FF2B5EF4-FFF2-40B4-BE49-F238E27FC236}">
                <a16:creationId xmlns:a16="http://schemas.microsoft.com/office/drawing/2014/main" id="{59A21389-9D8F-4DDA-BE04-EAB49380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NADINE BANKS</a:t>
            </a:r>
          </a:p>
        </p:txBody>
      </p:sp>
      <p:sp>
        <p:nvSpPr>
          <p:cNvPr id="11" name="Teyonah Parris">
            <a:extLst xmlns:a="http://schemas.openxmlformats.org/drawingml/2006/main">
              <a:ext uri="{FF2B5EF4-FFF2-40B4-BE49-F238E27FC236}">
                <a16:creationId xmlns:a16="http://schemas.microsoft.com/office/drawing/2014/main" id="{8EAC6243-CF2A-4EB8-A1F9-F95EF014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95700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Teyonah Parris</a:t>
            </a:r>
          </a:p>
        </p:txBody>
      </p:sp>
      <p:sp>
        <p:nvSpPr>
          <p:cNvPr id="12" name="Sharp wit and unwavering loyalty">
            <a:extLst xmlns:a="http://schemas.openxmlformats.org/drawingml/2006/main">
              <a:ext uri="{FF2B5EF4-FFF2-40B4-BE49-F238E27FC236}">
                <a16:creationId xmlns:a16="http://schemas.microsoft.com/office/drawing/2014/main" id="{B60A9697-AFA8-42A0-8AF8-A0199A06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733800"/>
            <a:ext cx="4191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Sharp wit and unwavering loyalty</a:t>
            </a:r>
          </a:p>
        </p:txBody>
      </p:sp>
      <p:sp>
        <p:nvSpPr>
          <p:cNvPr id="13" name="DOLORES THOMAS">
            <a:extLst xmlns:a="http://schemas.openxmlformats.org/drawingml/2006/main">
              <a:ext uri="{FF2B5EF4-FFF2-40B4-BE49-F238E27FC236}">
                <a16:creationId xmlns:a16="http://schemas.microsoft.com/office/drawing/2014/main" id="{37F215C2-8EB9-4604-9768-5FAC3C08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DOLORES THOMAS</a:t>
            </a:r>
          </a:p>
        </p:txBody>
      </p:sp>
      <p:sp>
        <p:nvSpPr>
          <p:cNvPr id="14" name="Alfre Woodard">
            <a:extLst xmlns:a="http://schemas.openxmlformats.org/drawingml/2006/main">
              <a:ext uri="{FF2B5EF4-FFF2-40B4-BE49-F238E27FC236}">
                <a16:creationId xmlns:a16="http://schemas.microsoft.com/office/drawing/2014/main" id="{03CBC800-EED0-4F7D-9A0D-D4FD52AA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29125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Alfre Woodard</a:t>
            </a:r>
          </a:p>
        </p:txBody>
      </p:sp>
      <p:sp>
        <p:nvSpPr>
          <p:cNvPr id="15" name="The weight of a long-held secret">
            <a:extLst xmlns:a="http://schemas.openxmlformats.org/drawingml/2006/main">
              <a:ext uri="{FF2B5EF4-FFF2-40B4-BE49-F238E27FC236}">
                <a16:creationId xmlns:a16="http://schemas.microsoft.com/office/drawing/2014/main" id="{53F267F9-5330-4D86-93CC-BCD357CC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467225"/>
            <a:ext cx="4191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The weight of a long-held secret</a:t>
            </a:r>
          </a:p>
        </p:txBody>
      </p:sp>
      <p:sp>
        <p:nvSpPr>
          <p:cNvPr id="16" name="MARCUS">
            <a:extLst xmlns:a="http://schemas.openxmlformats.org/drawingml/2006/main">
              <a:ext uri="{FF2B5EF4-FFF2-40B4-BE49-F238E27FC236}">
                <a16:creationId xmlns:a16="http://schemas.microsoft.com/office/drawing/2014/main" id="{5362B314-EF32-4DCE-8421-5BDCB6CD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MARCUS</a:t>
            </a:r>
          </a:p>
        </p:txBody>
      </p:sp>
      <p:sp>
        <p:nvSpPr>
          <p:cNvPr id="17" name="Morris Chestnut">
            <a:extLst xmlns:a="http://schemas.openxmlformats.org/drawingml/2006/main">
              <a:ext uri="{FF2B5EF4-FFF2-40B4-BE49-F238E27FC236}">
                <a16:creationId xmlns:a16="http://schemas.microsoft.com/office/drawing/2014/main" id="{749CC67A-7ED6-40EB-B322-585B1BEF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62550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Morris Chestnut</a:t>
            </a:r>
          </a:p>
        </p:txBody>
      </p:sp>
      <p:sp>
        <p:nvSpPr>
          <p:cNvPr id="18" name="Charm sharpened into leverage">
            <a:extLst xmlns:a="http://schemas.openxmlformats.org/drawingml/2006/main">
              <a:ext uri="{FF2B5EF4-FFF2-40B4-BE49-F238E27FC236}">
                <a16:creationId xmlns:a16="http://schemas.microsoft.com/office/drawing/2014/main" id="{FF8F4DE7-2AE4-4F19-805A-6E35F40D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200650"/>
            <a:ext cx="4191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Charm sharpened into leverage</a:t>
            </a:r>
          </a:p>
        </p:txBody>
      </p:sp>
      <p:sp>
        <p:nvSpPr>
          <p:cNvPr id="19" name="Casting references only">
            <a:extLst xmlns:a="http://schemas.openxmlformats.org/drawingml/2006/main">
              <a:ext uri="{FF2B5EF4-FFF2-40B4-BE49-F238E27FC236}">
                <a16:creationId xmlns:a16="http://schemas.microsoft.com/office/drawing/2014/main" id="{24524B57-B799-448B-AF51-24D1A030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CDD9"/>
                </a:solidFill>
                <a:latin typeface="Arial"/>
                <a:ea typeface="Arial"/>
                <a:cs typeface="Arial"/>
              </a:rPr>
              <a:t>Casting references only</a:t>
            </a:r>
          </a:p>
        </p:txBody>
      </p:sp>
    </p:spTree>
    <p:extLst>
      <p:ext uri="{BB962C8B-B14F-4D97-AF65-F5344CB8AC3E}">
        <p14:creationId xmlns:p14="http://schemas.microsoft.com/office/powerpoint/2010/main" val="439636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11">
            <a:extLst xmlns:a="http://schemas.openxmlformats.org/drawingml/2006/main">
              <a:ext uri="{FF2B5EF4-FFF2-40B4-BE49-F238E27FC236}">
                <a16:creationId xmlns:a16="http://schemas.microsoft.com/office/drawing/2014/main" id="{B2A2D865-4FBA-4422-A886-A7E429BD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Why it works / buyer lane">
            <a:extLst xmlns:a="http://schemas.openxmlformats.org/drawingml/2006/main">
              <a:ext uri="{FF2B5EF4-FFF2-40B4-BE49-F238E27FC236}">
                <a16:creationId xmlns:a16="http://schemas.microsoft.com/office/drawing/2014/main" id="{5F5E0581-7A3D-4342-99DD-FD7EF2D9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Why it works / buyer lane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a8395dff14378"/>
          <a:srcRect xmlns:a="http://schemas.openxmlformats.org/drawingml/2006/main" l="25623" t="0" r="256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0"/>
            <a:ext cx="39624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A commercial hook.&#10;An emotional reckoning.">
            <a:extLst xmlns:a="http://schemas.openxmlformats.org/drawingml/2006/main">
              <a:ext uri="{FF2B5EF4-FFF2-40B4-BE49-F238E27FC236}">
                <a16:creationId xmlns:a16="http://schemas.microsoft.com/office/drawing/2014/main" id="{D870A930-65FC-40C7-8E3E-34E26361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2104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A commercial hook.</a:t>
            </a:r>
          </a:p>
          <a:p xmlns:a="http://schemas.openxmlformats.org/drawingml/2006/main">
            <a:pPr>
              <a:defRPr sz="3075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An emotional reckoning.</a:t>
            </a:r>
          </a:p>
        </p:txBody>
      </p:sp>
      <p:sp>
        <p:nvSpPr>
          <p:cNvPr id="5" name="Two Black women drive the suspense and the fa">
            <a:extLst xmlns:a="http://schemas.openxmlformats.org/drawingml/2006/main">
              <a:ext uri="{FF2B5EF4-FFF2-40B4-BE49-F238E27FC236}">
                <a16:creationId xmlns:a16="http://schemas.microsoft.com/office/drawing/2014/main" id="{E4B98F6E-E8F3-4A77-B240-6A768C96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708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Two Black women drive the suspense and the family drama.</a:t>
            </a:r>
          </a:p>
        </p:txBody>
      </p:sp>
      <p:sp>
        <p:nvSpPr>
          <p:cNvPr id="6" name="An instantly legible hook: the assistant know">
            <a:extLst xmlns:a="http://schemas.openxmlformats.org/drawingml/2006/main">
              <a:ext uri="{FF2B5EF4-FFF2-40B4-BE49-F238E27FC236}">
                <a16:creationId xmlns:a16="http://schemas.microsoft.com/office/drawing/2014/main" id="{02FB0E20-6A00-438E-A853-E1FFE0BD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708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An instantly legible hook: the assistant knows far too much.</a:t>
            </a:r>
          </a:p>
        </p:txBody>
      </p:sp>
      <p:sp>
        <p:nvSpPr>
          <p:cNvPr id="7" name="Atlanta fashion supplies aspiration and a dis">
            <a:extLst xmlns:a="http://schemas.openxmlformats.org/drawingml/2006/main">
              <a:ext uri="{FF2B5EF4-FFF2-40B4-BE49-F238E27FC236}">
                <a16:creationId xmlns:a16="http://schemas.microsoft.com/office/drawing/2014/main" id="{9B1079C5-5595-4041-A8AA-B71DA303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708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Atlanta fashion supplies aspiration and a distinct visual identity.</a:t>
            </a:r>
          </a:p>
        </p:txBody>
      </p:sp>
      <p:sp>
        <p:nvSpPr>
          <p:cNvPr id="8" name="Offices and homes anchor the story, with a sh">
            <a:extLst xmlns:a="http://schemas.openxmlformats.org/drawingml/2006/main">
              <a:ext uri="{FF2B5EF4-FFF2-40B4-BE49-F238E27FC236}">
                <a16:creationId xmlns:a16="http://schemas.microsoft.com/office/drawing/2014/main" id="{776C62E8-CD12-4D7A-9BCF-60503905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08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Offices and homes anchor the story, with a showcase as its event set piece.</a:t>
            </a:r>
          </a:p>
        </p:txBody>
      </p:sp>
      <p:sp>
        <p:nvSpPr>
          <p:cNvPr id="9" name="PROPOSED PRIMARY LANE: BET+ / BET STUDIOS">
            <a:extLst xmlns:a="http://schemas.openxmlformats.org/drawingml/2006/main">
              <a:ext uri="{FF2B5EF4-FFF2-40B4-BE49-F238E27FC236}">
                <a16:creationId xmlns:a16="http://schemas.microsoft.com/office/drawing/2014/main" id="{4BF05EA7-C41F-4E73-937F-8EDD7F83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CD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6CDD9"/>
                </a:solidFill>
                <a:latin typeface="Arial"/>
                <a:ea typeface="Arial"/>
                <a:cs typeface="Arial"/>
              </a:rPr>
              <a:t>PROPOSED PRIMARY LANE: BET+ / BET STUDIOS</a:t>
            </a:r>
          </a:p>
        </p:txBody>
      </p:sp>
      <p:sp>
        <p:nvSpPr>
          <p:cNvPr id="10" name="Also explore Lifetime, TV One, ALLBLK and Tub">
            <a:extLst xmlns:a="http://schemas.openxmlformats.org/drawingml/2006/main">
              <a:ext uri="{FF2B5EF4-FFF2-40B4-BE49-F238E27FC236}">
                <a16:creationId xmlns:a16="http://schemas.microsoft.com/office/drawing/2014/main" id="{961B142E-2233-4C59-A68D-8F307BE1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719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Also explore Lifetime, TV One, ALLBLK and Tubi.</a:t>
            </a:r>
          </a:p>
          <a:p xmlns:a="http://schemas.openxmlformats.org/drawingml/2006/main">
            <a:pPr>
              <a:defRPr sz="15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Positioning targets, subject to packaging and buyer interest.</a:t>
            </a:r>
          </a:p>
        </p:txBody>
      </p:sp>
    </p:spTree>
    <p:extLst>
      <p:ext uri="{BB962C8B-B14F-4D97-AF65-F5344CB8AC3E}">
        <p14:creationId xmlns:p14="http://schemas.microsoft.com/office/powerpoint/2010/main" val="17930365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3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12">
            <a:extLst xmlns:a="http://schemas.openxmlformats.org/drawingml/2006/main">
              <a:ext uri="{FF2B5EF4-FFF2-40B4-BE49-F238E27FC236}">
                <a16:creationId xmlns:a16="http://schemas.microsoft.com/office/drawing/2014/main" id="{B8C24F4E-8473-4916-8EFE-ABA2DF5B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Deliverables &amp; next steps">
            <a:extLst xmlns:a="http://schemas.openxmlformats.org/drawingml/2006/main">
              <a:ext uri="{FF2B5EF4-FFF2-40B4-BE49-F238E27FC236}">
                <a16:creationId xmlns:a16="http://schemas.microsoft.com/office/drawing/2014/main" id="{21698394-7A65-4F3F-832A-0C110E4C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Deliverables &amp; next steps</a:t>
            </a:r>
          </a:p>
        </p:txBody>
      </p:sp>
      <p:sp>
        <p:nvSpPr>
          <p:cNvPr id="3" name="IN THE PACKAGE">
            <a:extLst xmlns:a="http://schemas.openxmlformats.org/drawingml/2006/main">
              <a:ext uri="{FF2B5EF4-FFF2-40B4-BE49-F238E27FC236}">
                <a16:creationId xmlns:a16="http://schemas.microsoft.com/office/drawing/2014/main" id="{A36D4A2A-3480-4ED2-90E1-1ED48AB7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IN THE PACKAGE</a:t>
            </a:r>
          </a:p>
        </p:txBody>
      </p:sp>
      <p:sp>
        <p:nvSpPr>
          <p:cNvPr id="4" name="Completed revised feature screenplay&#10;Logline ">
            <a:extLst xmlns:a="http://schemas.openxmlformats.org/drawingml/2006/main">
              <a:ext uri="{FF2B5EF4-FFF2-40B4-BE49-F238E27FC236}">
                <a16:creationId xmlns:a16="http://schemas.microsoft.com/office/drawing/2014/main" id="{6514C82E-298E-4AC4-A07C-84E4BC6C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953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Completed revised feature screenplay</a:t>
            </a:r>
          </a:p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Logline and plot summary</a:t>
            </a:r>
          </a:p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Character and casting direction</a:t>
            </a:r>
          </a:p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Editable pitch deck and visual concept</a:t>
            </a:r>
          </a:p>
        </p:txBody>
      </p:sp>
      <p:sp>
        <p:nvSpPr>
          <p:cNvPr id="5" name="BUILD NEXT">
            <a:extLst xmlns:a="http://schemas.openxmlformats.org/drawingml/2006/main">
              <a:ext uri="{FF2B5EF4-FFF2-40B4-BE49-F238E27FC236}">
                <a16:creationId xmlns:a16="http://schemas.microsoft.com/office/drawing/2014/main" id="{3130B0AD-9C29-485A-913A-D0943632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2402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B60"/>
                </a:solidFill>
                <a:latin typeface="Arial"/>
                <a:ea typeface="Arial"/>
                <a:cs typeface="Arial"/>
              </a:rPr>
              <a:t>BUILD NEXT</a:t>
            </a:r>
          </a:p>
        </p:txBody>
      </p:sp>
      <p:sp>
        <p:nvSpPr>
          <p:cNvPr id="6" name="Final continuity and thriller-logic polish&#10;Bu">
            <a:extLst xmlns:a="http://schemas.openxmlformats.org/drawingml/2006/main">
              <a:ext uri="{FF2B5EF4-FFF2-40B4-BE49-F238E27FC236}">
                <a16:creationId xmlns:a16="http://schemas.microsoft.com/office/drawing/2014/main" id="{2798D8FD-2490-4411-95FB-82F411B9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511492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Final continuity and thriller-logic polish</a:t>
            </a:r>
          </a:p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Buyer-specific one-page sell sheet</a:t>
            </a:r>
          </a:p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Production breakdown and budget</a:t>
            </a:r>
          </a:p>
          <a:p xmlns:a="http://schemas.openxmlformats.org/drawingml/2006/main">
            <a:pPr>
              <a:defRPr sz="2100" b="0">
                <a:solidFill>
                  <a:srgbClr val="F4EF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FE3"/>
                </a:solidFill>
                <a:latin typeface="Arial"/>
                <a:ea typeface="Arial"/>
                <a:cs typeface="Arial"/>
              </a:rPr>
              <a:t>Director outreach and cast packaging</a:t>
            </a:r>
          </a:p>
        </p:txBody>
      </p:sp>
      <p:sp>
        <p:nvSpPr>
          <p:cNvPr id="7" name="THE PERFECT ASSISTANT">
            <a:extLst xmlns:a="http://schemas.openxmlformats.org/drawingml/2006/main">
              <a:ext uri="{FF2B5EF4-FFF2-40B4-BE49-F238E27FC236}">
                <a16:creationId xmlns:a16="http://schemas.microsoft.com/office/drawing/2014/main" id="{AAE37C79-633F-44F0-B9AE-EA6DC88D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EFE3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4EFE3"/>
                </a:solidFill>
                <a:latin typeface="Georgia"/>
                <a:ea typeface="Georgia"/>
                <a:cs typeface="Georgia"/>
              </a:rPr>
              <a:t>THE PERFECT ASSISTANT</a:t>
            </a:r>
          </a:p>
        </p:txBody>
      </p:sp>
      <p:sp>
        <p:nvSpPr>
          <p:cNvPr id="8" name="She knows exactly what you need. She also kno">
            <a:extLst xmlns:a="http://schemas.openxmlformats.org/drawingml/2006/main">
              <a:ext uri="{FF2B5EF4-FFF2-40B4-BE49-F238E27FC236}">
                <a16:creationId xmlns:a16="http://schemas.microsoft.com/office/drawing/2014/main" id="{AAFEBA4C-17E8-42CF-9E6A-537E6465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89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9B60"/>
                </a:solidFill>
                <a:latin typeface="Arial"/>
                <a:ea typeface="Arial"/>
                <a:cs typeface="Arial"/>
              </a:rPr>
              <a:t>She knows exactly what you need. She also knows what your family buried.</a:t>
            </a:r>
          </a:p>
        </p:txBody>
      </p:sp>
    </p:spTree>
    <p:extLst>
      <p:ext uri="{BB962C8B-B14F-4D97-AF65-F5344CB8AC3E}">
        <p14:creationId xmlns:p14="http://schemas.microsoft.com/office/powerpoint/2010/main" val="252150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2026-10-05T16:06:15.4760000Z</dcterms:created>
  <dcterms:modified xsi:type="dcterms:W3CDTF">2026-10-05T16:06:15.4760000Z</dcterms:modified>
</coreProperties>
</file>