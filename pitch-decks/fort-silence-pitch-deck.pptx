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art is original generated concept art. Story source: FORT SILENCE Second Draft by Kelly R. Tenney, October 1,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1B"/>
        </a:solidFill>
      </p:bgPr>
    </p:bg>
    <p:spTree>
      <p:nvGrpSpPr>
        <p:cNvPr id="1" name=""/>
        <p:cNvGrpSpPr/>
        <p:nvPr/>
      </p:nvGrpSpPr>
      <p:grpSpPr>
        <a:xfrm>
          <a:off x="0" y="0"/>
          <a:ext cx="0" cy="0"/>
          <a:chOff x="0" y="0"/>
          <a:chExt cx="0" cy="0"/>
        </a:xfrm>
      </p:grpSpPr>
      <p:pic>
        <p:nvPicPr>
          <p:cNvPr id="2" name="Image 0" descr="/workspace/scratch/b68b451fa11f/generated_images/exec-0ac7ea1d-b269-40fd-bb60-3753d3f5561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04088" y="6281928"/>
            <a:ext cx="10789920" cy="292608"/>
          </a:xfrm>
          <a:prstGeom prst="rect">
            <a:avLst/>
          </a:prstGeom>
          <a:noFill/>
          <a:ln/>
        </p:spPr>
        <p:txBody>
          <a:bodyPr wrap="square" lIns="0" tIns="0" rIns="0" bIns="0" rtlCol="0" anchor="ctr">
            <a:normAutofit/>
          </a:bodyPr>
          <a:lstStyle/>
          <a:p>
            <a:pPr indent="0" marL="0">
              <a:buNone/>
            </a:pPr>
            <a:r>
              <a:rPr lang="en-US" sz="1200" b="1" spc="150" kern="0" dirty="0">
                <a:solidFill>
                  <a:srgbClr val="F3EDE1"/>
                </a:solidFill>
                <a:latin typeface="Aptos Display" pitchFamily="34" charset="0"/>
                <a:ea typeface="Aptos Display" pitchFamily="34" charset="-122"/>
                <a:cs typeface="Aptos Display" pitchFamily="34" charset="-120"/>
              </a:rPr>
              <a:t>FEATURE FILM  /  MILITARY INVESTIGATIVE THRILLER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1B"/>
        </a:solidFill>
      </p:bgPr>
    </p:bg>
    <p:spTree>
      <p:nvGrpSpPr>
        <p:cNvPr id="1" name=""/>
        <p:cNvGrpSpPr/>
        <p:nvPr/>
      </p:nvGrpSpPr>
      <p:grpSpPr>
        <a:xfrm>
          <a:off x="0" y="0"/>
          <a:ext cx="0" cy="0"/>
          <a:chOff x="0" y="0"/>
          <a:chExt cx="0" cy="0"/>
        </a:xfrm>
      </p:grpSpPr>
      <p:pic>
        <p:nvPicPr>
          <p:cNvPr id="2" name="Image 0" descr="/workspace/scratch/b68b451fa11f/generated_images/exec-eb7a5d68-4ed6-4d93-991b-c948dacdf49a.png">    </p:cNvPr>
          <p:cNvPicPr>
            <a:picLocks noChangeAspect="1"/>
          </p:cNvPicPr>
          <p:nvPr/>
        </p:nvPicPr>
        <p:blipFill>
          <a:blip r:embed="rId1"/>
          <a:stretch>
            <a:fillRect/>
          </a:stretch>
        </p:blipFill>
        <p:spPr>
          <a:xfrm>
            <a:off x="6629400" y="0"/>
            <a:ext cx="5562295" cy="6858000"/>
          </a:xfrm>
          <a:prstGeom prst="rect">
            <a:avLst/>
          </a:prstGeom>
        </p:spPr>
      </p:pic>
      <p:sp>
        <p:nvSpPr>
          <p:cNvPr id="3"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Logline</a:t>
            </a:r>
            <a:endParaRPr lang="en-US" sz="3200" dirty="0"/>
          </a:p>
        </p:txBody>
      </p:sp>
      <p:sp>
        <p:nvSpPr>
          <p:cNvPr id="4" name="Text 1"/>
          <p:cNvSpPr/>
          <p:nvPr/>
        </p:nvSpPr>
        <p:spPr>
          <a:xfrm>
            <a:off x="658368" y="1691640"/>
            <a:ext cx="5486400" cy="3520440"/>
          </a:xfrm>
          <a:prstGeom prst="rect">
            <a:avLst/>
          </a:prstGeom>
          <a:noFill/>
          <a:ln/>
        </p:spPr>
        <p:txBody>
          <a:bodyPr wrap="square" lIns="0" tIns="0" rIns="0" bIns="0" rtlCol="0" anchor="t">
            <a:normAutofit/>
          </a:bodyPr>
          <a:lstStyle/>
          <a:p>
            <a:pPr indent="0" marL="0">
              <a:buNone/>
            </a:pPr>
            <a:r>
              <a:rPr lang="en-US" sz="2500" dirty="0">
                <a:solidFill>
                  <a:srgbClr val="F3EDE1"/>
                </a:solidFill>
                <a:latin typeface="Aptos" pitchFamily="34" charset="0"/>
                <a:ea typeface="Aptos" pitchFamily="34" charset="-122"/>
                <a:cs typeface="Aptos" pitchFamily="34" charset="-120"/>
              </a:rPr>
              <a:t>When a young soldier dies at Fort Stewart, CID agent Jordan Hayes finds the same hidden experiment that killed her father twenty years earlier. To expose it, she must defy the commander who raised her before another private becomes a closed case.</a:t>
            </a:r>
            <a:endParaRPr lang="en-US" sz="2500" dirty="0"/>
          </a:p>
        </p:txBody>
      </p:sp>
      <p:sp>
        <p:nvSpPr>
          <p:cNvPr id="5" name="Text 2"/>
          <p:cNvSpPr/>
          <p:nvPr/>
        </p:nvSpPr>
        <p:spPr>
          <a:xfrm>
            <a:off x="658368" y="5596128"/>
            <a:ext cx="5394960" cy="548640"/>
          </a:xfrm>
          <a:prstGeom prst="rect">
            <a:avLst/>
          </a:prstGeom>
          <a:noFill/>
          <a:ln/>
        </p:spPr>
        <p:txBody>
          <a:bodyPr wrap="square" lIns="0" tIns="0" rIns="0" bIns="0" rtlCol="0" anchor="ctr">
            <a:normAutofit/>
          </a:bodyPr>
          <a:lstStyle/>
          <a:p>
            <a:pPr indent="0" marL="0">
              <a:buNone/>
            </a:pPr>
            <a:r>
              <a:rPr lang="en-US" sz="1700" b="1" dirty="0">
                <a:solidFill>
                  <a:srgbClr val="B6A27F"/>
                </a:solidFill>
                <a:latin typeface="Aptos Display" pitchFamily="34" charset="0"/>
                <a:ea typeface="Aptos Display" pitchFamily="34" charset="-122"/>
                <a:cs typeface="Aptos Display" pitchFamily="34" charset="-120"/>
              </a:rPr>
              <a:t>A death investigation becomes a daughter’s reckoning.</a:t>
            </a:r>
            <a:endParaRPr lang="en-US" sz="1700" dirty="0"/>
          </a:p>
        </p:txBody>
      </p:sp>
      <p:sp>
        <p:nvSpPr>
          <p:cNvPr id="6" name="Text 3"/>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7" name="Text 4"/>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The hook</a:t>
            </a:r>
            <a:endParaRPr lang="en-US" sz="3200" dirty="0"/>
          </a:p>
        </p:txBody>
      </p:sp>
      <p:sp>
        <p:nvSpPr>
          <p:cNvPr id="3" name="Text 1"/>
          <p:cNvSpPr/>
          <p:nvPr/>
        </p:nvSpPr>
        <p:spPr>
          <a:xfrm>
            <a:off x="658368" y="1234440"/>
            <a:ext cx="10515600" cy="292608"/>
          </a:xfrm>
          <a:prstGeom prst="rect">
            <a:avLst/>
          </a:prstGeom>
          <a:noFill/>
          <a:ln/>
        </p:spPr>
        <p:txBody>
          <a:bodyPr wrap="square" lIns="0" tIns="0" rIns="0" bIns="0" rtlCol="0" anchor="ctr">
            <a:normAutofit/>
          </a:bodyPr>
          <a:lstStyle/>
          <a:p>
            <a:pPr indent="0" marL="0">
              <a:buNone/>
            </a:pPr>
            <a:r>
              <a:rPr lang="en-US" sz="1100" b="1" spc="200" kern="0" dirty="0">
                <a:solidFill>
                  <a:srgbClr val="B83B37"/>
                </a:solidFill>
                <a:latin typeface="Aptos Display" pitchFamily="34" charset="0"/>
                <a:ea typeface="Aptos Display" pitchFamily="34" charset="-122"/>
                <a:cs typeface="Aptos Display" pitchFamily="34" charset="-120"/>
              </a:rPr>
              <a:t>ONE CASE. TWO GENERATIONS. THE SAME BUILDING.</a:t>
            </a:r>
            <a:endParaRPr lang="en-US" sz="1100" dirty="0"/>
          </a:p>
        </p:txBody>
      </p:sp>
      <p:pic>
        <p:nvPicPr>
          <p:cNvPr id="4" name="Image 0" descr="/workspace/scratch/b68b451fa11f/generated_images/exec-38b3b46b-a59d-44af-a286-0d0d8ea57de5.png">    </p:cNvPr>
          <p:cNvPicPr>
            <a:picLocks noChangeAspect="1"/>
          </p:cNvPicPr>
          <p:nvPr/>
        </p:nvPicPr>
        <p:blipFill>
          <a:blip r:embed="rId1"/>
          <a:stretch>
            <a:fillRect/>
          </a:stretch>
        </p:blipFill>
        <p:spPr>
          <a:xfrm>
            <a:off x="6903720" y="1618488"/>
            <a:ext cx="4846320" cy="4517136"/>
          </a:xfrm>
          <a:prstGeom prst="rect">
            <a:avLst/>
          </a:prstGeom>
        </p:spPr>
      </p:pic>
      <p:sp>
        <p:nvSpPr>
          <p:cNvPr id="5" name="Text 2"/>
          <p:cNvSpPr/>
          <p:nvPr/>
        </p:nvSpPr>
        <p:spPr>
          <a:xfrm>
            <a:off x="658368" y="1783080"/>
            <a:ext cx="5715000" cy="1325880"/>
          </a:xfrm>
          <a:prstGeom prst="rect">
            <a:avLst/>
          </a:prstGeom>
          <a:noFill/>
          <a:ln/>
        </p:spPr>
        <p:txBody>
          <a:bodyPr wrap="square" lIns="0" tIns="0" rIns="0" bIns="0" rtlCol="0" anchor="t">
            <a:normAutofit/>
          </a:bodyPr>
          <a:lstStyle/>
          <a:p>
            <a:pPr indent="0" marL="0">
              <a:buNone/>
            </a:pPr>
            <a:r>
              <a:rPr lang="en-US" sz="2900" dirty="0">
                <a:solidFill>
                  <a:srgbClr val="F3EDE1"/>
                </a:solidFill>
                <a:latin typeface="Aptos" pitchFamily="34" charset="0"/>
                <a:ea typeface="Aptos" pitchFamily="34" charset="-122"/>
                <a:cs typeface="Aptos" pitchFamily="34" charset="-120"/>
              </a:rPr>
              <a:t>The woman who taught Jordan to seek the truth has spent twenty years hiding it.</a:t>
            </a:r>
            <a:endParaRPr lang="en-US" sz="2900" dirty="0"/>
          </a:p>
        </p:txBody>
      </p:sp>
      <p:sp>
        <p:nvSpPr>
          <p:cNvPr id="6" name="Text 3"/>
          <p:cNvSpPr/>
          <p:nvPr/>
        </p:nvSpPr>
        <p:spPr>
          <a:xfrm>
            <a:off x="658368" y="3703320"/>
            <a:ext cx="5440680" cy="1463040"/>
          </a:xfrm>
          <a:prstGeom prst="rect">
            <a:avLst/>
          </a:prstGeom>
          <a:noFill/>
          <a:ln/>
        </p:spPr>
        <p:txBody>
          <a:bodyPr wrap="square" lIns="0" tIns="0" rIns="0" bIns="0" rtlCol="0" anchor="t">
            <a:normAutofit/>
          </a:bodyPr>
          <a:lstStyle/>
          <a:p>
            <a:pPr indent="0" marL="0">
              <a:buNone/>
            </a:pPr>
            <a:r>
              <a:rPr lang="en-US" sz="1800" dirty="0">
                <a:solidFill>
                  <a:srgbClr val="B7B8B2"/>
                </a:solidFill>
                <a:latin typeface="Aptos" pitchFamily="34" charset="0"/>
                <a:ea typeface="Aptos" pitchFamily="34" charset="-122"/>
                <a:cs typeface="Aptos" pitchFamily="34" charset="-120"/>
              </a:rPr>
              <a:t>A modern resilience program leaves a trail of exhausted soldiers and altered death reports. Every answer draws Jordan closer to the commander she calls family.</a:t>
            </a:r>
            <a:endParaRPr lang="en-US" sz="1800" dirty="0"/>
          </a:p>
        </p:txBody>
      </p:sp>
      <p:sp>
        <p:nvSpPr>
          <p:cNvPr id="7" name="Text 4"/>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8" name="Text 5"/>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Tone and comparables</a:t>
            </a:r>
            <a:endParaRPr lang="en-US" sz="3200" dirty="0"/>
          </a:p>
        </p:txBody>
      </p:sp>
      <p:sp>
        <p:nvSpPr>
          <p:cNvPr id="3" name="Text 1"/>
          <p:cNvSpPr/>
          <p:nvPr/>
        </p:nvSpPr>
        <p:spPr>
          <a:xfrm>
            <a:off x="658368" y="1234440"/>
            <a:ext cx="10515600" cy="292608"/>
          </a:xfrm>
          <a:prstGeom prst="rect">
            <a:avLst/>
          </a:prstGeom>
          <a:noFill/>
          <a:ln/>
        </p:spPr>
        <p:txBody>
          <a:bodyPr wrap="square" lIns="0" tIns="0" rIns="0" bIns="0" rtlCol="0" anchor="ctr">
            <a:normAutofit/>
          </a:bodyPr>
          <a:lstStyle/>
          <a:p>
            <a:pPr indent="0" marL="0">
              <a:buNone/>
            </a:pPr>
            <a:r>
              <a:rPr lang="en-US" sz="1100" b="1" spc="200" kern="0" dirty="0">
                <a:solidFill>
                  <a:srgbClr val="B83B37"/>
                </a:solidFill>
                <a:latin typeface="Aptos Display" pitchFamily="34" charset="0"/>
                <a:ea typeface="Aptos Display" pitchFamily="34" charset="-122"/>
                <a:cs typeface="Aptos Display" pitchFamily="34" charset="-120"/>
              </a:rPr>
              <a:t>INVESTIGATIVE TENSION  /  INTIMATE BETRAYAL</a:t>
            </a:r>
            <a:endParaRPr lang="en-US" sz="1100" dirty="0"/>
          </a:p>
        </p:txBody>
      </p:sp>
      <p:sp>
        <p:nvSpPr>
          <p:cNvPr id="4" name="Text 2"/>
          <p:cNvSpPr/>
          <p:nvPr/>
        </p:nvSpPr>
        <p:spPr>
          <a:xfrm>
            <a:off x="658368" y="1508760"/>
            <a:ext cx="10881360" cy="502920"/>
          </a:xfrm>
          <a:prstGeom prst="rect">
            <a:avLst/>
          </a:prstGeom>
          <a:noFill/>
          <a:ln/>
        </p:spPr>
        <p:txBody>
          <a:bodyPr wrap="square" lIns="0" tIns="0" rIns="0" bIns="0" rtlCol="0" anchor="ctr">
            <a:normAutofit/>
          </a:bodyPr>
          <a:lstStyle/>
          <a:p>
            <a:pPr indent="0" marL="0">
              <a:buNone/>
            </a:pPr>
            <a:r>
              <a:rPr lang="en-US" sz="2200" b="1" dirty="0">
                <a:solidFill>
                  <a:srgbClr val="B6A27F"/>
                </a:solidFill>
                <a:latin typeface="Aptos Display" pitchFamily="34" charset="0"/>
                <a:ea typeface="Aptos Display" pitchFamily="34" charset="-122"/>
                <a:cs typeface="Aptos Display" pitchFamily="34" charset="-120"/>
              </a:rPr>
              <a:t>Grounded. Unsettling. Emotionally direct.</a:t>
            </a:r>
            <a:endParaRPr lang="en-US" sz="2200" dirty="0"/>
          </a:p>
        </p:txBody>
      </p:sp>
      <p:sp>
        <p:nvSpPr>
          <p:cNvPr id="5" name="Text 3"/>
          <p:cNvSpPr/>
          <p:nvPr/>
        </p:nvSpPr>
        <p:spPr>
          <a:xfrm>
            <a:off x="676656" y="2331720"/>
            <a:ext cx="2834640" cy="411480"/>
          </a:xfrm>
          <a:prstGeom prst="rect">
            <a:avLst/>
          </a:prstGeom>
          <a:noFill/>
          <a:ln/>
        </p:spPr>
        <p:txBody>
          <a:bodyPr wrap="square" lIns="0" tIns="0" rIns="0" bIns="0" rtlCol="0" anchor="ctr">
            <a:normAutofit/>
          </a:bodyPr>
          <a:lstStyle/>
          <a:p>
            <a:pPr indent="0" marL="0">
              <a:buNone/>
            </a:pPr>
            <a:r>
              <a:rPr lang="en-US" sz="1900" b="1" dirty="0">
                <a:solidFill>
                  <a:srgbClr val="F3EDE1"/>
                </a:solidFill>
                <a:latin typeface="Aptos Display" pitchFamily="34" charset="0"/>
                <a:ea typeface="Aptos Display" pitchFamily="34" charset="-122"/>
                <a:cs typeface="Aptos Display" pitchFamily="34" charset="-120"/>
              </a:rPr>
              <a:t>The Report</a:t>
            </a:r>
            <a:endParaRPr lang="en-US" sz="1900" dirty="0"/>
          </a:p>
        </p:txBody>
      </p:sp>
      <p:sp>
        <p:nvSpPr>
          <p:cNvPr id="6" name="Text 4"/>
          <p:cNvSpPr/>
          <p:nvPr/>
        </p:nvSpPr>
        <p:spPr>
          <a:xfrm>
            <a:off x="3520440" y="2331720"/>
            <a:ext cx="8001000" cy="457200"/>
          </a:xfrm>
          <a:prstGeom prst="rect">
            <a:avLst/>
          </a:prstGeom>
          <a:noFill/>
          <a:ln/>
        </p:spPr>
        <p:txBody>
          <a:bodyPr wrap="square" lIns="0" tIns="0" rIns="0" bIns="0" rtlCol="0" anchor="ctr">
            <a:normAutofit/>
          </a:bodyPr>
          <a:lstStyle/>
          <a:p>
            <a:pPr indent="0" marL="0">
              <a:buNone/>
            </a:pPr>
            <a:r>
              <a:rPr lang="en-US" sz="1700" dirty="0">
                <a:solidFill>
                  <a:srgbClr val="B7B8B2"/>
                </a:solidFill>
                <a:latin typeface="Aptos" pitchFamily="34" charset="0"/>
                <a:ea typeface="Aptos" pitchFamily="34" charset="-122"/>
                <a:cs typeface="Aptos" pitchFamily="34" charset="-120"/>
              </a:rPr>
              <a:t>The procedural pursuit of an institutional truth.</a:t>
            </a:r>
            <a:endParaRPr lang="en-US" sz="1700" dirty="0"/>
          </a:p>
        </p:txBody>
      </p:sp>
      <p:sp>
        <p:nvSpPr>
          <p:cNvPr id="7" name="Text 5"/>
          <p:cNvSpPr/>
          <p:nvPr/>
        </p:nvSpPr>
        <p:spPr>
          <a:xfrm>
            <a:off x="676656" y="3163824"/>
            <a:ext cx="2834640" cy="411480"/>
          </a:xfrm>
          <a:prstGeom prst="rect">
            <a:avLst/>
          </a:prstGeom>
          <a:noFill/>
          <a:ln/>
        </p:spPr>
        <p:txBody>
          <a:bodyPr wrap="square" lIns="0" tIns="0" rIns="0" bIns="0" rtlCol="0" anchor="ctr">
            <a:normAutofit/>
          </a:bodyPr>
          <a:lstStyle/>
          <a:p>
            <a:pPr indent="0" marL="0">
              <a:buNone/>
            </a:pPr>
            <a:r>
              <a:rPr lang="en-US" sz="1900" b="1" dirty="0">
                <a:solidFill>
                  <a:srgbClr val="F3EDE1"/>
                </a:solidFill>
                <a:latin typeface="Aptos Display" pitchFamily="34" charset="0"/>
                <a:ea typeface="Aptos Display" pitchFamily="34" charset="-122"/>
                <a:cs typeface="Aptos Display" pitchFamily="34" charset="-120"/>
              </a:rPr>
              <a:t>Dark Waters</a:t>
            </a:r>
            <a:endParaRPr lang="en-US" sz="1900" dirty="0"/>
          </a:p>
        </p:txBody>
      </p:sp>
      <p:sp>
        <p:nvSpPr>
          <p:cNvPr id="8" name="Text 6"/>
          <p:cNvSpPr/>
          <p:nvPr/>
        </p:nvSpPr>
        <p:spPr>
          <a:xfrm>
            <a:off x="3520440" y="3163824"/>
            <a:ext cx="8001000" cy="457200"/>
          </a:xfrm>
          <a:prstGeom prst="rect">
            <a:avLst/>
          </a:prstGeom>
          <a:noFill/>
          <a:ln/>
        </p:spPr>
        <p:txBody>
          <a:bodyPr wrap="square" lIns="0" tIns="0" rIns="0" bIns="0" rtlCol="0" anchor="ctr">
            <a:normAutofit/>
          </a:bodyPr>
          <a:lstStyle/>
          <a:p>
            <a:pPr indent="0" marL="0">
              <a:buNone/>
            </a:pPr>
            <a:r>
              <a:rPr lang="en-US" sz="1700" dirty="0">
                <a:solidFill>
                  <a:srgbClr val="B7B8B2"/>
                </a:solidFill>
                <a:latin typeface="Aptos" pitchFamily="34" charset="0"/>
                <a:ea typeface="Aptos" pitchFamily="34" charset="-122"/>
                <a:cs typeface="Aptos" pitchFamily="34" charset="-120"/>
              </a:rPr>
              <a:t>One investigator follows a pattern others dismiss.</a:t>
            </a:r>
            <a:endParaRPr lang="en-US" sz="1700" dirty="0"/>
          </a:p>
        </p:txBody>
      </p:sp>
      <p:sp>
        <p:nvSpPr>
          <p:cNvPr id="9" name="Text 7"/>
          <p:cNvSpPr/>
          <p:nvPr/>
        </p:nvSpPr>
        <p:spPr>
          <a:xfrm>
            <a:off x="676656" y="3995928"/>
            <a:ext cx="2834640" cy="411480"/>
          </a:xfrm>
          <a:prstGeom prst="rect">
            <a:avLst/>
          </a:prstGeom>
          <a:noFill/>
          <a:ln/>
        </p:spPr>
        <p:txBody>
          <a:bodyPr wrap="square" lIns="0" tIns="0" rIns="0" bIns="0" rtlCol="0" anchor="ctr">
            <a:normAutofit/>
          </a:bodyPr>
          <a:lstStyle/>
          <a:p>
            <a:pPr indent="0" marL="0">
              <a:buNone/>
            </a:pPr>
            <a:r>
              <a:rPr lang="en-US" sz="1900" b="1" dirty="0">
                <a:solidFill>
                  <a:srgbClr val="F3EDE1"/>
                </a:solidFill>
                <a:latin typeface="Aptos Display" pitchFamily="34" charset="0"/>
                <a:ea typeface="Aptos Display" pitchFamily="34" charset="-122"/>
                <a:cs typeface="Aptos Display" pitchFamily="34" charset="-120"/>
              </a:rPr>
              <a:t>A Few Good Men</a:t>
            </a:r>
            <a:endParaRPr lang="en-US" sz="1900" dirty="0"/>
          </a:p>
        </p:txBody>
      </p:sp>
      <p:sp>
        <p:nvSpPr>
          <p:cNvPr id="10" name="Text 8"/>
          <p:cNvSpPr/>
          <p:nvPr/>
        </p:nvSpPr>
        <p:spPr>
          <a:xfrm>
            <a:off x="3520440" y="3995928"/>
            <a:ext cx="8001000" cy="457200"/>
          </a:xfrm>
          <a:prstGeom prst="rect">
            <a:avLst/>
          </a:prstGeom>
          <a:noFill/>
          <a:ln/>
        </p:spPr>
        <p:txBody>
          <a:bodyPr wrap="square" lIns="0" tIns="0" rIns="0" bIns="0" rtlCol="0" anchor="ctr">
            <a:normAutofit/>
          </a:bodyPr>
          <a:lstStyle/>
          <a:p>
            <a:pPr indent="0" marL="0">
              <a:buNone/>
            </a:pPr>
            <a:r>
              <a:rPr lang="en-US" sz="1700" dirty="0">
                <a:solidFill>
                  <a:srgbClr val="B7B8B2"/>
                </a:solidFill>
                <a:latin typeface="Aptos" pitchFamily="34" charset="0"/>
                <a:ea typeface="Aptos" pitchFamily="34" charset="-122"/>
                <a:cs typeface="Aptos" pitchFamily="34" charset="-120"/>
              </a:rPr>
              <a:t>Military authority and moral responsibility collide.</a:t>
            </a:r>
            <a:endParaRPr lang="en-US" sz="1700" dirty="0"/>
          </a:p>
        </p:txBody>
      </p:sp>
      <p:sp>
        <p:nvSpPr>
          <p:cNvPr id="11" name="Text 9"/>
          <p:cNvSpPr/>
          <p:nvPr/>
        </p:nvSpPr>
        <p:spPr>
          <a:xfrm>
            <a:off x="676656" y="4828032"/>
            <a:ext cx="2834640" cy="411480"/>
          </a:xfrm>
          <a:prstGeom prst="rect">
            <a:avLst/>
          </a:prstGeom>
          <a:noFill/>
          <a:ln/>
        </p:spPr>
        <p:txBody>
          <a:bodyPr wrap="square" lIns="0" tIns="0" rIns="0" bIns="0" rtlCol="0" anchor="ctr">
            <a:normAutofit/>
          </a:bodyPr>
          <a:lstStyle/>
          <a:p>
            <a:pPr indent="0" marL="0">
              <a:buNone/>
            </a:pPr>
            <a:r>
              <a:rPr lang="en-US" sz="1900" b="1" dirty="0">
                <a:solidFill>
                  <a:srgbClr val="F3EDE1"/>
                </a:solidFill>
                <a:latin typeface="Aptos Display" pitchFamily="34" charset="0"/>
                <a:ea typeface="Aptos Display" pitchFamily="34" charset="-122"/>
                <a:cs typeface="Aptos Display" pitchFamily="34" charset="-120"/>
              </a:rPr>
              <a:t>The Night Of</a:t>
            </a:r>
            <a:endParaRPr lang="en-US" sz="1900" dirty="0"/>
          </a:p>
        </p:txBody>
      </p:sp>
      <p:sp>
        <p:nvSpPr>
          <p:cNvPr id="12" name="Text 10"/>
          <p:cNvSpPr/>
          <p:nvPr/>
        </p:nvSpPr>
        <p:spPr>
          <a:xfrm>
            <a:off x="3520440" y="4828032"/>
            <a:ext cx="8001000" cy="457200"/>
          </a:xfrm>
          <a:prstGeom prst="rect">
            <a:avLst/>
          </a:prstGeom>
          <a:noFill/>
          <a:ln/>
        </p:spPr>
        <p:txBody>
          <a:bodyPr wrap="square" lIns="0" tIns="0" rIns="0" bIns="0" rtlCol="0" anchor="ctr">
            <a:normAutofit/>
          </a:bodyPr>
          <a:lstStyle/>
          <a:p>
            <a:pPr indent="0" marL="0">
              <a:buNone/>
            </a:pPr>
            <a:r>
              <a:rPr lang="en-US" sz="1700" dirty="0">
                <a:solidFill>
                  <a:srgbClr val="B7B8B2"/>
                </a:solidFill>
                <a:latin typeface="Aptos" pitchFamily="34" charset="0"/>
                <a:ea typeface="Aptos" pitchFamily="34" charset="-122"/>
                <a:cs typeface="Aptos" pitchFamily="34" charset="-120"/>
              </a:rPr>
              <a:t>The system shapes the facts people are allowed to believe.</a:t>
            </a:r>
            <a:endParaRPr lang="en-US" sz="1700" dirty="0"/>
          </a:p>
        </p:txBody>
      </p:sp>
      <p:sp>
        <p:nvSpPr>
          <p:cNvPr id="13" name="Text 11"/>
          <p:cNvSpPr/>
          <p:nvPr/>
        </p:nvSpPr>
        <p:spPr>
          <a:xfrm>
            <a:off x="658368" y="6144768"/>
            <a:ext cx="10698480" cy="237744"/>
          </a:xfrm>
          <a:prstGeom prst="rect">
            <a:avLst/>
          </a:prstGeom>
          <a:noFill/>
          <a:ln/>
        </p:spPr>
        <p:txBody>
          <a:bodyPr wrap="square" lIns="0" tIns="0" rIns="0" bIns="0" rtlCol="0" anchor="ctr">
            <a:normAutofit/>
          </a:bodyPr>
          <a:lstStyle/>
          <a:p>
            <a:pPr indent="0" marL="0">
              <a:buNone/>
            </a:pPr>
            <a:r>
              <a:rPr lang="en-US" sz="1000" dirty="0">
                <a:solidFill>
                  <a:srgbClr val="677064"/>
                </a:solidFill>
                <a:latin typeface="Aptos" pitchFamily="34" charset="0"/>
                <a:ea typeface="Aptos" pitchFamily="34" charset="-122"/>
                <a:cs typeface="Aptos" pitchFamily="34" charset="-120"/>
              </a:rPr>
              <a:t>Comparables describe tone and dramatic approach, not financial performance.</a:t>
            </a:r>
            <a:endParaRPr lang="en-US" sz="1000" dirty="0"/>
          </a:p>
        </p:txBody>
      </p:sp>
      <p:sp>
        <p:nvSpPr>
          <p:cNvPr id="14" name="Text 12"/>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15" name="Text 13"/>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1B"/>
        </a:solidFill>
      </p:bgPr>
    </p:bg>
    <p:spTree>
      <p:nvGrpSpPr>
        <p:cNvPr id="1" name=""/>
        <p:cNvGrpSpPr/>
        <p:nvPr/>
      </p:nvGrpSpPr>
      <p:grpSpPr>
        <a:xfrm>
          <a:off x="0" y="0"/>
          <a:ext cx="0" cy="0"/>
          <a:chOff x="0" y="0"/>
          <a:chExt cx="0" cy="0"/>
        </a:xfrm>
      </p:grpSpPr>
      <p:pic>
        <p:nvPicPr>
          <p:cNvPr id="2" name="Image 0" descr="/workspace/scratch/b68b451fa11f/generated_images/exec-38b3b46b-a59d-44af-a286-0d0d8ea57de5.png">    </p:cNvPr>
          <p:cNvPicPr>
            <a:picLocks noChangeAspect="1"/>
          </p:cNvPicPr>
          <p:nvPr/>
        </p:nvPicPr>
        <p:blipFill>
          <a:blip r:embed="rId1"/>
          <a:stretch>
            <a:fillRect/>
          </a:stretch>
        </p:blipFill>
        <p:spPr>
          <a:xfrm>
            <a:off x="0" y="0"/>
            <a:ext cx="6172200" cy="6858000"/>
          </a:xfrm>
          <a:prstGeom prst="rect">
            <a:avLst/>
          </a:prstGeom>
        </p:spPr>
      </p:pic>
      <p:sp>
        <p:nvSpPr>
          <p:cNvPr id="3" name="Text 0"/>
          <p:cNvSpPr/>
          <p:nvPr/>
        </p:nvSpPr>
        <p:spPr>
          <a:xfrm>
            <a:off x="6858000" y="749808"/>
            <a:ext cx="4709160" cy="640080"/>
          </a:xfrm>
          <a:prstGeom prst="rect">
            <a:avLst/>
          </a:prstGeom>
          <a:noFill/>
          <a:ln/>
        </p:spPr>
        <p:txBody>
          <a:bodyPr wrap="square" lIns="0" tIns="0" rIns="0" bIns="0" rtlCol="0" anchor="ctr">
            <a:normAutofit/>
          </a:bodyPr>
          <a:lstStyle/>
          <a:p>
            <a:pPr indent="0" marL="0">
              <a:buNone/>
            </a:pPr>
            <a:r>
              <a:rPr lang="en-US" sz="3300" b="1" dirty="0">
                <a:solidFill>
                  <a:srgbClr val="F3EDE1"/>
                </a:solidFill>
                <a:latin typeface="Aptos Display" pitchFamily="34" charset="0"/>
                <a:ea typeface="Aptos Display" pitchFamily="34" charset="-122"/>
                <a:cs typeface="Aptos Display" pitchFamily="34" charset="-120"/>
              </a:rPr>
              <a:t>JORDAN HAYES</a:t>
            </a:r>
            <a:endParaRPr lang="en-US" sz="3300" dirty="0"/>
          </a:p>
        </p:txBody>
      </p:sp>
      <p:sp>
        <p:nvSpPr>
          <p:cNvPr id="4" name="Text 1"/>
          <p:cNvSpPr/>
          <p:nvPr/>
        </p:nvSpPr>
        <p:spPr>
          <a:xfrm>
            <a:off x="6885432" y="1481328"/>
            <a:ext cx="4754880" cy="329184"/>
          </a:xfrm>
          <a:prstGeom prst="rect">
            <a:avLst/>
          </a:prstGeom>
          <a:noFill/>
          <a:ln/>
        </p:spPr>
        <p:txBody>
          <a:bodyPr wrap="square" lIns="0" tIns="0" rIns="0" bIns="0" rtlCol="0" anchor="ctr">
            <a:normAutofit/>
          </a:bodyPr>
          <a:lstStyle/>
          <a:p>
            <a:pPr indent="0" marL="0">
              <a:buNone/>
            </a:pPr>
            <a:r>
              <a:rPr lang="en-US" sz="1200" b="1" spc="150" kern="0" dirty="0">
                <a:solidFill>
                  <a:srgbClr val="B83B37"/>
                </a:solidFill>
                <a:latin typeface="Aptos Display" pitchFamily="34" charset="0"/>
                <a:ea typeface="Aptos Display" pitchFamily="34" charset="-122"/>
                <a:cs typeface="Aptos Display" pitchFamily="34" charset="-120"/>
              </a:rPr>
              <a:t>34  /  CID SPECIAL AGENT</a:t>
            </a:r>
            <a:endParaRPr lang="en-US" sz="1200" dirty="0"/>
          </a:p>
        </p:txBody>
      </p:sp>
      <p:sp>
        <p:nvSpPr>
          <p:cNvPr id="5" name="Text 2"/>
          <p:cNvSpPr/>
          <p:nvPr/>
        </p:nvSpPr>
        <p:spPr>
          <a:xfrm>
            <a:off x="6894576" y="2148840"/>
            <a:ext cx="4389120" cy="219456"/>
          </a:xfrm>
          <a:prstGeom prst="rect">
            <a:avLst/>
          </a:prstGeom>
          <a:noFill/>
          <a:ln/>
        </p:spPr>
        <p:txBody>
          <a:bodyPr wrap="square" lIns="0" tIns="0" rIns="0" bIns="0" rtlCol="0" anchor="ctr">
            <a:normAutofit/>
          </a:bodyPr>
          <a:lstStyle/>
          <a:p>
            <a:pPr indent="0" marL="0">
              <a:buNone/>
            </a:pPr>
            <a:r>
              <a:rPr lang="en-US" sz="1100" b="1" spc="100" kern="0" dirty="0">
                <a:solidFill>
                  <a:srgbClr val="B6A27F"/>
                </a:solidFill>
                <a:latin typeface="Aptos Display" pitchFamily="34" charset="0"/>
                <a:ea typeface="Aptos Display" pitchFamily="34" charset="-122"/>
                <a:cs typeface="Aptos Display" pitchFamily="34" charset="-120"/>
              </a:rPr>
              <a:t>GOAL</a:t>
            </a:r>
            <a:endParaRPr lang="en-US" sz="1100" dirty="0"/>
          </a:p>
        </p:txBody>
      </p:sp>
      <p:sp>
        <p:nvSpPr>
          <p:cNvPr id="6" name="Text 3"/>
          <p:cNvSpPr/>
          <p:nvPr/>
        </p:nvSpPr>
        <p:spPr>
          <a:xfrm>
            <a:off x="6894576" y="2459736"/>
            <a:ext cx="4480560" cy="694944"/>
          </a:xfrm>
          <a:prstGeom prst="rect">
            <a:avLst/>
          </a:prstGeom>
          <a:noFill/>
          <a:ln/>
        </p:spPr>
        <p:txBody>
          <a:bodyPr wrap="square" lIns="0" tIns="0" rIns="0" bIns="0" rtlCol="0" anchor="t">
            <a:normAutofit/>
          </a:bodyPr>
          <a:lstStyle/>
          <a:p>
            <a:pPr indent="0" marL="0">
              <a:buNone/>
            </a:pPr>
            <a:r>
              <a:rPr lang="en-US" sz="1900" dirty="0">
                <a:solidFill>
                  <a:srgbClr val="F3EDE1"/>
                </a:solidFill>
                <a:latin typeface="Aptos" pitchFamily="34" charset="0"/>
                <a:ea typeface="Aptos" pitchFamily="34" charset="-122"/>
                <a:cs typeface="Aptos" pitchFamily="34" charset="-120"/>
              </a:rPr>
              <a:t>Find out why Tyler Vogel died.</a:t>
            </a:r>
            <a:endParaRPr lang="en-US" sz="1900" dirty="0"/>
          </a:p>
        </p:txBody>
      </p:sp>
      <p:sp>
        <p:nvSpPr>
          <p:cNvPr id="7" name="Text 4"/>
          <p:cNvSpPr/>
          <p:nvPr/>
        </p:nvSpPr>
        <p:spPr>
          <a:xfrm>
            <a:off x="6894576" y="3319272"/>
            <a:ext cx="4389120" cy="219456"/>
          </a:xfrm>
          <a:prstGeom prst="rect">
            <a:avLst/>
          </a:prstGeom>
          <a:noFill/>
          <a:ln/>
        </p:spPr>
        <p:txBody>
          <a:bodyPr wrap="square" lIns="0" tIns="0" rIns="0" bIns="0" rtlCol="0" anchor="ctr">
            <a:normAutofit/>
          </a:bodyPr>
          <a:lstStyle/>
          <a:p>
            <a:pPr indent="0" marL="0">
              <a:buNone/>
            </a:pPr>
            <a:r>
              <a:rPr lang="en-US" sz="1100" b="1" spc="100" kern="0" dirty="0">
                <a:solidFill>
                  <a:srgbClr val="B6A27F"/>
                </a:solidFill>
                <a:latin typeface="Aptos Display" pitchFamily="34" charset="0"/>
                <a:ea typeface="Aptos Display" pitchFamily="34" charset="-122"/>
                <a:cs typeface="Aptos Display" pitchFamily="34" charset="-120"/>
              </a:rPr>
              <a:t>PRESSURE</a:t>
            </a:r>
            <a:endParaRPr lang="en-US" sz="1100" dirty="0"/>
          </a:p>
        </p:txBody>
      </p:sp>
      <p:sp>
        <p:nvSpPr>
          <p:cNvPr id="8" name="Text 5"/>
          <p:cNvSpPr/>
          <p:nvPr/>
        </p:nvSpPr>
        <p:spPr>
          <a:xfrm>
            <a:off x="6894576" y="3630168"/>
            <a:ext cx="4480560" cy="694944"/>
          </a:xfrm>
          <a:prstGeom prst="rect">
            <a:avLst/>
          </a:prstGeom>
          <a:noFill/>
          <a:ln/>
        </p:spPr>
        <p:txBody>
          <a:bodyPr wrap="square" lIns="0" tIns="0" rIns="0" bIns="0" rtlCol="0" anchor="t">
            <a:normAutofit/>
          </a:bodyPr>
          <a:lstStyle/>
          <a:p>
            <a:pPr indent="0" marL="0">
              <a:buNone/>
            </a:pPr>
            <a:r>
              <a:rPr lang="en-US" sz="1900" dirty="0">
                <a:solidFill>
                  <a:srgbClr val="F3EDE1"/>
                </a:solidFill>
                <a:latin typeface="Aptos" pitchFamily="34" charset="0"/>
                <a:ea typeface="Aptos" pitchFamily="34" charset="-122"/>
                <a:cs typeface="Aptos" pitchFamily="34" charset="-120"/>
              </a:rPr>
              <a:t>Her credentials are suspended as fatigue erodes her certainty.</a:t>
            </a:r>
            <a:endParaRPr lang="en-US" sz="1900" dirty="0"/>
          </a:p>
        </p:txBody>
      </p:sp>
      <p:sp>
        <p:nvSpPr>
          <p:cNvPr id="9" name="Text 6"/>
          <p:cNvSpPr/>
          <p:nvPr/>
        </p:nvSpPr>
        <p:spPr>
          <a:xfrm>
            <a:off x="6894576" y="4489704"/>
            <a:ext cx="4389120" cy="219456"/>
          </a:xfrm>
          <a:prstGeom prst="rect">
            <a:avLst/>
          </a:prstGeom>
          <a:noFill/>
          <a:ln/>
        </p:spPr>
        <p:txBody>
          <a:bodyPr wrap="square" lIns="0" tIns="0" rIns="0" bIns="0" rtlCol="0" anchor="ctr">
            <a:normAutofit/>
          </a:bodyPr>
          <a:lstStyle/>
          <a:p>
            <a:pPr indent="0" marL="0">
              <a:buNone/>
            </a:pPr>
            <a:r>
              <a:rPr lang="en-US" sz="1100" b="1" spc="100" kern="0" dirty="0">
                <a:solidFill>
                  <a:srgbClr val="B6A27F"/>
                </a:solidFill>
                <a:latin typeface="Aptos Display" pitchFamily="34" charset="0"/>
                <a:ea typeface="Aptos Display" pitchFamily="34" charset="-122"/>
                <a:cs typeface="Aptos Display" pitchFamily="34" charset="-120"/>
              </a:rPr>
              <a:t>CHANGE</a:t>
            </a:r>
            <a:endParaRPr lang="en-US" sz="1100" dirty="0"/>
          </a:p>
        </p:txBody>
      </p:sp>
      <p:sp>
        <p:nvSpPr>
          <p:cNvPr id="10" name="Text 7"/>
          <p:cNvSpPr/>
          <p:nvPr/>
        </p:nvSpPr>
        <p:spPr>
          <a:xfrm>
            <a:off x="6894576" y="4800600"/>
            <a:ext cx="4480560" cy="694944"/>
          </a:xfrm>
          <a:prstGeom prst="rect">
            <a:avLst/>
          </a:prstGeom>
          <a:noFill/>
          <a:ln/>
        </p:spPr>
        <p:txBody>
          <a:bodyPr wrap="square" lIns="0" tIns="0" rIns="0" bIns="0" rtlCol="0" anchor="t">
            <a:normAutofit/>
          </a:bodyPr>
          <a:lstStyle/>
          <a:p>
            <a:pPr indent="0" marL="0">
              <a:buNone/>
            </a:pPr>
            <a:r>
              <a:rPr lang="en-US" sz="1900" dirty="0">
                <a:solidFill>
                  <a:srgbClr val="F3EDE1"/>
                </a:solidFill>
                <a:latin typeface="Aptos" pitchFamily="34" charset="0"/>
                <a:ea typeface="Aptos" pitchFamily="34" charset="-122"/>
                <a:cs typeface="Aptos" pitchFamily="34" charset="-120"/>
              </a:rPr>
              <a:t>She stops counting closed files and starts protecting the people inside them.</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1B"/>
        </a:solidFill>
      </p:bgPr>
    </p:bg>
    <p:spTree>
      <p:nvGrpSpPr>
        <p:cNvPr id="1" name=""/>
        <p:cNvGrpSpPr/>
        <p:nvPr/>
      </p:nvGrpSpPr>
      <p:grpSpPr>
        <a:xfrm>
          <a:off x="0" y="0"/>
          <a:ext cx="0" cy="0"/>
          <a:chOff x="0" y="0"/>
          <a:chExt cx="0" cy="0"/>
        </a:xfrm>
      </p:grpSpPr>
      <p:pic>
        <p:nvPicPr>
          <p:cNvPr id="2" name="Image 0" descr="/workspace/scratch/b68b451fa11f/generated_images/exec-15bab574-267f-450c-9467-bfd6fed8fa89.png">    </p:cNvPr>
          <p:cNvPicPr>
            <a:picLocks noChangeAspect="1"/>
          </p:cNvPicPr>
          <p:nvPr/>
        </p:nvPicPr>
        <p:blipFill>
          <a:blip r:embed="rId1"/>
          <a:stretch>
            <a:fillRect/>
          </a:stretch>
        </p:blipFill>
        <p:spPr>
          <a:xfrm>
            <a:off x="5650992" y="0"/>
            <a:ext cx="6540703" cy="6858000"/>
          </a:xfrm>
          <a:prstGeom prst="rect">
            <a:avLst/>
          </a:prstGeom>
        </p:spPr>
      </p:pic>
      <p:sp>
        <p:nvSpPr>
          <p:cNvPr id="3" name="Text 0"/>
          <p:cNvSpPr/>
          <p:nvPr/>
        </p:nvSpPr>
        <p:spPr>
          <a:xfrm>
            <a:off x="658368" y="749808"/>
            <a:ext cx="5029200" cy="621792"/>
          </a:xfrm>
          <a:prstGeom prst="rect">
            <a:avLst/>
          </a:prstGeom>
          <a:noFill/>
          <a:ln/>
        </p:spPr>
        <p:txBody>
          <a:bodyPr wrap="square" lIns="0" tIns="0" rIns="0" bIns="0" rtlCol="0" anchor="ctr">
            <a:normAutofit/>
          </a:bodyPr>
          <a:lstStyle/>
          <a:p>
            <a:pPr indent="0" marL="0">
              <a:buNone/>
            </a:pPr>
            <a:r>
              <a:rPr lang="en-US" sz="3000" b="1" dirty="0">
                <a:solidFill>
                  <a:srgbClr val="F3EDE1"/>
                </a:solidFill>
                <a:latin typeface="Aptos Display" pitchFamily="34" charset="0"/>
                <a:ea typeface="Aptos Display" pitchFamily="34" charset="-122"/>
                <a:cs typeface="Aptos Display" pitchFamily="34" charset="-120"/>
              </a:rPr>
              <a:t>COLONEL DIANE MERCER</a:t>
            </a:r>
            <a:endParaRPr lang="en-US" sz="3000" dirty="0"/>
          </a:p>
        </p:txBody>
      </p:sp>
      <p:sp>
        <p:nvSpPr>
          <p:cNvPr id="4" name="Text 1"/>
          <p:cNvSpPr/>
          <p:nvPr/>
        </p:nvSpPr>
        <p:spPr>
          <a:xfrm>
            <a:off x="685800" y="1490472"/>
            <a:ext cx="4754880" cy="320040"/>
          </a:xfrm>
          <a:prstGeom prst="rect">
            <a:avLst/>
          </a:prstGeom>
          <a:noFill/>
          <a:ln/>
        </p:spPr>
        <p:txBody>
          <a:bodyPr wrap="square" lIns="0" tIns="0" rIns="0" bIns="0" rtlCol="0" anchor="ctr">
            <a:normAutofit/>
          </a:bodyPr>
          <a:lstStyle/>
          <a:p>
            <a:pPr indent="0" marL="0">
              <a:buNone/>
            </a:pPr>
            <a:r>
              <a:rPr lang="en-US" sz="1200" b="1" spc="140" kern="0" dirty="0">
                <a:solidFill>
                  <a:srgbClr val="B83B37"/>
                </a:solidFill>
                <a:latin typeface="Aptos Display" pitchFamily="34" charset="0"/>
                <a:ea typeface="Aptos Display" pitchFamily="34" charset="-122"/>
                <a:cs typeface="Aptos Display" pitchFamily="34" charset="-120"/>
              </a:rPr>
              <a:t>58  /  GARRISON COMMANDER</a:t>
            </a:r>
            <a:endParaRPr lang="en-US" sz="1200" dirty="0"/>
          </a:p>
        </p:txBody>
      </p:sp>
      <p:sp>
        <p:nvSpPr>
          <p:cNvPr id="5" name="Text 2"/>
          <p:cNvSpPr/>
          <p:nvPr/>
        </p:nvSpPr>
        <p:spPr>
          <a:xfrm>
            <a:off x="685800" y="2157984"/>
            <a:ext cx="4480560" cy="219456"/>
          </a:xfrm>
          <a:prstGeom prst="rect">
            <a:avLst/>
          </a:prstGeom>
          <a:noFill/>
          <a:ln/>
        </p:spPr>
        <p:txBody>
          <a:bodyPr wrap="square" lIns="0" tIns="0" rIns="0" bIns="0" rtlCol="0" anchor="ctr">
            <a:normAutofit/>
          </a:bodyPr>
          <a:lstStyle/>
          <a:p>
            <a:pPr indent="0" marL="0">
              <a:buNone/>
            </a:pPr>
            <a:r>
              <a:rPr lang="en-US" sz="1100" b="1" spc="100" kern="0" dirty="0">
                <a:solidFill>
                  <a:srgbClr val="B6A27F"/>
                </a:solidFill>
                <a:latin typeface="Aptos Display" pitchFamily="34" charset="0"/>
                <a:ea typeface="Aptos Display" pitchFamily="34" charset="-122"/>
                <a:cs typeface="Aptos Display" pitchFamily="34" charset="-120"/>
              </a:rPr>
              <a:t>HER POWER</a:t>
            </a:r>
            <a:endParaRPr lang="en-US" sz="1100" dirty="0"/>
          </a:p>
        </p:txBody>
      </p:sp>
      <p:sp>
        <p:nvSpPr>
          <p:cNvPr id="6" name="Text 3"/>
          <p:cNvSpPr/>
          <p:nvPr/>
        </p:nvSpPr>
        <p:spPr>
          <a:xfrm>
            <a:off x="685800" y="2450592"/>
            <a:ext cx="4572000" cy="713232"/>
          </a:xfrm>
          <a:prstGeom prst="rect">
            <a:avLst/>
          </a:prstGeom>
          <a:noFill/>
          <a:ln/>
        </p:spPr>
        <p:txBody>
          <a:bodyPr wrap="square" lIns="0" tIns="0" rIns="0" bIns="0" rtlCol="0" anchor="t">
            <a:normAutofit/>
          </a:bodyPr>
          <a:lstStyle/>
          <a:p>
            <a:pPr indent="0" marL="0">
              <a:buNone/>
            </a:pPr>
            <a:r>
              <a:rPr lang="en-US" sz="1800" dirty="0">
                <a:solidFill>
                  <a:srgbClr val="F3EDE1"/>
                </a:solidFill>
                <a:latin typeface="Aptos" pitchFamily="34" charset="0"/>
                <a:ea typeface="Aptos" pitchFamily="34" charset="-122"/>
                <a:cs typeface="Aptos" pitchFamily="34" charset="-120"/>
              </a:rPr>
              <a:t>A beloved commander and Jordan’s surrogate mother.</a:t>
            </a:r>
            <a:endParaRPr lang="en-US" sz="1800" dirty="0"/>
          </a:p>
        </p:txBody>
      </p:sp>
      <p:sp>
        <p:nvSpPr>
          <p:cNvPr id="7" name="Text 4"/>
          <p:cNvSpPr/>
          <p:nvPr/>
        </p:nvSpPr>
        <p:spPr>
          <a:xfrm>
            <a:off x="685800" y="3328416"/>
            <a:ext cx="4480560" cy="219456"/>
          </a:xfrm>
          <a:prstGeom prst="rect">
            <a:avLst/>
          </a:prstGeom>
          <a:noFill/>
          <a:ln/>
        </p:spPr>
        <p:txBody>
          <a:bodyPr wrap="square" lIns="0" tIns="0" rIns="0" bIns="0" rtlCol="0" anchor="ctr">
            <a:normAutofit/>
          </a:bodyPr>
          <a:lstStyle/>
          <a:p>
            <a:pPr indent="0" marL="0">
              <a:buNone/>
            </a:pPr>
            <a:r>
              <a:rPr lang="en-US" sz="1100" b="1" spc="100" kern="0" dirty="0">
                <a:solidFill>
                  <a:srgbClr val="B6A27F"/>
                </a:solidFill>
                <a:latin typeface="Aptos Display" pitchFamily="34" charset="0"/>
                <a:ea typeface="Aptos Display" pitchFamily="34" charset="-122"/>
                <a:cs typeface="Aptos Display" pitchFamily="34" charset="-120"/>
              </a:rPr>
              <a:t>HER NEED</a:t>
            </a:r>
            <a:endParaRPr lang="en-US" sz="1100" dirty="0"/>
          </a:p>
        </p:txBody>
      </p:sp>
      <p:sp>
        <p:nvSpPr>
          <p:cNvPr id="8" name="Text 5"/>
          <p:cNvSpPr/>
          <p:nvPr/>
        </p:nvSpPr>
        <p:spPr>
          <a:xfrm>
            <a:off x="685800" y="3621024"/>
            <a:ext cx="4572000" cy="713232"/>
          </a:xfrm>
          <a:prstGeom prst="rect">
            <a:avLst/>
          </a:prstGeom>
          <a:noFill/>
          <a:ln/>
        </p:spPr>
        <p:txBody>
          <a:bodyPr wrap="square" lIns="0" tIns="0" rIns="0" bIns="0" rtlCol="0" anchor="t">
            <a:normAutofit/>
          </a:bodyPr>
          <a:lstStyle/>
          <a:p>
            <a:pPr indent="0" marL="0">
              <a:buNone/>
            </a:pPr>
            <a:r>
              <a:rPr lang="en-US" sz="1800" dirty="0">
                <a:solidFill>
                  <a:srgbClr val="F3EDE1"/>
                </a:solidFill>
                <a:latin typeface="Aptos" pitchFamily="34" charset="0"/>
                <a:ea typeface="Aptos" pitchFamily="34" charset="-122"/>
                <a:cs typeface="Aptos" pitchFamily="34" charset="-120"/>
              </a:rPr>
              <a:t>Keep the resilience program alive and secure her promotion.</a:t>
            </a:r>
            <a:endParaRPr lang="en-US" sz="1800" dirty="0"/>
          </a:p>
        </p:txBody>
      </p:sp>
      <p:sp>
        <p:nvSpPr>
          <p:cNvPr id="9" name="Text 6"/>
          <p:cNvSpPr/>
          <p:nvPr/>
        </p:nvSpPr>
        <p:spPr>
          <a:xfrm>
            <a:off x="685800" y="4498848"/>
            <a:ext cx="4480560" cy="219456"/>
          </a:xfrm>
          <a:prstGeom prst="rect">
            <a:avLst/>
          </a:prstGeom>
          <a:noFill/>
          <a:ln/>
        </p:spPr>
        <p:txBody>
          <a:bodyPr wrap="square" lIns="0" tIns="0" rIns="0" bIns="0" rtlCol="0" anchor="ctr">
            <a:normAutofit/>
          </a:bodyPr>
          <a:lstStyle/>
          <a:p>
            <a:pPr indent="0" marL="0">
              <a:buNone/>
            </a:pPr>
            <a:r>
              <a:rPr lang="en-US" sz="1100" b="1" spc="100" kern="0" dirty="0">
                <a:solidFill>
                  <a:srgbClr val="B6A27F"/>
                </a:solidFill>
                <a:latin typeface="Aptos Display" pitchFamily="34" charset="0"/>
                <a:ea typeface="Aptos Display" pitchFamily="34" charset="-122"/>
                <a:cs typeface="Aptos Display" pitchFamily="34" charset="-120"/>
              </a:rPr>
              <a:t>HER CONTRADICTION</a:t>
            </a:r>
            <a:endParaRPr lang="en-US" sz="1100" dirty="0"/>
          </a:p>
        </p:txBody>
      </p:sp>
      <p:sp>
        <p:nvSpPr>
          <p:cNvPr id="10" name="Text 7"/>
          <p:cNvSpPr/>
          <p:nvPr/>
        </p:nvSpPr>
        <p:spPr>
          <a:xfrm>
            <a:off x="685800" y="4791456"/>
            <a:ext cx="4572000" cy="713232"/>
          </a:xfrm>
          <a:prstGeom prst="rect">
            <a:avLst/>
          </a:prstGeom>
          <a:noFill/>
          <a:ln/>
        </p:spPr>
        <p:txBody>
          <a:bodyPr wrap="square" lIns="0" tIns="0" rIns="0" bIns="0" rtlCol="0" anchor="t">
            <a:normAutofit/>
          </a:bodyPr>
          <a:lstStyle/>
          <a:p>
            <a:pPr indent="0" marL="0">
              <a:buNone/>
            </a:pPr>
            <a:r>
              <a:rPr lang="en-US" sz="1800" dirty="0">
                <a:solidFill>
                  <a:srgbClr val="F3EDE1"/>
                </a:solidFill>
                <a:latin typeface="Aptos" pitchFamily="34" charset="0"/>
                <a:ea typeface="Aptos" pitchFamily="34" charset="-122"/>
                <a:cs typeface="Aptos" pitchFamily="34" charset="-120"/>
              </a:rPr>
              <a:t>She loves Jordan while using that bond to bury the truth.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The people who force the truth into daylight</a:t>
            </a:r>
            <a:endParaRPr lang="en-US" sz="3200" dirty="0"/>
          </a:p>
        </p:txBody>
      </p:sp>
      <p:sp>
        <p:nvSpPr>
          <p:cNvPr id="3" name="Text 1"/>
          <p:cNvSpPr/>
          <p:nvPr/>
        </p:nvSpPr>
        <p:spPr>
          <a:xfrm>
            <a:off x="685800" y="1691640"/>
            <a:ext cx="5120640" cy="310896"/>
          </a:xfrm>
          <a:prstGeom prst="rect">
            <a:avLst/>
          </a:prstGeom>
          <a:noFill/>
          <a:ln/>
        </p:spPr>
        <p:txBody>
          <a:bodyPr wrap="square" lIns="0" tIns="0" rIns="0" bIns="0" rtlCol="0" anchor="ctr">
            <a:normAutofit/>
          </a:bodyPr>
          <a:lstStyle/>
          <a:p>
            <a:pPr indent="0" marL="0">
              <a:buNone/>
            </a:pPr>
            <a:r>
              <a:rPr lang="en-US" sz="1600" b="1" spc="70" kern="0" dirty="0">
                <a:solidFill>
                  <a:srgbClr val="B6A27F"/>
                </a:solidFill>
                <a:latin typeface="Aptos Display" pitchFamily="34" charset="0"/>
                <a:ea typeface="Aptos Display" pitchFamily="34" charset="-122"/>
                <a:cs typeface="Aptos Display" pitchFamily="34" charset="-120"/>
              </a:rPr>
              <a:t>CARLA RUIZ</a:t>
            </a:r>
            <a:endParaRPr lang="en-US" sz="1600" dirty="0"/>
          </a:p>
        </p:txBody>
      </p:sp>
      <p:sp>
        <p:nvSpPr>
          <p:cNvPr id="4" name="Text 2"/>
          <p:cNvSpPr/>
          <p:nvPr/>
        </p:nvSpPr>
        <p:spPr>
          <a:xfrm>
            <a:off x="685800" y="2093976"/>
            <a:ext cx="5074920" cy="850392"/>
          </a:xfrm>
          <a:prstGeom prst="rect">
            <a:avLst/>
          </a:prstGeom>
          <a:noFill/>
          <a:ln/>
        </p:spPr>
        <p:txBody>
          <a:bodyPr wrap="square" lIns="0" tIns="0" rIns="0" bIns="0" rtlCol="0" anchor="t">
            <a:normAutofit/>
          </a:bodyPr>
          <a:lstStyle/>
          <a:p>
            <a:pPr indent="0" marL="0">
              <a:buNone/>
            </a:pPr>
            <a:r>
              <a:rPr lang="en-US" sz="1600" dirty="0">
                <a:solidFill>
                  <a:srgbClr val="F3EDE1"/>
                </a:solidFill>
                <a:latin typeface="Aptos" pitchFamily="34" charset="0"/>
                <a:ea typeface="Aptos" pitchFamily="34" charset="-122"/>
                <a:cs typeface="Aptos" pitchFamily="34" charset="-120"/>
              </a:rPr>
              <a:t>A private who saw Tyler’s final walk and risks her future to testify.</a:t>
            </a:r>
            <a:endParaRPr lang="en-US" sz="1600" dirty="0"/>
          </a:p>
        </p:txBody>
      </p:sp>
      <p:sp>
        <p:nvSpPr>
          <p:cNvPr id="5" name="Text 3"/>
          <p:cNvSpPr/>
          <p:nvPr/>
        </p:nvSpPr>
        <p:spPr>
          <a:xfrm>
            <a:off x="685800" y="3172968"/>
            <a:ext cx="5120640" cy="310896"/>
          </a:xfrm>
          <a:prstGeom prst="rect">
            <a:avLst/>
          </a:prstGeom>
          <a:noFill/>
          <a:ln/>
        </p:spPr>
        <p:txBody>
          <a:bodyPr wrap="square" lIns="0" tIns="0" rIns="0" bIns="0" rtlCol="0" anchor="ctr">
            <a:normAutofit/>
          </a:bodyPr>
          <a:lstStyle/>
          <a:p>
            <a:pPr indent="0" marL="0">
              <a:buNone/>
            </a:pPr>
            <a:r>
              <a:rPr lang="en-US" sz="1600" b="1" spc="70" kern="0" dirty="0">
                <a:solidFill>
                  <a:srgbClr val="B6A27F"/>
                </a:solidFill>
                <a:latin typeface="Aptos Display" pitchFamily="34" charset="0"/>
                <a:ea typeface="Aptos Display" pitchFamily="34" charset="-122"/>
                <a:cs typeface="Aptos Display" pitchFamily="34" charset="-120"/>
              </a:rPr>
              <a:t>ISAIAH BROOKS</a:t>
            </a:r>
            <a:endParaRPr lang="en-US" sz="1600" dirty="0"/>
          </a:p>
        </p:txBody>
      </p:sp>
      <p:sp>
        <p:nvSpPr>
          <p:cNvPr id="6" name="Text 4"/>
          <p:cNvSpPr/>
          <p:nvPr/>
        </p:nvSpPr>
        <p:spPr>
          <a:xfrm>
            <a:off x="685800" y="3575304"/>
            <a:ext cx="5074920" cy="850392"/>
          </a:xfrm>
          <a:prstGeom prst="rect">
            <a:avLst/>
          </a:prstGeom>
          <a:noFill/>
          <a:ln/>
        </p:spPr>
        <p:txBody>
          <a:bodyPr wrap="square" lIns="0" tIns="0" rIns="0" bIns="0" rtlCol="0" anchor="t">
            <a:normAutofit/>
          </a:bodyPr>
          <a:lstStyle/>
          <a:p>
            <a:pPr indent="0" marL="0">
              <a:buNone/>
            </a:pPr>
            <a:r>
              <a:rPr lang="en-US" sz="1600" dirty="0">
                <a:solidFill>
                  <a:srgbClr val="F3EDE1"/>
                </a:solidFill>
                <a:latin typeface="Aptos" pitchFamily="34" charset="0"/>
                <a:ea typeface="Aptos" pitchFamily="34" charset="-122"/>
                <a:cs typeface="Aptos" pitchFamily="34" charset="-120"/>
              </a:rPr>
              <a:t>A drill sergeant whose warning was filed away and whose guilt dates back twenty years.</a:t>
            </a:r>
            <a:endParaRPr lang="en-US" sz="1600" dirty="0"/>
          </a:p>
        </p:txBody>
      </p:sp>
      <p:sp>
        <p:nvSpPr>
          <p:cNvPr id="7" name="Text 5"/>
          <p:cNvSpPr/>
          <p:nvPr/>
        </p:nvSpPr>
        <p:spPr>
          <a:xfrm>
            <a:off x="685800" y="4654296"/>
            <a:ext cx="5120640" cy="310896"/>
          </a:xfrm>
          <a:prstGeom prst="rect">
            <a:avLst/>
          </a:prstGeom>
          <a:noFill/>
          <a:ln/>
        </p:spPr>
        <p:txBody>
          <a:bodyPr wrap="square" lIns="0" tIns="0" rIns="0" bIns="0" rtlCol="0" anchor="ctr">
            <a:normAutofit/>
          </a:bodyPr>
          <a:lstStyle/>
          <a:p>
            <a:pPr indent="0" marL="0">
              <a:buNone/>
            </a:pPr>
            <a:r>
              <a:rPr lang="en-US" sz="1600" b="1" spc="70" kern="0" dirty="0">
                <a:solidFill>
                  <a:srgbClr val="B6A27F"/>
                </a:solidFill>
                <a:latin typeface="Aptos Display" pitchFamily="34" charset="0"/>
                <a:ea typeface="Aptos Display" pitchFamily="34" charset="-122"/>
                <a:cs typeface="Aptos Display" pitchFamily="34" charset="-120"/>
              </a:rPr>
              <a:t>DONNA VOGEL</a:t>
            </a:r>
            <a:endParaRPr lang="en-US" sz="1600" dirty="0"/>
          </a:p>
        </p:txBody>
      </p:sp>
      <p:sp>
        <p:nvSpPr>
          <p:cNvPr id="8" name="Text 6"/>
          <p:cNvSpPr/>
          <p:nvPr/>
        </p:nvSpPr>
        <p:spPr>
          <a:xfrm>
            <a:off x="685800" y="5056632"/>
            <a:ext cx="5074920" cy="850392"/>
          </a:xfrm>
          <a:prstGeom prst="rect">
            <a:avLst/>
          </a:prstGeom>
          <a:noFill/>
          <a:ln/>
        </p:spPr>
        <p:txBody>
          <a:bodyPr wrap="square" lIns="0" tIns="0" rIns="0" bIns="0" rtlCol="0" anchor="t">
            <a:normAutofit/>
          </a:bodyPr>
          <a:lstStyle/>
          <a:p>
            <a:pPr indent="0" marL="0">
              <a:buNone/>
            </a:pPr>
            <a:r>
              <a:rPr lang="en-US" sz="1600" dirty="0">
                <a:solidFill>
                  <a:srgbClr val="F3EDE1"/>
                </a:solidFill>
                <a:latin typeface="Aptos" pitchFamily="34" charset="0"/>
                <a:ea typeface="Aptos" pitchFamily="34" charset="-122"/>
                <a:cs typeface="Aptos" pitchFamily="34" charset="-120"/>
              </a:rPr>
              <a:t>Tyler’s mother refuses to let the Army close his life as a line in a report.</a:t>
            </a:r>
            <a:endParaRPr lang="en-US" sz="1600" dirty="0"/>
          </a:p>
        </p:txBody>
      </p:sp>
      <p:sp>
        <p:nvSpPr>
          <p:cNvPr id="9" name="Text 7"/>
          <p:cNvSpPr/>
          <p:nvPr/>
        </p:nvSpPr>
        <p:spPr>
          <a:xfrm>
            <a:off x="6409944" y="1691640"/>
            <a:ext cx="5120640" cy="310896"/>
          </a:xfrm>
          <a:prstGeom prst="rect">
            <a:avLst/>
          </a:prstGeom>
          <a:noFill/>
          <a:ln/>
        </p:spPr>
        <p:txBody>
          <a:bodyPr wrap="square" lIns="0" tIns="0" rIns="0" bIns="0" rtlCol="0" anchor="ctr">
            <a:normAutofit/>
          </a:bodyPr>
          <a:lstStyle/>
          <a:p>
            <a:pPr indent="0" marL="0">
              <a:buNone/>
            </a:pPr>
            <a:r>
              <a:rPr lang="en-US" sz="1600" b="1" spc="70" kern="0" dirty="0">
                <a:solidFill>
                  <a:srgbClr val="B6A27F"/>
                </a:solidFill>
                <a:latin typeface="Aptos Display" pitchFamily="34" charset="0"/>
                <a:ea typeface="Aptos Display" pitchFamily="34" charset="-122"/>
                <a:cs typeface="Aptos Display" pitchFamily="34" charset="-120"/>
              </a:rPr>
              <a:t>DEL NAVARRO</a:t>
            </a:r>
            <a:endParaRPr lang="en-US" sz="1600" dirty="0"/>
          </a:p>
        </p:txBody>
      </p:sp>
      <p:sp>
        <p:nvSpPr>
          <p:cNvPr id="10" name="Text 8"/>
          <p:cNvSpPr/>
          <p:nvPr/>
        </p:nvSpPr>
        <p:spPr>
          <a:xfrm>
            <a:off x="6409944" y="2093976"/>
            <a:ext cx="5074920" cy="850392"/>
          </a:xfrm>
          <a:prstGeom prst="rect">
            <a:avLst/>
          </a:prstGeom>
          <a:noFill/>
          <a:ln/>
        </p:spPr>
        <p:txBody>
          <a:bodyPr wrap="square" lIns="0" tIns="0" rIns="0" bIns="0" rtlCol="0" anchor="t">
            <a:normAutofit/>
          </a:bodyPr>
          <a:lstStyle/>
          <a:p>
            <a:pPr indent="0" marL="0">
              <a:buNone/>
            </a:pPr>
            <a:r>
              <a:rPr lang="en-US" sz="1600" dirty="0">
                <a:solidFill>
                  <a:srgbClr val="F3EDE1"/>
                </a:solidFill>
                <a:latin typeface="Aptos" pitchFamily="34" charset="0"/>
                <a:ea typeface="Aptos" pitchFamily="34" charset="-122"/>
                <a:cs typeface="Aptos" pitchFamily="34" charset="-120"/>
              </a:rPr>
              <a:t>Jordan’s boss must decide whether to trust her evidence after pulling her badge.</a:t>
            </a:r>
            <a:endParaRPr lang="en-US" sz="1600" dirty="0"/>
          </a:p>
        </p:txBody>
      </p:sp>
      <p:sp>
        <p:nvSpPr>
          <p:cNvPr id="11" name="Text 9"/>
          <p:cNvSpPr/>
          <p:nvPr/>
        </p:nvSpPr>
        <p:spPr>
          <a:xfrm>
            <a:off x="6409944" y="3172968"/>
            <a:ext cx="5120640" cy="310896"/>
          </a:xfrm>
          <a:prstGeom prst="rect">
            <a:avLst/>
          </a:prstGeom>
          <a:noFill/>
          <a:ln/>
        </p:spPr>
        <p:txBody>
          <a:bodyPr wrap="square" lIns="0" tIns="0" rIns="0" bIns="0" rtlCol="0" anchor="ctr">
            <a:normAutofit/>
          </a:bodyPr>
          <a:lstStyle/>
          <a:p>
            <a:pPr indent="0" marL="0">
              <a:buNone/>
            </a:pPr>
            <a:r>
              <a:rPr lang="en-US" sz="1600" b="1" spc="70" kern="0" dirty="0">
                <a:solidFill>
                  <a:srgbClr val="B6A27F"/>
                </a:solidFill>
                <a:latin typeface="Aptos Display" pitchFamily="34" charset="0"/>
                <a:ea typeface="Aptos Display" pitchFamily="34" charset="-122"/>
                <a:cs typeface="Aptos Display" pitchFamily="34" charset="-120"/>
              </a:rPr>
              <a:t>ALAN PRUITT</a:t>
            </a:r>
            <a:endParaRPr lang="en-US" sz="1600" dirty="0"/>
          </a:p>
        </p:txBody>
      </p:sp>
      <p:sp>
        <p:nvSpPr>
          <p:cNvPr id="12" name="Text 10"/>
          <p:cNvSpPr/>
          <p:nvPr/>
        </p:nvSpPr>
        <p:spPr>
          <a:xfrm>
            <a:off x="6409944" y="3575304"/>
            <a:ext cx="5074920" cy="850392"/>
          </a:xfrm>
          <a:prstGeom prst="rect">
            <a:avLst/>
          </a:prstGeom>
          <a:noFill/>
          <a:ln/>
        </p:spPr>
        <p:txBody>
          <a:bodyPr wrap="square" lIns="0" tIns="0" rIns="0" bIns="0" rtlCol="0" anchor="t">
            <a:normAutofit/>
          </a:bodyPr>
          <a:lstStyle/>
          <a:p>
            <a:pPr indent="0" marL="0">
              <a:buNone/>
            </a:pPr>
            <a:r>
              <a:rPr lang="en-US" sz="1600" dirty="0">
                <a:solidFill>
                  <a:srgbClr val="F3EDE1"/>
                </a:solidFill>
                <a:latin typeface="Aptos" pitchFamily="34" charset="0"/>
                <a:ea typeface="Aptos" pitchFamily="34" charset="-122"/>
                <a:cs typeface="Aptos" pitchFamily="34" charset="-120"/>
              </a:rPr>
              <a:t>Meridian’s scientist sees soldiers as data and defends the program’s results.</a:t>
            </a:r>
            <a:endParaRPr lang="en-US" sz="1600" dirty="0"/>
          </a:p>
        </p:txBody>
      </p:sp>
      <p:sp>
        <p:nvSpPr>
          <p:cNvPr id="13" name="Text 11"/>
          <p:cNvSpPr/>
          <p:nvPr/>
        </p:nvSpPr>
        <p:spPr>
          <a:xfrm>
            <a:off x="6409944" y="4654296"/>
            <a:ext cx="5120640" cy="310896"/>
          </a:xfrm>
          <a:prstGeom prst="rect">
            <a:avLst/>
          </a:prstGeom>
          <a:noFill/>
          <a:ln/>
        </p:spPr>
        <p:txBody>
          <a:bodyPr wrap="square" lIns="0" tIns="0" rIns="0" bIns="0" rtlCol="0" anchor="ctr">
            <a:normAutofit/>
          </a:bodyPr>
          <a:lstStyle/>
          <a:p>
            <a:pPr indent="0" marL="0">
              <a:buNone/>
            </a:pPr>
            <a:r>
              <a:rPr lang="en-US" sz="1600" b="1" spc="70" kern="0" dirty="0">
                <a:solidFill>
                  <a:srgbClr val="B6A27F"/>
                </a:solidFill>
                <a:latin typeface="Aptos Display" pitchFamily="34" charset="0"/>
                <a:ea typeface="Aptos Display" pitchFamily="34" charset="-122"/>
                <a:cs typeface="Aptos Display" pitchFamily="34" charset="-120"/>
              </a:rPr>
              <a:t>DEVONTE PRICE</a:t>
            </a:r>
            <a:endParaRPr lang="en-US" sz="1600" dirty="0"/>
          </a:p>
        </p:txBody>
      </p:sp>
      <p:sp>
        <p:nvSpPr>
          <p:cNvPr id="14" name="Text 12"/>
          <p:cNvSpPr/>
          <p:nvPr/>
        </p:nvSpPr>
        <p:spPr>
          <a:xfrm>
            <a:off x="6409944" y="5056632"/>
            <a:ext cx="5074920" cy="850392"/>
          </a:xfrm>
          <a:prstGeom prst="rect">
            <a:avLst/>
          </a:prstGeom>
          <a:noFill/>
          <a:ln/>
        </p:spPr>
        <p:txBody>
          <a:bodyPr wrap="square" lIns="0" tIns="0" rIns="0" bIns="0" rtlCol="0" anchor="t">
            <a:normAutofit/>
          </a:bodyPr>
          <a:lstStyle/>
          <a:p>
            <a:pPr indent="0" marL="0">
              <a:buNone/>
            </a:pPr>
            <a:r>
              <a:rPr lang="en-US" sz="1600" dirty="0">
                <a:solidFill>
                  <a:srgbClr val="F3EDE1"/>
                </a:solidFill>
                <a:latin typeface="Aptos" pitchFamily="34" charset="0"/>
                <a:ea typeface="Aptos" pitchFamily="34" charset="-122"/>
                <a:cs typeface="Aptos" pitchFamily="34" charset="-120"/>
              </a:rPr>
              <a:t>A records specialist risks his career to preserve the raw data.</a:t>
            </a:r>
            <a:endParaRPr lang="en-US" sz="1600" dirty="0"/>
          </a:p>
        </p:txBody>
      </p:sp>
      <p:sp>
        <p:nvSpPr>
          <p:cNvPr id="15" name="Text 13"/>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16" name="Text 14"/>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Story</a:t>
            </a:r>
            <a:endParaRPr lang="en-US" sz="3200" dirty="0"/>
          </a:p>
        </p:txBody>
      </p:sp>
      <p:sp>
        <p:nvSpPr>
          <p:cNvPr id="3" name="Text 1"/>
          <p:cNvSpPr/>
          <p:nvPr/>
        </p:nvSpPr>
        <p:spPr>
          <a:xfrm>
            <a:off x="658368" y="1234440"/>
            <a:ext cx="10515600" cy="292608"/>
          </a:xfrm>
          <a:prstGeom prst="rect">
            <a:avLst/>
          </a:prstGeom>
          <a:noFill/>
          <a:ln/>
        </p:spPr>
        <p:txBody>
          <a:bodyPr wrap="square" lIns="0" tIns="0" rIns="0" bIns="0" rtlCol="0" anchor="ctr">
            <a:normAutofit/>
          </a:bodyPr>
          <a:lstStyle/>
          <a:p>
            <a:pPr indent="0" marL="0">
              <a:buNone/>
            </a:pPr>
            <a:r>
              <a:rPr lang="en-US" sz="1100" b="1" spc="200" kern="0" dirty="0">
                <a:solidFill>
                  <a:srgbClr val="B83B37"/>
                </a:solidFill>
                <a:latin typeface="Aptos Display" pitchFamily="34" charset="0"/>
                <a:ea typeface="Aptos Display" pitchFamily="34" charset="-122"/>
                <a:cs typeface="Aptos Display" pitchFamily="34" charset="-120"/>
              </a:rPr>
              <a:t>THREE ACTS</a:t>
            </a:r>
            <a:endParaRPr lang="en-US" sz="1100" dirty="0"/>
          </a:p>
        </p:txBody>
      </p:sp>
      <p:sp>
        <p:nvSpPr>
          <p:cNvPr id="4" name="Text 2"/>
          <p:cNvSpPr/>
          <p:nvPr/>
        </p:nvSpPr>
        <p:spPr>
          <a:xfrm>
            <a:off x="685800" y="1609344"/>
            <a:ext cx="457200" cy="594360"/>
          </a:xfrm>
          <a:prstGeom prst="rect">
            <a:avLst/>
          </a:prstGeom>
          <a:noFill/>
          <a:ln/>
        </p:spPr>
        <p:txBody>
          <a:bodyPr wrap="square" lIns="0" tIns="0" rIns="0" bIns="0" rtlCol="0" anchor="ctr">
            <a:normAutofit/>
          </a:bodyPr>
          <a:lstStyle/>
          <a:p>
            <a:pPr indent="0" marL="0">
              <a:buNone/>
            </a:pPr>
            <a:r>
              <a:rPr lang="en-US" sz="3300" b="1" dirty="0">
                <a:solidFill>
                  <a:srgbClr val="B83B37"/>
                </a:solidFill>
                <a:latin typeface="Aptos Display" pitchFamily="34" charset="0"/>
                <a:ea typeface="Aptos Display" pitchFamily="34" charset="-122"/>
                <a:cs typeface="Aptos Display" pitchFamily="34" charset="-120"/>
              </a:rPr>
              <a:t>I</a:t>
            </a:r>
            <a:endParaRPr lang="en-US" sz="3300" dirty="0"/>
          </a:p>
        </p:txBody>
      </p:sp>
      <p:sp>
        <p:nvSpPr>
          <p:cNvPr id="5" name="Text 3"/>
          <p:cNvSpPr/>
          <p:nvPr/>
        </p:nvSpPr>
        <p:spPr>
          <a:xfrm>
            <a:off x="1399032" y="1609344"/>
            <a:ext cx="2907792" cy="347472"/>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THE DEATH</a:t>
            </a:r>
            <a:endParaRPr lang="en-US" sz="1800" dirty="0"/>
          </a:p>
        </p:txBody>
      </p:sp>
      <p:sp>
        <p:nvSpPr>
          <p:cNvPr id="6" name="Text 4"/>
          <p:cNvSpPr/>
          <p:nvPr/>
        </p:nvSpPr>
        <p:spPr>
          <a:xfrm>
            <a:off x="4114800" y="1591056"/>
            <a:ext cx="7342632" cy="107899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Jordan investigates Tyler Vogel’s apparent suicide. Matching wrist burns and three earlier deaths point to a covert program in Building 1147.</a:t>
            </a:r>
            <a:endParaRPr lang="en-US" sz="1700" dirty="0"/>
          </a:p>
        </p:txBody>
      </p:sp>
      <p:sp>
        <p:nvSpPr>
          <p:cNvPr id="7" name="Text 5"/>
          <p:cNvSpPr/>
          <p:nvPr/>
        </p:nvSpPr>
        <p:spPr>
          <a:xfrm>
            <a:off x="685800" y="3099816"/>
            <a:ext cx="457200" cy="594360"/>
          </a:xfrm>
          <a:prstGeom prst="rect">
            <a:avLst/>
          </a:prstGeom>
          <a:noFill/>
          <a:ln/>
        </p:spPr>
        <p:txBody>
          <a:bodyPr wrap="square" lIns="0" tIns="0" rIns="0" bIns="0" rtlCol="0" anchor="ctr">
            <a:normAutofit/>
          </a:bodyPr>
          <a:lstStyle/>
          <a:p>
            <a:pPr indent="0" marL="0">
              <a:buNone/>
            </a:pPr>
            <a:r>
              <a:rPr lang="en-US" sz="3300" b="1" dirty="0">
                <a:solidFill>
                  <a:srgbClr val="B83B37"/>
                </a:solidFill>
                <a:latin typeface="Aptos Display" pitchFamily="34" charset="0"/>
                <a:ea typeface="Aptos Display" pitchFamily="34" charset="-122"/>
                <a:cs typeface="Aptos Display" pitchFamily="34" charset="-120"/>
              </a:rPr>
              <a:t>II</a:t>
            </a:r>
            <a:endParaRPr lang="en-US" sz="3300" dirty="0"/>
          </a:p>
        </p:txBody>
      </p:sp>
      <p:sp>
        <p:nvSpPr>
          <p:cNvPr id="8" name="Text 6"/>
          <p:cNvSpPr/>
          <p:nvPr/>
        </p:nvSpPr>
        <p:spPr>
          <a:xfrm>
            <a:off x="1399032" y="3099816"/>
            <a:ext cx="2907792" cy="347472"/>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THE FAMILY LIE</a:t>
            </a:r>
            <a:endParaRPr lang="en-US" sz="1800" dirty="0"/>
          </a:p>
        </p:txBody>
      </p:sp>
      <p:sp>
        <p:nvSpPr>
          <p:cNvPr id="9" name="Text 7"/>
          <p:cNvSpPr/>
          <p:nvPr/>
        </p:nvSpPr>
        <p:spPr>
          <a:xfrm>
            <a:off x="4114800" y="3081528"/>
            <a:ext cx="7342632" cy="107899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An archived report reveals her father died in the same building. Mercer moves to discredit Jordan, while a frightened witness disappears into behavioral health custody.</a:t>
            </a:r>
            <a:endParaRPr lang="en-US" sz="1700" dirty="0"/>
          </a:p>
        </p:txBody>
      </p:sp>
      <p:sp>
        <p:nvSpPr>
          <p:cNvPr id="10" name="Text 8"/>
          <p:cNvSpPr/>
          <p:nvPr/>
        </p:nvSpPr>
        <p:spPr>
          <a:xfrm>
            <a:off x="685800" y="4590288"/>
            <a:ext cx="457200" cy="594360"/>
          </a:xfrm>
          <a:prstGeom prst="rect">
            <a:avLst/>
          </a:prstGeom>
          <a:noFill/>
          <a:ln/>
        </p:spPr>
        <p:txBody>
          <a:bodyPr wrap="square" lIns="0" tIns="0" rIns="0" bIns="0" rtlCol="0" anchor="ctr">
            <a:normAutofit/>
          </a:bodyPr>
          <a:lstStyle/>
          <a:p>
            <a:pPr indent="0" marL="0">
              <a:buNone/>
            </a:pPr>
            <a:r>
              <a:rPr lang="en-US" sz="3300" b="1" dirty="0">
                <a:solidFill>
                  <a:srgbClr val="B83B37"/>
                </a:solidFill>
                <a:latin typeface="Aptos Display" pitchFamily="34" charset="0"/>
                <a:ea typeface="Aptos Display" pitchFamily="34" charset="-122"/>
                <a:cs typeface="Aptos Display" pitchFamily="34" charset="-120"/>
              </a:rPr>
              <a:t>III</a:t>
            </a:r>
            <a:endParaRPr lang="en-US" sz="3300" dirty="0"/>
          </a:p>
        </p:txBody>
      </p:sp>
      <p:sp>
        <p:nvSpPr>
          <p:cNvPr id="11" name="Text 9"/>
          <p:cNvSpPr/>
          <p:nvPr/>
        </p:nvSpPr>
        <p:spPr>
          <a:xfrm>
            <a:off x="1399032" y="4590288"/>
            <a:ext cx="2907792" cy="347472"/>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THE RECORD</a:t>
            </a:r>
            <a:endParaRPr lang="en-US" sz="1800" dirty="0"/>
          </a:p>
        </p:txBody>
      </p:sp>
      <p:sp>
        <p:nvSpPr>
          <p:cNvPr id="12" name="Text 10"/>
          <p:cNvSpPr/>
          <p:nvPr/>
        </p:nvSpPr>
        <p:spPr>
          <a:xfrm>
            <a:off x="4114800" y="4572000"/>
            <a:ext cx="7342632" cy="107899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Jordan, Brooks, Price, and Carla assemble independent evidence. At a public hearing, Jordan confronts Mercer and forces the Army to face the deaths it hid.</a:t>
            </a:r>
            <a:endParaRPr lang="en-US" sz="1700" dirty="0"/>
          </a:p>
        </p:txBody>
      </p:sp>
      <p:sp>
        <p:nvSpPr>
          <p:cNvPr id="13" name="Text 11"/>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14" name="Text 12"/>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Visual language</a:t>
            </a:r>
            <a:endParaRPr lang="en-US" sz="3200" dirty="0"/>
          </a:p>
        </p:txBody>
      </p:sp>
      <p:pic>
        <p:nvPicPr>
          <p:cNvPr id="3" name="Image 0" descr="/workspace/scratch/b68b451fa11f/generated_images/exec-eb7a5d68-4ed6-4d93-991b-c948dacdf49a.png">    </p:cNvPr>
          <p:cNvPicPr>
            <a:picLocks noChangeAspect="1"/>
          </p:cNvPicPr>
          <p:nvPr/>
        </p:nvPicPr>
        <p:blipFill>
          <a:blip r:embed="rId1"/>
          <a:stretch>
            <a:fillRect/>
          </a:stretch>
        </p:blipFill>
        <p:spPr>
          <a:xfrm>
            <a:off x="658368" y="1508760"/>
            <a:ext cx="5486400" cy="3090672"/>
          </a:xfrm>
          <a:prstGeom prst="rect">
            <a:avLst/>
          </a:prstGeom>
        </p:spPr>
      </p:pic>
      <p:pic>
        <p:nvPicPr>
          <p:cNvPr id="4" name="Image 1" descr="/workspace/scratch/b68b451fa11f/generated_images/exec-38b3b46b-a59d-44af-a286-0d0d8ea57de5.png">    </p:cNvPr>
          <p:cNvPicPr>
            <a:picLocks noChangeAspect="1"/>
          </p:cNvPicPr>
          <p:nvPr/>
        </p:nvPicPr>
        <p:blipFill>
          <a:blip r:embed="rId2"/>
          <a:stretch>
            <a:fillRect/>
          </a:stretch>
        </p:blipFill>
        <p:spPr>
          <a:xfrm>
            <a:off x="6327648" y="1508760"/>
            <a:ext cx="2514600" cy="3090672"/>
          </a:xfrm>
          <a:prstGeom prst="rect">
            <a:avLst/>
          </a:prstGeom>
        </p:spPr>
      </p:pic>
      <p:pic>
        <p:nvPicPr>
          <p:cNvPr id="5" name="Image 2" descr="/workspace/scratch/b68b451fa11f/generated_images/exec-15bab574-267f-450c-9467-bfd6fed8fa89.png">    </p:cNvPr>
          <p:cNvPicPr>
            <a:picLocks noChangeAspect="1"/>
          </p:cNvPicPr>
          <p:nvPr/>
        </p:nvPicPr>
        <p:blipFill>
          <a:blip r:embed="rId3"/>
          <a:stretch>
            <a:fillRect/>
          </a:stretch>
        </p:blipFill>
        <p:spPr>
          <a:xfrm>
            <a:off x="9015984" y="1508760"/>
            <a:ext cx="2514600" cy="3090672"/>
          </a:xfrm>
          <a:prstGeom prst="rect">
            <a:avLst/>
          </a:prstGeom>
        </p:spPr>
      </p:pic>
      <p:sp>
        <p:nvSpPr>
          <p:cNvPr id="6" name="Text 1"/>
          <p:cNvSpPr/>
          <p:nvPr/>
        </p:nvSpPr>
        <p:spPr>
          <a:xfrm>
            <a:off x="676656" y="4965192"/>
            <a:ext cx="2743200" cy="365760"/>
          </a:xfrm>
          <a:prstGeom prst="rect">
            <a:avLst/>
          </a:prstGeom>
          <a:noFill/>
          <a:ln/>
        </p:spPr>
        <p:txBody>
          <a:bodyPr wrap="square" lIns="0" tIns="0" rIns="0" bIns="0" rtlCol="0" anchor="ctr">
            <a:normAutofit/>
          </a:bodyPr>
          <a:lstStyle/>
          <a:p>
            <a:pPr indent="0" marL="0">
              <a:buNone/>
            </a:pPr>
            <a:r>
              <a:rPr lang="en-US" sz="1600" b="1" dirty="0">
                <a:solidFill>
                  <a:srgbClr val="F3EDE1"/>
                </a:solidFill>
                <a:latin typeface="Aptos Display" pitchFamily="34" charset="0"/>
                <a:ea typeface="Aptos Display" pitchFamily="34" charset="-122"/>
                <a:cs typeface="Aptos Display" pitchFamily="34" charset="-120"/>
              </a:rPr>
              <a:t>RAIN ON CONCRETE</a:t>
            </a:r>
            <a:endParaRPr lang="en-US" sz="1600" dirty="0"/>
          </a:p>
        </p:txBody>
      </p:sp>
      <p:sp>
        <p:nvSpPr>
          <p:cNvPr id="7" name="Text 2"/>
          <p:cNvSpPr/>
          <p:nvPr/>
        </p:nvSpPr>
        <p:spPr>
          <a:xfrm>
            <a:off x="3749040" y="4965192"/>
            <a:ext cx="2468880" cy="365760"/>
          </a:xfrm>
          <a:prstGeom prst="rect">
            <a:avLst/>
          </a:prstGeom>
          <a:noFill/>
          <a:ln/>
        </p:spPr>
        <p:txBody>
          <a:bodyPr wrap="square" lIns="0" tIns="0" rIns="0" bIns="0" rtlCol="0" anchor="ctr">
            <a:normAutofit/>
          </a:bodyPr>
          <a:lstStyle/>
          <a:p>
            <a:pPr indent="0" marL="0">
              <a:buNone/>
            </a:pPr>
            <a:r>
              <a:rPr lang="en-US" sz="1600" b="1" dirty="0">
                <a:solidFill>
                  <a:srgbClr val="F3EDE1"/>
                </a:solidFill>
                <a:latin typeface="Aptos Display" pitchFamily="34" charset="0"/>
                <a:ea typeface="Aptos Display" pitchFamily="34" charset="-122"/>
                <a:cs typeface="Aptos Display" pitchFamily="34" charset="-120"/>
              </a:rPr>
              <a:t>FILED SILENCE</a:t>
            </a:r>
            <a:endParaRPr lang="en-US" sz="1600" dirty="0"/>
          </a:p>
        </p:txBody>
      </p:sp>
      <p:sp>
        <p:nvSpPr>
          <p:cNvPr id="8" name="Text 3"/>
          <p:cNvSpPr/>
          <p:nvPr/>
        </p:nvSpPr>
        <p:spPr>
          <a:xfrm>
            <a:off x="6510528" y="4965192"/>
            <a:ext cx="4663440" cy="365760"/>
          </a:xfrm>
          <a:prstGeom prst="rect">
            <a:avLst/>
          </a:prstGeom>
          <a:noFill/>
          <a:ln/>
        </p:spPr>
        <p:txBody>
          <a:bodyPr wrap="square" lIns="0" tIns="0" rIns="0" bIns="0" rtlCol="0" anchor="ctr">
            <a:normAutofit/>
          </a:bodyPr>
          <a:lstStyle/>
          <a:p>
            <a:pPr indent="0" marL="0">
              <a:buNone/>
            </a:pPr>
            <a:r>
              <a:rPr lang="en-US" sz="1600" b="1" dirty="0">
                <a:solidFill>
                  <a:srgbClr val="F3EDE1"/>
                </a:solidFill>
                <a:latin typeface="Aptos Display" pitchFamily="34" charset="0"/>
                <a:ea typeface="Aptos Display" pitchFamily="34" charset="-122"/>
                <a:cs typeface="Aptos Display" pitchFamily="34" charset="-120"/>
              </a:rPr>
              <a:t>COMMAND AND CARE</a:t>
            </a:r>
            <a:endParaRPr lang="en-US" sz="1600" dirty="0"/>
          </a:p>
        </p:txBody>
      </p:sp>
      <p:sp>
        <p:nvSpPr>
          <p:cNvPr id="9" name="Text 4"/>
          <p:cNvSpPr/>
          <p:nvPr/>
        </p:nvSpPr>
        <p:spPr>
          <a:xfrm>
            <a:off x="676656" y="5596128"/>
            <a:ext cx="10881360" cy="502920"/>
          </a:xfrm>
          <a:prstGeom prst="rect">
            <a:avLst/>
          </a:prstGeom>
          <a:noFill/>
          <a:ln/>
        </p:spPr>
        <p:txBody>
          <a:bodyPr wrap="square" lIns="0" tIns="0" rIns="0" bIns="0" rtlCol="0" anchor="t">
            <a:normAutofit/>
          </a:bodyPr>
          <a:lstStyle/>
          <a:p>
            <a:pPr indent="0" marL="0">
              <a:buNone/>
            </a:pPr>
            <a:r>
              <a:rPr lang="en-US" sz="1600" dirty="0">
                <a:solidFill>
                  <a:srgbClr val="B7B8B2"/>
                </a:solidFill>
                <a:latin typeface="Aptos" pitchFamily="34" charset="0"/>
                <a:ea typeface="Aptos" pitchFamily="34" charset="-122"/>
                <a:cs typeface="Aptos" pitchFamily="34" charset="-120"/>
              </a:rPr>
              <a:t>Blue-black nights, institutional olive, worn paper, and the red glow of Building 1147. Close observation carries the suspense.</a:t>
            </a:r>
            <a:endParaRPr lang="en-US" sz="1600" dirty="0"/>
          </a:p>
        </p:txBody>
      </p:sp>
      <p:sp>
        <p:nvSpPr>
          <p:cNvPr id="10" name="Text 5"/>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11" name="Text 6"/>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Casting wishlist</a:t>
            </a:r>
            <a:endParaRPr lang="en-US" sz="3200" dirty="0"/>
          </a:p>
        </p:txBody>
      </p:sp>
      <p:sp>
        <p:nvSpPr>
          <p:cNvPr id="3" name="Text 1"/>
          <p:cNvSpPr/>
          <p:nvPr/>
        </p:nvSpPr>
        <p:spPr>
          <a:xfrm>
            <a:off x="658368" y="1234440"/>
            <a:ext cx="10515600" cy="292608"/>
          </a:xfrm>
          <a:prstGeom prst="rect">
            <a:avLst/>
          </a:prstGeom>
          <a:noFill/>
          <a:ln/>
        </p:spPr>
        <p:txBody>
          <a:bodyPr wrap="square" lIns="0" tIns="0" rIns="0" bIns="0" rtlCol="0" anchor="ctr">
            <a:normAutofit/>
          </a:bodyPr>
          <a:lstStyle/>
          <a:p>
            <a:pPr indent="0" marL="0">
              <a:buNone/>
            </a:pPr>
            <a:r>
              <a:rPr lang="en-US" sz="1100" b="1" spc="200" kern="0" dirty="0">
                <a:solidFill>
                  <a:srgbClr val="B83B37"/>
                </a:solidFill>
                <a:latin typeface="Aptos Display" pitchFamily="34" charset="0"/>
                <a:ea typeface="Aptos Display" pitchFamily="34" charset="-122"/>
                <a:cs typeface="Aptos Display" pitchFamily="34" charset="-120"/>
              </a:rPr>
              <a:t>SUGGESTED CONVERSATIONS  /  NO ATTACHMENTS</a:t>
            </a:r>
            <a:endParaRPr lang="en-US" sz="1100" dirty="0"/>
          </a:p>
        </p:txBody>
      </p:sp>
      <p:sp>
        <p:nvSpPr>
          <p:cNvPr id="4" name="Text 2"/>
          <p:cNvSpPr/>
          <p:nvPr/>
        </p:nvSpPr>
        <p:spPr>
          <a:xfrm>
            <a:off x="685800" y="1755648"/>
            <a:ext cx="5303520" cy="320040"/>
          </a:xfrm>
          <a:prstGeom prst="rect">
            <a:avLst/>
          </a:prstGeom>
          <a:noFill/>
          <a:ln/>
        </p:spPr>
        <p:txBody>
          <a:bodyPr wrap="square" lIns="0" tIns="0" rIns="0" bIns="0" rtlCol="0" anchor="ctr">
            <a:normAutofit/>
          </a:bodyPr>
          <a:lstStyle/>
          <a:p>
            <a:pPr indent="0" marL="0">
              <a:buNone/>
            </a:pPr>
            <a:r>
              <a:rPr lang="en-US" sz="1400" b="1" spc="100" kern="0" dirty="0">
                <a:solidFill>
                  <a:srgbClr val="B83B37"/>
                </a:solidFill>
                <a:latin typeface="Aptos Display" pitchFamily="34" charset="0"/>
                <a:ea typeface="Aptos Display" pitchFamily="34" charset="-122"/>
                <a:cs typeface="Aptos Display" pitchFamily="34" charset="-120"/>
              </a:rPr>
              <a:t>JORDAN HAYES</a:t>
            </a:r>
            <a:endParaRPr lang="en-US" sz="1400" dirty="0"/>
          </a:p>
        </p:txBody>
      </p:sp>
      <p:sp>
        <p:nvSpPr>
          <p:cNvPr id="5" name="Text 3"/>
          <p:cNvSpPr/>
          <p:nvPr/>
        </p:nvSpPr>
        <p:spPr>
          <a:xfrm>
            <a:off x="685800" y="2231136"/>
            <a:ext cx="5303520" cy="448056"/>
          </a:xfrm>
          <a:prstGeom prst="rect">
            <a:avLst/>
          </a:prstGeom>
          <a:noFill/>
          <a:ln/>
        </p:spPr>
        <p:txBody>
          <a:bodyPr wrap="square" lIns="0" tIns="0" rIns="0" bIns="0" rtlCol="0" anchor="ctr">
            <a:normAutofit/>
          </a:bodyPr>
          <a:lstStyle/>
          <a:p>
            <a:pPr indent="0" marL="0">
              <a:buNone/>
            </a:pPr>
            <a:r>
              <a:rPr lang="en-US" sz="2400" b="1" dirty="0">
                <a:solidFill>
                  <a:srgbClr val="F3EDE1"/>
                </a:solidFill>
                <a:latin typeface="Aptos Display" pitchFamily="34" charset="0"/>
                <a:ea typeface="Aptos Display" pitchFamily="34" charset="-122"/>
                <a:cs typeface="Aptos Display" pitchFamily="34" charset="-120"/>
              </a:rPr>
              <a:t>Dominique Fishback</a:t>
            </a:r>
            <a:endParaRPr lang="en-US" sz="2400" dirty="0"/>
          </a:p>
        </p:txBody>
      </p:sp>
      <p:sp>
        <p:nvSpPr>
          <p:cNvPr id="6" name="Text 4"/>
          <p:cNvSpPr/>
          <p:nvPr/>
        </p:nvSpPr>
        <p:spPr>
          <a:xfrm>
            <a:off x="685800" y="2743200"/>
            <a:ext cx="5303520" cy="384048"/>
          </a:xfrm>
          <a:prstGeom prst="rect">
            <a:avLst/>
          </a:prstGeom>
          <a:noFill/>
          <a:ln/>
        </p:spPr>
        <p:txBody>
          <a:bodyPr wrap="square" lIns="0" tIns="0" rIns="0" bIns="0" rtlCol="0" anchor="ctr">
            <a:normAutofit/>
          </a:bodyPr>
          <a:lstStyle/>
          <a:p>
            <a:pPr indent="0" marL="0">
              <a:buNone/>
            </a:pPr>
            <a:r>
              <a:rPr lang="en-US" sz="1800" dirty="0">
                <a:solidFill>
                  <a:srgbClr val="B7B8B2"/>
                </a:solidFill>
                <a:latin typeface="Aptos" pitchFamily="34" charset="0"/>
                <a:ea typeface="Aptos" pitchFamily="34" charset="-122"/>
                <a:cs typeface="Aptos" pitchFamily="34" charset="-120"/>
              </a:rPr>
              <a:t>or Kiki Layne</a:t>
            </a:r>
            <a:endParaRPr lang="en-US" sz="1800" dirty="0"/>
          </a:p>
        </p:txBody>
      </p:sp>
      <p:sp>
        <p:nvSpPr>
          <p:cNvPr id="7" name="Text 5"/>
          <p:cNvSpPr/>
          <p:nvPr/>
        </p:nvSpPr>
        <p:spPr>
          <a:xfrm>
            <a:off x="6400800" y="1755648"/>
            <a:ext cx="5303520" cy="320040"/>
          </a:xfrm>
          <a:prstGeom prst="rect">
            <a:avLst/>
          </a:prstGeom>
          <a:noFill/>
          <a:ln/>
        </p:spPr>
        <p:txBody>
          <a:bodyPr wrap="square" lIns="0" tIns="0" rIns="0" bIns="0" rtlCol="0" anchor="ctr">
            <a:normAutofit/>
          </a:bodyPr>
          <a:lstStyle/>
          <a:p>
            <a:pPr indent="0" marL="0">
              <a:buNone/>
            </a:pPr>
            <a:r>
              <a:rPr lang="en-US" sz="1400" b="1" spc="100" kern="0" dirty="0">
                <a:solidFill>
                  <a:srgbClr val="B83B37"/>
                </a:solidFill>
                <a:latin typeface="Aptos Display" pitchFamily="34" charset="0"/>
                <a:ea typeface="Aptos Display" pitchFamily="34" charset="-122"/>
                <a:cs typeface="Aptos Display" pitchFamily="34" charset="-120"/>
              </a:rPr>
              <a:t>DIANE MERCER</a:t>
            </a:r>
            <a:endParaRPr lang="en-US" sz="1400" dirty="0"/>
          </a:p>
        </p:txBody>
      </p:sp>
      <p:sp>
        <p:nvSpPr>
          <p:cNvPr id="8" name="Text 6"/>
          <p:cNvSpPr/>
          <p:nvPr/>
        </p:nvSpPr>
        <p:spPr>
          <a:xfrm>
            <a:off x="6400800" y="2231136"/>
            <a:ext cx="5303520" cy="448056"/>
          </a:xfrm>
          <a:prstGeom prst="rect">
            <a:avLst/>
          </a:prstGeom>
          <a:noFill/>
          <a:ln/>
        </p:spPr>
        <p:txBody>
          <a:bodyPr wrap="square" lIns="0" tIns="0" rIns="0" bIns="0" rtlCol="0" anchor="ctr">
            <a:normAutofit/>
          </a:bodyPr>
          <a:lstStyle/>
          <a:p>
            <a:pPr indent="0" marL="0">
              <a:buNone/>
            </a:pPr>
            <a:r>
              <a:rPr lang="en-US" sz="2400" b="1" dirty="0">
                <a:solidFill>
                  <a:srgbClr val="F3EDE1"/>
                </a:solidFill>
                <a:latin typeface="Aptos Display" pitchFamily="34" charset="0"/>
                <a:ea typeface="Aptos Display" pitchFamily="34" charset="-122"/>
                <a:cs typeface="Aptos Display" pitchFamily="34" charset="-120"/>
              </a:rPr>
              <a:t>Robin Wright</a:t>
            </a:r>
            <a:endParaRPr lang="en-US" sz="2400" dirty="0"/>
          </a:p>
        </p:txBody>
      </p:sp>
      <p:sp>
        <p:nvSpPr>
          <p:cNvPr id="9" name="Text 7"/>
          <p:cNvSpPr/>
          <p:nvPr/>
        </p:nvSpPr>
        <p:spPr>
          <a:xfrm>
            <a:off x="6400800" y="2743200"/>
            <a:ext cx="5303520" cy="384048"/>
          </a:xfrm>
          <a:prstGeom prst="rect">
            <a:avLst/>
          </a:prstGeom>
          <a:noFill/>
          <a:ln/>
        </p:spPr>
        <p:txBody>
          <a:bodyPr wrap="square" lIns="0" tIns="0" rIns="0" bIns="0" rtlCol="0" anchor="ctr">
            <a:normAutofit/>
          </a:bodyPr>
          <a:lstStyle/>
          <a:p>
            <a:pPr indent="0" marL="0">
              <a:buNone/>
            </a:pPr>
            <a:r>
              <a:rPr lang="en-US" sz="1800" dirty="0">
                <a:solidFill>
                  <a:srgbClr val="B7B8B2"/>
                </a:solidFill>
                <a:latin typeface="Aptos" pitchFamily="34" charset="0"/>
                <a:ea typeface="Aptos" pitchFamily="34" charset="-122"/>
                <a:cs typeface="Aptos" pitchFamily="34" charset="-120"/>
              </a:rPr>
              <a:t>or Laura Linney</a:t>
            </a:r>
            <a:endParaRPr lang="en-US" sz="1800" dirty="0"/>
          </a:p>
        </p:txBody>
      </p:sp>
      <p:sp>
        <p:nvSpPr>
          <p:cNvPr id="10" name="Text 8"/>
          <p:cNvSpPr/>
          <p:nvPr/>
        </p:nvSpPr>
        <p:spPr>
          <a:xfrm>
            <a:off x="685800" y="3657600"/>
            <a:ext cx="5303520" cy="320040"/>
          </a:xfrm>
          <a:prstGeom prst="rect">
            <a:avLst/>
          </a:prstGeom>
          <a:noFill/>
          <a:ln/>
        </p:spPr>
        <p:txBody>
          <a:bodyPr wrap="square" lIns="0" tIns="0" rIns="0" bIns="0" rtlCol="0" anchor="ctr">
            <a:normAutofit/>
          </a:bodyPr>
          <a:lstStyle/>
          <a:p>
            <a:pPr indent="0" marL="0">
              <a:buNone/>
            </a:pPr>
            <a:r>
              <a:rPr lang="en-US" sz="1400" b="1" spc="100" kern="0" dirty="0">
                <a:solidFill>
                  <a:srgbClr val="B83B37"/>
                </a:solidFill>
                <a:latin typeface="Aptos Display" pitchFamily="34" charset="0"/>
                <a:ea typeface="Aptos Display" pitchFamily="34" charset="-122"/>
                <a:cs typeface="Aptos Display" pitchFamily="34" charset="-120"/>
              </a:rPr>
              <a:t>ISAIAH BROOKS</a:t>
            </a:r>
            <a:endParaRPr lang="en-US" sz="1400" dirty="0"/>
          </a:p>
        </p:txBody>
      </p:sp>
      <p:sp>
        <p:nvSpPr>
          <p:cNvPr id="11" name="Text 9"/>
          <p:cNvSpPr/>
          <p:nvPr/>
        </p:nvSpPr>
        <p:spPr>
          <a:xfrm>
            <a:off x="685800" y="4133088"/>
            <a:ext cx="5303520" cy="448056"/>
          </a:xfrm>
          <a:prstGeom prst="rect">
            <a:avLst/>
          </a:prstGeom>
          <a:noFill/>
          <a:ln/>
        </p:spPr>
        <p:txBody>
          <a:bodyPr wrap="square" lIns="0" tIns="0" rIns="0" bIns="0" rtlCol="0" anchor="ctr">
            <a:normAutofit/>
          </a:bodyPr>
          <a:lstStyle/>
          <a:p>
            <a:pPr indent="0" marL="0">
              <a:buNone/>
            </a:pPr>
            <a:r>
              <a:rPr lang="en-US" sz="2400" b="1" dirty="0">
                <a:solidFill>
                  <a:srgbClr val="F3EDE1"/>
                </a:solidFill>
                <a:latin typeface="Aptos Display" pitchFamily="34" charset="0"/>
                <a:ea typeface="Aptos Display" pitchFamily="34" charset="-122"/>
                <a:cs typeface="Aptos Display" pitchFamily="34" charset="-120"/>
              </a:rPr>
              <a:t>Sterling K. Brown</a:t>
            </a:r>
            <a:endParaRPr lang="en-US" sz="2400" dirty="0"/>
          </a:p>
        </p:txBody>
      </p:sp>
      <p:sp>
        <p:nvSpPr>
          <p:cNvPr id="12" name="Text 10"/>
          <p:cNvSpPr/>
          <p:nvPr/>
        </p:nvSpPr>
        <p:spPr>
          <a:xfrm>
            <a:off x="685800" y="4645152"/>
            <a:ext cx="5303520" cy="384048"/>
          </a:xfrm>
          <a:prstGeom prst="rect">
            <a:avLst/>
          </a:prstGeom>
          <a:noFill/>
          <a:ln/>
        </p:spPr>
        <p:txBody>
          <a:bodyPr wrap="square" lIns="0" tIns="0" rIns="0" bIns="0" rtlCol="0" anchor="ctr">
            <a:normAutofit/>
          </a:bodyPr>
          <a:lstStyle/>
          <a:p>
            <a:pPr indent="0" marL="0">
              <a:buNone/>
            </a:pPr>
            <a:r>
              <a:rPr lang="en-US" sz="1800" dirty="0">
                <a:solidFill>
                  <a:srgbClr val="B7B8B2"/>
                </a:solidFill>
                <a:latin typeface="Aptos" pitchFamily="34" charset="0"/>
                <a:ea typeface="Aptos" pitchFamily="34" charset="-122"/>
                <a:cs typeface="Aptos" pitchFamily="34" charset="-120"/>
              </a:rPr>
              <a:t>or Colman Domingo</a:t>
            </a:r>
            <a:endParaRPr lang="en-US" sz="1800" dirty="0"/>
          </a:p>
        </p:txBody>
      </p:sp>
      <p:sp>
        <p:nvSpPr>
          <p:cNvPr id="13" name="Text 11"/>
          <p:cNvSpPr/>
          <p:nvPr/>
        </p:nvSpPr>
        <p:spPr>
          <a:xfrm>
            <a:off x="6400800" y="3657600"/>
            <a:ext cx="5303520" cy="320040"/>
          </a:xfrm>
          <a:prstGeom prst="rect">
            <a:avLst/>
          </a:prstGeom>
          <a:noFill/>
          <a:ln/>
        </p:spPr>
        <p:txBody>
          <a:bodyPr wrap="square" lIns="0" tIns="0" rIns="0" bIns="0" rtlCol="0" anchor="ctr">
            <a:normAutofit/>
          </a:bodyPr>
          <a:lstStyle/>
          <a:p>
            <a:pPr indent="0" marL="0">
              <a:buNone/>
            </a:pPr>
            <a:r>
              <a:rPr lang="en-US" sz="1400" b="1" spc="100" kern="0" dirty="0">
                <a:solidFill>
                  <a:srgbClr val="B83B37"/>
                </a:solidFill>
                <a:latin typeface="Aptos Display" pitchFamily="34" charset="0"/>
                <a:ea typeface="Aptos Display" pitchFamily="34" charset="-122"/>
                <a:cs typeface="Aptos Display" pitchFamily="34" charset="-120"/>
              </a:rPr>
              <a:t>CARLA RUIZ</a:t>
            </a:r>
            <a:endParaRPr lang="en-US" sz="1400" dirty="0"/>
          </a:p>
        </p:txBody>
      </p:sp>
      <p:sp>
        <p:nvSpPr>
          <p:cNvPr id="14" name="Text 12"/>
          <p:cNvSpPr/>
          <p:nvPr/>
        </p:nvSpPr>
        <p:spPr>
          <a:xfrm>
            <a:off x="6400800" y="4133088"/>
            <a:ext cx="5303520" cy="448056"/>
          </a:xfrm>
          <a:prstGeom prst="rect">
            <a:avLst/>
          </a:prstGeom>
          <a:noFill/>
          <a:ln/>
        </p:spPr>
        <p:txBody>
          <a:bodyPr wrap="square" lIns="0" tIns="0" rIns="0" bIns="0" rtlCol="0" anchor="ctr">
            <a:normAutofit/>
          </a:bodyPr>
          <a:lstStyle/>
          <a:p>
            <a:pPr indent="0" marL="0">
              <a:buNone/>
            </a:pPr>
            <a:r>
              <a:rPr lang="en-US" sz="2400" b="1" dirty="0">
                <a:solidFill>
                  <a:srgbClr val="F3EDE1"/>
                </a:solidFill>
                <a:latin typeface="Aptos Display" pitchFamily="34" charset="0"/>
                <a:ea typeface="Aptos Display" pitchFamily="34" charset="-122"/>
                <a:cs typeface="Aptos Display" pitchFamily="34" charset="-120"/>
              </a:rPr>
              <a:t>Xochitl Gomez</a:t>
            </a:r>
            <a:endParaRPr lang="en-US" sz="2400" dirty="0"/>
          </a:p>
        </p:txBody>
      </p:sp>
      <p:sp>
        <p:nvSpPr>
          <p:cNvPr id="15" name="Text 13"/>
          <p:cNvSpPr/>
          <p:nvPr/>
        </p:nvSpPr>
        <p:spPr>
          <a:xfrm>
            <a:off x="6400800" y="4645152"/>
            <a:ext cx="5303520" cy="384048"/>
          </a:xfrm>
          <a:prstGeom prst="rect">
            <a:avLst/>
          </a:prstGeom>
          <a:noFill/>
          <a:ln/>
        </p:spPr>
        <p:txBody>
          <a:bodyPr wrap="square" lIns="0" tIns="0" rIns="0" bIns="0" rtlCol="0" anchor="ctr">
            <a:normAutofit/>
          </a:bodyPr>
          <a:lstStyle/>
          <a:p>
            <a:pPr indent="0" marL="0">
              <a:buNone/>
            </a:pPr>
            <a:r>
              <a:rPr lang="en-US" sz="1800" dirty="0">
                <a:solidFill>
                  <a:srgbClr val="B7B8B2"/>
                </a:solidFill>
                <a:latin typeface="Aptos" pitchFamily="34" charset="0"/>
                <a:ea typeface="Aptos" pitchFamily="34" charset="-122"/>
                <a:cs typeface="Aptos" pitchFamily="34" charset="-120"/>
              </a:rPr>
              <a:t>or Isabela Merced</a:t>
            </a:r>
            <a:endParaRPr lang="en-US" sz="1800" dirty="0"/>
          </a:p>
        </p:txBody>
      </p:sp>
      <p:sp>
        <p:nvSpPr>
          <p:cNvPr id="16" name="Text 14"/>
          <p:cNvSpPr/>
          <p:nvPr/>
        </p:nvSpPr>
        <p:spPr>
          <a:xfrm>
            <a:off x="694944" y="5897880"/>
            <a:ext cx="10789920" cy="420624"/>
          </a:xfrm>
          <a:prstGeom prst="rect">
            <a:avLst/>
          </a:prstGeom>
          <a:noFill/>
          <a:ln/>
        </p:spPr>
        <p:txBody>
          <a:bodyPr wrap="square" lIns="0" tIns="0" rIns="0" bIns="0" rtlCol="0" anchor="t">
            <a:normAutofit/>
          </a:bodyPr>
          <a:lstStyle/>
          <a:p>
            <a:pPr indent="0" marL="0">
              <a:buNone/>
            </a:pPr>
            <a:r>
              <a:rPr lang="en-US" sz="1500" dirty="0">
                <a:solidFill>
                  <a:srgbClr val="B6A27F"/>
                </a:solidFill>
                <a:latin typeface="Aptos" pitchFamily="34" charset="0"/>
                <a:ea typeface="Aptos" pitchFamily="34" charset="-122"/>
                <a:cs typeface="Aptos" pitchFamily="34" charset="-120"/>
              </a:rPr>
              <a:t>The roles call for a precise investigative lead, a formidable maternal antagonist, and supporting players who make the cost of speaking tangible.</a:t>
            </a:r>
            <a:endParaRPr lang="en-US" sz="1500" dirty="0"/>
          </a:p>
        </p:txBody>
      </p:sp>
      <p:sp>
        <p:nvSpPr>
          <p:cNvPr id="17" name="Text 15"/>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18" name="Text 16"/>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Audience and platform fit</a:t>
            </a:r>
            <a:endParaRPr lang="en-US" sz="3200" dirty="0"/>
          </a:p>
        </p:txBody>
      </p:sp>
      <p:sp>
        <p:nvSpPr>
          <p:cNvPr id="3" name="Text 1"/>
          <p:cNvSpPr/>
          <p:nvPr/>
        </p:nvSpPr>
        <p:spPr>
          <a:xfrm>
            <a:off x="658368" y="1234440"/>
            <a:ext cx="10515600" cy="292608"/>
          </a:xfrm>
          <a:prstGeom prst="rect">
            <a:avLst/>
          </a:prstGeom>
          <a:noFill/>
          <a:ln/>
        </p:spPr>
        <p:txBody>
          <a:bodyPr wrap="square" lIns="0" tIns="0" rIns="0" bIns="0" rtlCol="0" anchor="ctr">
            <a:normAutofit/>
          </a:bodyPr>
          <a:lstStyle/>
          <a:p>
            <a:pPr indent="0" marL="0">
              <a:buNone/>
            </a:pPr>
            <a:r>
              <a:rPr lang="en-US" sz="1100" b="1" spc="200" kern="0" dirty="0">
                <a:solidFill>
                  <a:srgbClr val="B83B37"/>
                </a:solidFill>
                <a:latin typeface="Aptos Display" pitchFamily="34" charset="0"/>
                <a:ea typeface="Aptos Display" pitchFamily="34" charset="-122"/>
                <a:cs typeface="Aptos Display" pitchFamily="34" charset="-120"/>
              </a:rPr>
              <a:t>PREMIUM STREAMING OR SPECIALTY FEATURE</a:t>
            </a:r>
            <a:endParaRPr lang="en-US" sz="1100" dirty="0"/>
          </a:p>
        </p:txBody>
      </p:sp>
      <p:sp>
        <p:nvSpPr>
          <p:cNvPr id="4" name="Text 2"/>
          <p:cNvSpPr/>
          <p:nvPr/>
        </p:nvSpPr>
        <p:spPr>
          <a:xfrm>
            <a:off x="713232" y="1627632"/>
            <a:ext cx="2743200" cy="420624"/>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A sharp premise</a:t>
            </a:r>
            <a:endParaRPr lang="en-US" sz="1800" dirty="0"/>
          </a:p>
        </p:txBody>
      </p:sp>
      <p:sp>
        <p:nvSpPr>
          <p:cNvPr id="5" name="Text 3"/>
          <p:cNvSpPr/>
          <p:nvPr/>
        </p:nvSpPr>
        <p:spPr>
          <a:xfrm>
            <a:off x="3474720" y="1627632"/>
            <a:ext cx="8028432" cy="48463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A death on an Army post exposes a program with a twenty-year history.</a:t>
            </a:r>
            <a:endParaRPr lang="en-US" sz="1700" dirty="0"/>
          </a:p>
        </p:txBody>
      </p:sp>
      <p:sp>
        <p:nvSpPr>
          <p:cNvPr id="6" name="Text 4"/>
          <p:cNvSpPr/>
          <p:nvPr/>
        </p:nvSpPr>
        <p:spPr>
          <a:xfrm>
            <a:off x="713232" y="2496312"/>
            <a:ext cx="2743200" cy="420624"/>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Two major roles</a:t>
            </a:r>
            <a:endParaRPr lang="en-US" sz="1800" dirty="0"/>
          </a:p>
        </p:txBody>
      </p:sp>
      <p:sp>
        <p:nvSpPr>
          <p:cNvPr id="7" name="Text 5"/>
          <p:cNvSpPr/>
          <p:nvPr/>
        </p:nvSpPr>
        <p:spPr>
          <a:xfrm>
            <a:off x="3474720" y="2496312"/>
            <a:ext cx="8028432" cy="48463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Jordan and Mercer drive the thriller and its emotional stakes.</a:t>
            </a:r>
            <a:endParaRPr lang="en-US" sz="1700" dirty="0"/>
          </a:p>
        </p:txBody>
      </p:sp>
      <p:sp>
        <p:nvSpPr>
          <p:cNvPr id="8" name="Text 6"/>
          <p:cNvSpPr/>
          <p:nvPr/>
        </p:nvSpPr>
        <p:spPr>
          <a:xfrm>
            <a:off x="713232" y="3364992"/>
            <a:ext cx="2743200" cy="420624"/>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Contained production</a:t>
            </a:r>
            <a:endParaRPr lang="en-US" sz="1800" dirty="0"/>
          </a:p>
        </p:txBody>
      </p:sp>
      <p:sp>
        <p:nvSpPr>
          <p:cNvPr id="9" name="Text 7"/>
          <p:cNvSpPr/>
          <p:nvPr/>
        </p:nvSpPr>
        <p:spPr>
          <a:xfrm>
            <a:off x="3474720" y="3364992"/>
            <a:ext cx="8028432" cy="48463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The post, motel, records room, warehouse, and hearing anchor the story.</a:t>
            </a:r>
            <a:endParaRPr lang="en-US" sz="1700" dirty="0"/>
          </a:p>
        </p:txBody>
      </p:sp>
      <p:sp>
        <p:nvSpPr>
          <p:cNvPr id="10" name="Text 8"/>
          <p:cNvSpPr/>
          <p:nvPr/>
        </p:nvSpPr>
        <p:spPr>
          <a:xfrm>
            <a:off x="713232" y="4233672"/>
            <a:ext cx="2743200" cy="420624"/>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Trailer moments</a:t>
            </a:r>
            <a:endParaRPr lang="en-US" sz="1800" dirty="0"/>
          </a:p>
        </p:txBody>
      </p:sp>
      <p:sp>
        <p:nvSpPr>
          <p:cNvPr id="11" name="Text 9"/>
          <p:cNvSpPr/>
          <p:nvPr/>
        </p:nvSpPr>
        <p:spPr>
          <a:xfrm>
            <a:off x="3474720" y="4233672"/>
            <a:ext cx="8028432" cy="48463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The matching wrist burns, father’s file, witness removal, and public confrontation.</a:t>
            </a:r>
            <a:endParaRPr lang="en-US" sz="1700" dirty="0"/>
          </a:p>
        </p:txBody>
      </p:sp>
      <p:sp>
        <p:nvSpPr>
          <p:cNvPr id="12" name="Text 10"/>
          <p:cNvSpPr/>
          <p:nvPr/>
        </p:nvSpPr>
        <p:spPr>
          <a:xfrm>
            <a:off x="713232" y="5102352"/>
            <a:ext cx="2743200" cy="420624"/>
          </a:xfrm>
          <a:prstGeom prst="rect">
            <a:avLst/>
          </a:prstGeom>
          <a:noFill/>
          <a:ln/>
        </p:spPr>
        <p:txBody>
          <a:bodyPr wrap="square" lIns="0" tIns="0" rIns="0" bIns="0" rtlCol="0" anchor="ctr">
            <a:normAutofit/>
          </a:bodyPr>
          <a:lstStyle/>
          <a:p>
            <a:pPr indent="0" marL="0">
              <a:buNone/>
            </a:pPr>
            <a:r>
              <a:rPr lang="en-US" sz="1800" b="1" dirty="0">
                <a:solidFill>
                  <a:srgbClr val="B6A27F"/>
                </a:solidFill>
                <a:latin typeface="Aptos Display" pitchFamily="34" charset="0"/>
                <a:ea typeface="Aptos Display" pitchFamily="34" charset="-122"/>
                <a:cs typeface="Aptos Display" pitchFamily="34" charset="-120"/>
              </a:rPr>
              <a:t>Conversation after the credits</a:t>
            </a:r>
            <a:endParaRPr lang="en-US" sz="1800" dirty="0"/>
          </a:p>
        </p:txBody>
      </p:sp>
      <p:sp>
        <p:nvSpPr>
          <p:cNvPr id="13" name="Text 11"/>
          <p:cNvSpPr/>
          <p:nvPr/>
        </p:nvSpPr>
        <p:spPr>
          <a:xfrm>
            <a:off x="3474720" y="5102352"/>
            <a:ext cx="8028432" cy="484632"/>
          </a:xfrm>
          <a:prstGeom prst="rect">
            <a:avLst/>
          </a:prstGeom>
          <a:noFill/>
          <a:ln/>
        </p:spPr>
        <p:txBody>
          <a:bodyPr wrap="square" lIns="0" tIns="0" rIns="0" bIns="0" rtlCol="0" anchor="t">
            <a:normAutofit/>
          </a:bodyPr>
          <a:lstStyle/>
          <a:p>
            <a:pPr indent="0" marL="0">
              <a:buNone/>
            </a:pPr>
            <a:r>
              <a:rPr lang="en-US" sz="1700" dirty="0">
                <a:solidFill>
                  <a:srgbClr val="F3EDE1"/>
                </a:solidFill>
                <a:latin typeface="Aptos" pitchFamily="34" charset="0"/>
                <a:ea typeface="Aptos" pitchFamily="34" charset="-122"/>
                <a:cs typeface="Aptos" pitchFamily="34" charset="-120"/>
              </a:rPr>
              <a:t>Loyalty, duty, and institutional accountability remain in tension.</a:t>
            </a:r>
            <a:endParaRPr lang="en-US" sz="1700" dirty="0"/>
          </a:p>
        </p:txBody>
      </p:sp>
      <p:sp>
        <p:nvSpPr>
          <p:cNvPr id="14" name="Text 12"/>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15" name="Text 13"/>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1B"/>
        </a:solidFill>
      </p:bgPr>
    </p:bg>
    <p:spTree>
      <p:nvGrpSpPr>
        <p:cNvPr id="1" name=""/>
        <p:cNvGrpSpPr/>
        <p:nvPr/>
      </p:nvGrpSpPr>
      <p:grpSpPr>
        <a:xfrm>
          <a:off x="0" y="0"/>
          <a:ext cx="0" cy="0"/>
          <a:chOff x="0" y="0"/>
          <a:chExt cx="0" cy="0"/>
        </a:xfrm>
      </p:grpSpPr>
      <p:sp>
        <p:nvSpPr>
          <p:cNvPr id="2" name="Text 0"/>
          <p:cNvSpPr/>
          <p:nvPr/>
        </p:nvSpPr>
        <p:spPr>
          <a:xfrm>
            <a:off x="640080" y="502920"/>
            <a:ext cx="10881360" cy="621792"/>
          </a:xfrm>
          <a:prstGeom prst="rect">
            <a:avLst/>
          </a:prstGeom>
          <a:noFill/>
          <a:ln/>
        </p:spPr>
        <p:txBody>
          <a:bodyPr wrap="square" lIns="0" tIns="0" rIns="0" bIns="0" rtlCol="0" anchor="ctr">
            <a:normAutofit/>
          </a:bodyPr>
          <a:lstStyle/>
          <a:p>
            <a:pPr indent="0" marL="0">
              <a:buNone/>
            </a:pPr>
            <a:r>
              <a:rPr lang="en-US" sz="3200" b="1" dirty="0">
                <a:solidFill>
                  <a:srgbClr val="F3EDE1"/>
                </a:solidFill>
                <a:latin typeface="Aptos Display" pitchFamily="34" charset="0"/>
                <a:ea typeface="Aptos Display" pitchFamily="34" charset="-122"/>
                <a:cs typeface="Aptos Display" pitchFamily="34" charset="-120"/>
              </a:rPr>
              <a:t>Materials and next steps</a:t>
            </a:r>
            <a:endParaRPr lang="en-US" sz="3200" dirty="0"/>
          </a:p>
        </p:txBody>
      </p:sp>
      <p:sp>
        <p:nvSpPr>
          <p:cNvPr id="3" name="Text 1"/>
          <p:cNvSpPr/>
          <p:nvPr/>
        </p:nvSpPr>
        <p:spPr>
          <a:xfrm>
            <a:off x="713232" y="1600200"/>
            <a:ext cx="4297680" cy="347472"/>
          </a:xfrm>
          <a:prstGeom prst="rect">
            <a:avLst/>
          </a:prstGeom>
          <a:noFill/>
          <a:ln/>
        </p:spPr>
        <p:txBody>
          <a:bodyPr wrap="square" lIns="0" tIns="0" rIns="0" bIns="0" rtlCol="0" anchor="ctr">
            <a:normAutofit/>
          </a:bodyPr>
          <a:lstStyle/>
          <a:p>
            <a:pPr indent="0" marL="0">
              <a:buNone/>
            </a:pPr>
            <a:r>
              <a:rPr lang="en-US" sz="1500" b="1" spc="150" kern="0" dirty="0">
                <a:solidFill>
                  <a:srgbClr val="B83B37"/>
                </a:solidFill>
                <a:latin typeface="Aptos Display" pitchFamily="34" charset="0"/>
                <a:ea typeface="Aptos Display" pitchFamily="34" charset="-122"/>
                <a:cs typeface="Aptos Display" pitchFamily="34" charset="-120"/>
              </a:rPr>
              <a:t>AVAILABLE</a:t>
            </a:r>
            <a:endParaRPr lang="en-US" sz="1500" dirty="0"/>
          </a:p>
        </p:txBody>
      </p:sp>
      <p:sp>
        <p:nvSpPr>
          <p:cNvPr id="4" name="Text 2"/>
          <p:cNvSpPr/>
          <p:nvPr/>
        </p:nvSpPr>
        <p:spPr>
          <a:xfrm>
            <a:off x="713232" y="2057400"/>
            <a:ext cx="5029200" cy="2377440"/>
          </a:xfrm>
          <a:prstGeom prst="rect">
            <a:avLst/>
          </a:prstGeom>
          <a:noFill/>
          <a:ln/>
        </p:spPr>
        <p:txBody>
          <a:bodyPr wrap="square" lIns="0" tIns="0" rIns="0" bIns="0" rtlCol="0" anchor="t">
            <a:normAutofit/>
          </a:bodyPr>
          <a:lstStyle/>
          <a:p>
            <a:pPr indent="0" marL="0">
              <a:buNone/>
            </a:pPr>
            <a:r>
              <a:rPr lang="en-US" sz="1900" dirty="0">
                <a:solidFill>
                  <a:srgbClr val="F3EDE1"/>
                </a:solidFill>
                <a:latin typeface="Aptos" pitchFamily="34" charset="0"/>
                <a:ea typeface="Aptos" pitchFamily="34" charset="-122"/>
                <a:cs typeface="Aptos" pitchFamily="34" charset="-120"/>
              </a:rPr>
              <a:t>Second draft screenplay (87-page PDF)</a:t>
            </a:r>
            <a:endParaRPr lang="en-US" sz="1900" dirty="0"/>
          </a:p>
          <a:p>
            <a:pPr indent="0" marL="0">
              <a:buNone/>
            </a:pPr>
            <a:r>
              <a:rPr lang="en-US" sz="1900" dirty="0">
                <a:solidFill>
                  <a:srgbClr val="F3EDE1"/>
                </a:solidFill>
                <a:latin typeface="Aptos" pitchFamily="34" charset="0"/>
                <a:ea typeface="Aptos" pitchFamily="34" charset="-122"/>
                <a:cs typeface="Aptos" pitchFamily="34" charset="-120"/>
              </a:rPr>
              <a:t>First draft screenplay</a:t>
            </a:r>
            <a:endParaRPr lang="en-US" sz="1900" dirty="0"/>
          </a:p>
          <a:p>
            <a:pPr indent="0" marL="0">
              <a:buNone/>
            </a:pPr>
            <a:r>
              <a:rPr lang="en-US" sz="1900" dirty="0">
                <a:solidFill>
                  <a:srgbClr val="F3EDE1"/>
                </a:solidFill>
                <a:latin typeface="Aptos" pitchFamily="34" charset="0"/>
                <a:ea typeface="Aptos" pitchFamily="34" charset="-122"/>
                <a:cs typeface="Aptos" pitchFamily="34" charset="-120"/>
              </a:rPr>
              <a:t>16:9 concept poster</a:t>
            </a:r>
            <a:endParaRPr lang="en-US" sz="1900" dirty="0"/>
          </a:p>
          <a:p>
            <a:pPr indent="0" marL="0">
              <a:buNone/>
            </a:pPr>
            <a:r>
              <a:rPr lang="en-US" sz="1900" dirty="0">
                <a:solidFill>
                  <a:srgbClr val="F3EDE1"/>
                </a:solidFill>
                <a:latin typeface="Aptos" pitchFamily="34" charset="0"/>
                <a:ea typeface="Aptos" pitchFamily="34" charset="-122"/>
                <a:cs typeface="Aptos" pitchFamily="34" charset="-120"/>
              </a:rPr>
              <a:t>This editable pitch deck</a:t>
            </a:r>
            <a:endParaRPr lang="en-US" sz="1900" dirty="0"/>
          </a:p>
        </p:txBody>
      </p:sp>
      <p:sp>
        <p:nvSpPr>
          <p:cNvPr id="5" name="Text 3"/>
          <p:cNvSpPr/>
          <p:nvPr/>
        </p:nvSpPr>
        <p:spPr>
          <a:xfrm>
            <a:off x="6446520" y="1600200"/>
            <a:ext cx="4297680" cy="347472"/>
          </a:xfrm>
          <a:prstGeom prst="rect">
            <a:avLst/>
          </a:prstGeom>
          <a:noFill/>
          <a:ln/>
        </p:spPr>
        <p:txBody>
          <a:bodyPr wrap="square" lIns="0" tIns="0" rIns="0" bIns="0" rtlCol="0" anchor="ctr">
            <a:normAutofit/>
          </a:bodyPr>
          <a:lstStyle/>
          <a:p>
            <a:pPr indent="0" marL="0">
              <a:buNone/>
            </a:pPr>
            <a:r>
              <a:rPr lang="en-US" sz="1500" b="1" spc="150" kern="0" dirty="0">
                <a:solidFill>
                  <a:srgbClr val="B83B37"/>
                </a:solidFill>
                <a:latin typeface="Aptos Display" pitchFamily="34" charset="0"/>
                <a:ea typeface="Aptos Display" pitchFamily="34" charset="-122"/>
                <a:cs typeface="Aptos Display" pitchFamily="34" charset="-120"/>
              </a:rPr>
              <a:t>NEXT</a:t>
            </a:r>
            <a:endParaRPr lang="en-US" sz="1500" dirty="0"/>
          </a:p>
        </p:txBody>
      </p:sp>
      <p:sp>
        <p:nvSpPr>
          <p:cNvPr id="6" name="Text 4"/>
          <p:cNvSpPr/>
          <p:nvPr/>
        </p:nvSpPr>
        <p:spPr>
          <a:xfrm>
            <a:off x="6446520" y="2057400"/>
            <a:ext cx="4800600" cy="2743200"/>
          </a:xfrm>
          <a:prstGeom prst="rect">
            <a:avLst/>
          </a:prstGeom>
          <a:noFill/>
          <a:ln/>
        </p:spPr>
        <p:txBody>
          <a:bodyPr wrap="square" lIns="0" tIns="0" rIns="0" bIns="0" rtlCol="0" anchor="t">
            <a:normAutofit/>
          </a:bodyPr>
          <a:lstStyle/>
          <a:p>
            <a:pPr indent="0" marL="0">
              <a:buNone/>
            </a:pPr>
            <a:r>
              <a:rPr lang="en-US" sz="1800" dirty="0">
                <a:solidFill>
                  <a:srgbClr val="F3EDE1"/>
                </a:solidFill>
                <a:latin typeface="Aptos" pitchFamily="34" charset="0"/>
                <a:ea typeface="Aptos" pitchFamily="34" charset="-122"/>
                <a:cs typeface="Aptos" pitchFamily="34" charset="-120"/>
              </a:rPr>
              <a:t>Lock Tyler’s final sequence and the evidence trail.</a:t>
            </a:r>
            <a:endParaRPr lang="en-US" sz="1800" dirty="0"/>
          </a:p>
          <a:p>
            <a:pPr indent="0" marL="0">
              <a:buNone/>
            </a:pPr>
            <a:r>
              <a:rPr lang="en-US" sz="1800" dirty="0">
                <a:solidFill>
                  <a:srgbClr val="F3EDE1"/>
                </a:solidFill>
                <a:latin typeface="Aptos" pitchFamily="34" charset="0"/>
                <a:ea typeface="Aptos" pitchFamily="34" charset="-122"/>
                <a:cs typeface="Aptos" pitchFamily="34" charset="-120"/>
              </a:rPr>
              <a:t>Complete a military procedural review.</a:t>
            </a:r>
            <a:endParaRPr lang="en-US" sz="1800" dirty="0"/>
          </a:p>
          <a:p>
            <a:pPr indent="0" marL="0">
              <a:buNone/>
            </a:pPr>
            <a:r>
              <a:rPr lang="en-US" sz="1800" dirty="0">
                <a:solidFill>
                  <a:srgbClr val="F3EDE1"/>
                </a:solidFill>
                <a:latin typeface="Aptos" pitchFamily="34" charset="0"/>
                <a:ea typeface="Aptos" pitchFamily="34" charset="-122"/>
                <a:cs typeface="Aptos" pitchFamily="34" charset="-120"/>
              </a:rPr>
              <a:t>Prepare budget, schedule, and packaging plan.</a:t>
            </a:r>
            <a:endParaRPr lang="en-US" sz="1800" dirty="0"/>
          </a:p>
          <a:p>
            <a:pPr indent="0" marL="0">
              <a:buNone/>
            </a:pPr>
            <a:r>
              <a:rPr lang="en-US" sz="1800" dirty="0">
                <a:solidFill>
                  <a:srgbClr val="F3EDE1"/>
                </a:solidFill>
                <a:latin typeface="Aptos" pitchFamily="34" charset="0"/>
                <a:ea typeface="Aptos" pitchFamily="34" charset="-122"/>
                <a:cs typeface="Aptos" pitchFamily="34" charset="-120"/>
              </a:rPr>
              <a:t>Begin targeted cast and partner conversations.</a:t>
            </a:r>
            <a:endParaRPr lang="en-US" sz="1800" dirty="0"/>
          </a:p>
        </p:txBody>
      </p:sp>
      <p:sp>
        <p:nvSpPr>
          <p:cNvPr id="7" name="Text 5"/>
          <p:cNvSpPr/>
          <p:nvPr/>
        </p:nvSpPr>
        <p:spPr>
          <a:xfrm>
            <a:off x="713232" y="5852160"/>
            <a:ext cx="10789920" cy="457200"/>
          </a:xfrm>
          <a:prstGeom prst="rect">
            <a:avLst/>
          </a:prstGeom>
          <a:noFill/>
          <a:ln/>
        </p:spPr>
        <p:txBody>
          <a:bodyPr wrap="square" lIns="0" tIns="0" rIns="0" bIns="0" rtlCol="0" anchor="ctr">
            <a:normAutofit/>
          </a:bodyPr>
          <a:lstStyle/>
          <a:p>
            <a:pPr indent="0" marL="0">
              <a:buNone/>
            </a:pPr>
            <a:r>
              <a:rPr lang="en-US" sz="1900" b="1" spc="150" kern="0" dirty="0">
                <a:solidFill>
                  <a:srgbClr val="B6A27F"/>
                </a:solidFill>
                <a:latin typeface="Aptos Display" pitchFamily="34" charset="0"/>
                <a:ea typeface="Aptos Display" pitchFamily="34" charset="-122"/>
                <a:cs typeface="Aptos Display" pitchFamily="34" charset="-120"/>
              </a:rPr>
              <a:t>NCCA ENTERTAINMENT</a:t>
            </a:r>
            <a:endParaRPr lang="en-US" sz="1900" dirty="0"/>
          </a:p>
        </p:txBody>
      </p:sp>
      <p:sp>
        <p:nvSpPr>
          <p:cNvPr id="8" name="Text 6"/>
          <p:cNvSpPr/>
          <p:nvPr/>
        </p:nvSpPr>
        <p:spPr>
          <a:xfrm>
            <a:off x="640080" y="6510528"/>
            <a:ext cx="1828800" cy="164592"/>
          </a:xfrm>
          <a:prstGeom prst="rect">
            <a:avLst/>
          </a:prstGeom>
          <a:noFill/>
          <a:ln/>
        </p:spPr>
        <p:txBody>
          <a:bodyPr wrap="square" lIns="0" tIns="0" rIns="0" bIns="0" rtlCol="0" anchor="ctr">
            <a:normAutofit/>
          </a:bodyPr>
          <a:lstStyle/>
          <a:p>
            <a:pPr indent="0" marL="0">
              <a:buNone/>
            </a:pPr>
            <a:r>
              <a:rPr lang="en-US" sz="800" b="1" spc="130" kern="0" dirty="0">
                <a:solidFill>
                  <a:srgbClr val="677064"/>
                </a:solidFill>
                <a:latin typeface="Aptos Display" pitchFamily="34" charset="0"/>
                <a:ea typeface="Aptos Display" pitchFamily="34" charset="-122"/>
                <a:cs typeface="Aptos Display" pitchFamily="34" charset="-120"/>
              </a:rPr>
              <a:t>FORT SILENCE</a:t>
            </a:r>
            <a:endParaRPr lang="en-US" sz="800" dirty="0"/>
          </a:p>
        </p:txBody>
      </p:sp>
      <p:sp>
        <p:nvSpPr>
          <p:cNvPr id="9" name="Text 7"/>
          <p:cNvSpPr/>
          <p:nvPr/>
        </p:nvSpPr>
        <p:spPr>
          <a:xfrm>
            <a:off x="11064240" y="6492240"/>
            <a:ext cx="502920" cy="164592"/>
          </a:xfrm>
          <a:prstGeom prst="rect">
            <a:avLst/>
          </a:prstGeom>
          <a:noFill/>
          <a:ln/>
        </p:spPr>
        <p:txBody>
          <a:bodyPr wrap="square" lIns="0" tIns="0" rIns="0" bIns="0" rtlCol="0" anchor="ctr">
            <a:normAutofit/>
          </a:bodyPr>
          <a:lstStyle/>
          <a:p>
            <a:pPr algn="r" indent="0" marL="0">
              <a:buNone/>
            </a:pPr>
            <a:r>
              <a:rPr lang="en-US" sz="800" dirty="0">
                <a:solidFill>
                  <a:srgbClr val="677064"/>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NCCA Entertainment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FORT SILENCE</dc:title>
  <dc:subject>FORT SILENCE feature film pitch deck</dc:subject>
  <dc:creator>NCCA Entertainment</dc:creator>
  <cp:lastModifiedBy>NCCA Entertainment</cp:lastModifiedBy>
  <cp:revision>1</cp:revision>
  <dcterms:created xsi:type="dcterms:W3CDTF">2026-10-03T23:33:04Z</dcterms:created>
  <dcterms:modified xsi:type="dcterms:W3CDTF">2026-10-03T23:33:04Z</dcterms:modified>
</cp:coreProperties>
</file>