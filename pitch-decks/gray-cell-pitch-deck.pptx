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 type="screen16x9"/>
  <p:notesSz cx="6858000" cy="9144000"/>
  <p:defaultTextStyle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/Relationships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Source: GRAY CELL 101 Headway v2.1, full pilot pasted by the author in this conversation. Deck language adapts the supplied script for pitching. Format: proposed 8 × 60-minute series. No casting or financing attachments represented.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Source: GRAY CELL 101 Headway v2.1, full pilot pasted by the author in this conversation. Deck language adapts the supplied script for pitching. Format: proposed 8 × 60-minute series. No casting or financing attachments represented.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Source: GRAY CELL 101 Headway v2.1, full pilot pasted by the author in this conversation. Deck language adapts the supplied script for pitching. Format: proposed 8 × 60-minute series. No casting or financing attachments represented.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Source: GRAY CELL 101 Headway v2.1, full pilot pasted by the author in this conversation. Deck language adapts the supplied script for pitching. Format: proposed 8 × 60-minute series. No casting or financing attachments represented.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Source: GRAY CELL 101 Headway v2.1, full pilot pasted by the author in this conversation. Deck language adapts the supplied script for pitching. Format: proposed 8 × 60-minute series. No casting or financing attachments represented.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Source: Headway v2.1, pasted pilot. Sarah’s precise role in the 2027 Bedok incident remains unresolved in this draft. The season question is proposed development.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Source: GRAY CELL 101 Headway v2.1, full pilot pasted by the author in this conversation. Deck language adapts the supplied script for pitching. Format: proposed 8 × 60-minute series. No casting or financing attachments represented.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Source: GRAY CELL 101 Headway v2.1, full pilot pasted by the author in this conversation. Deck language adapts the supplied script for pitching. Format: proposed 8 × 60-minute series. No casting or financing attachments represented.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Proposed series engine based on Headway and the index-card anomalies in the pilot. Recurring procedural structure and season conspiracy require development.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Source: Headway v2.1, pasted pilot. 37 is the model’s projection, not a verified number of lives saved. One death occurs after intervention. Rail mechanism remains subject to screenplay revision.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Source: GRAY CELL 101 Headway v2.1, full pilot pasted by the author in this conversation. Deck language adapts the supplied script for pitching. Format: proposed 8 × 60-minute series. No casting or financing attachments represented.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Proposed season direction, not a summary of an existing season bible. The pilot establishes the 2027 Bedok link, Darren’s sister and Benedict’s two Sarah entries. The season resolution remains a development proposal.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Episode 1 summarizes the supplied pilot. Episodes 2–4 are proposed concepts. Hospital and port anomalies appear on the pilot’s index cards. No later-episode scripts were supplied.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Episodes 5–8 are proposed development concepts, not established canon or completed scripts. Finale title draws on the project’s thematic phrase.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Creative comparison references only. No claim of audience size, sales performance, broadcaster interest or affiliation. Near-future Singapore is fictionalized.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Production approach is proposed, not a feasibility guarantee. No access agreements, budget, financing, incentive eligibility, buyer commitments or attachments are represented.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571500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000000"/>
                </a:solidFill>
                <a:latin typeface="Arial"/>
              </a:rPr>
              <a:t>Source: GRAY CELL 101 Headway v2.1, full pilot pasted by the author in this conversation. Deck language adapts the supplied script for pitching. Format: proposed 8 × 60-minute series. No casting or financing attachments represented. All concept artwork is illustrative.</a:t>
            </a:r>
            <a:endParaRPr lang="en-US" sz="1350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art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RAY CELL concept artwork"/>
          <p:cNvPicPr>
            <a:picLocks noChangeAspect="1"/>
          </p:cNvPicPr>
          <p:nvPr/>
        </p:nvPicPr>
        <p:blipFill>
          <a:blip r:embed="rId3"/>
          <a:srcRect l="10000" r="52500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2" name="Text 2"/>
          <p:cNvSpPr txBox="1"/>
          <p:nvPr/>
        </p:nvSpPr>
        <p:spPr>
          <a:xfrm>
            <a:off x="628650" y="619125"/>
            <a:ext cx="6953250" cy="1190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5700" b="1">
                <a:solidFill>
                  <a:srgbClr val="F0ECE2"/>
                </a:solidFill>
                <a:latin typeface="Arial"/>
              </a:rPr>
              <a:t>GRAY CELL</a:t>
            </a:r>
            <a:endParaRPr lang="en-US" sz="5700"/>
          </a:p>
        </p:txBody>
      </p:sp>
      <p:sp>
        <p:nvSpPr>
          <p:cNvPr id="3" name="Text 3"/>
          <p:cNvSpPr txBox="1"/>
          <p:nvPr/>
        </p:nvSpPr>
        <p:spPr>
          <a:xfrm>
            <a:off x="628650" y="2714625"/>
            <a:ext cx="676275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475" b="0">
                <a:solidFill>
                  <a:srgbClr val="F0ECE2"/>
                </a:solidFill>
                <a:latin typeface="Arial"/>
              </a:rPr>
              <a:t>EVERY LIFE COUNTS.</a:t>
            </a:r>
            <a:endParaRPr lang="en-US" sz="2475"/>
          </a:p>
          <a:p>
            <a:pPr/>
            <a:r>
              <a:rPr lang="en-US" sz="2475" b="0">
                <a:solidFill>
                  <a:srgbClr val="F0ECE2"/>
                </a:solidFill>
                <a:latin typeface="Arial"/>
              </a:rPr>
              <a:t>UNTIL IT DOESN’T.</a:t>
            </a:r>
            <a:endParaRPr lang="en-US" sz="2475"/>
          </a:p>
        </p:txBody>
      </p:sp>
      <p:sp>
        <p:nvSpPr>
          <p:cNvPr id="4" name="Text 4"/>
          <p:cNvSpPr txBox="1"/>
          <p:nvPr/>
        </p:nvSpPr>
        <p:spPr>
          <a:xfrm>
            <a:off x="628650" y="4000500"/>
            <a:ext cx="685800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725" b="0">
                <a:solidFill>
                  <a:srgbClr val="F0ECE2"/>
                </a:solidFill>
                <a:latin typeface="Arial"/>
              </a:rPr>
              <a:t>8 × 60-minute episodes</a:t>
            </a:r>
            <a:endParaRPr lang="en-US" sz="1725"/>
          </a:p>
          <a:p>
            <a:pPr/>
            <a:r>
              <a:rPr lang="en-US" sz="1725" b="0">
                <a:solidFill>
                  <a:srgbClr val="F0ECE2"/>
                </a:solidFill>
                <a:latin typeface="Arial"/>
              </a:rPr>
              <a:t>Singapore tech-noir thriller</a:t>
            </a:r>
            <a:endParaRPr lang="en-US" sz="1725"/>
          </a:p>
        </p:txBody>
      </p:sp>
      <p:sp>
        <p:nvSpPr>
          <p:cNvPr id="5" name="Text 5"/>
          <p:cNvSpPr txBox="1"/>
          <p:nvPr/>
        </p:nvSpPr>
        <p:spPr>
          <a:xfrm>
            <a:off x="628650" y="5638800"/>
            <a:ext cx="7048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350" b="0">
                <a:solidFill>
                  <a:srgbClr val="90BCB7"/>
                </a:solidFill>
                <a:latin typeface="Arial"/>
              </a:rPr>
              <a:t>NCCA Entertainment</a:t>
            </a:r>
            <a:endParaRPr lang="en-US" sz="1350"/>
          </a:p>
          <a:p>
            <a:pPr/>
            <a:r>
              <a:rPr lang="en-US" sz="1350" b="0">
                <a:solidFill>
                  <a:srgbClr val="90BCB7"/>
                </a:solidFill>
                <a:latin typeface="Arial"/>
              </a:rPr>
              <a:t>Kelly R. Tenney</a:t>
            </a:r>
            <a:endParaRPr lang="en-US" sz="1350"/>
          </a:p>
        </p:txBody>
      </p:sp>
      <p:sp>
        <p:nvSpPr>
          <p:cNvPr id="6" name="Text 6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01</a:t>
            </a:r>
            <a:endParaRPr lang="en-US" sz="97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The premise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1952625"/>
            <a:ext cx="10572750" cy="2190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550" b="0">
                <a:solidFill>
                  <a:srgbClr val="F0ECE2"/>
                </a:solidFill>
                <a:latin typeface="Arial"/>
              </a:rPr>
              <a:t>In Singapore’s automated future, a covert team hunts threats dismissed by the city’s predictive system. Each intervention forces its leader to choose whose life the system can afford to lose.</a:t>
            </a:r>
            <a:endParaRPr lang="en-US" sz="2550"/>
          </a:p>
        </p:txBody>
      </p:sp>
      <p:sp>
        <p:nvSpPr>
          <p:cNvPr id="4" name="Text 4"/>
          <p:cNvSpPr txBox="1"/>
          <p:nvPr/>
        </p:nvSpPr>
        <p:spPr>
          <a:xfrm>
            <a:off x="628650" y="4810125"/>
            <a:ext cx="1038225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025" b="0">
                <a:solidFill>
                  <a:srgbClr val="D4A260"/>
                </a:solidFill>
                <a:latin typeface="Arial"/>
              </a:rPr>
              <a:t>A human decision inside a machine-run city.</a:t>
            </a:r>
            <a:endParaRPr lang="en-US" sz="2025"/>
          </a:p>
        </p:txBody>
      </p:sp>
      <p:sp>
        <p:nvSpPr>
          <p:cNvPr id="5" name="Text 5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02</a:t>
            </a:r>
            <a:endParaRPr lang="en-US" sz="9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The hook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1952625"/>
            <a:ext cx="10382250" cy="2143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850" b="0">
                <a:solidFill>
                  <a:srgbClr val="F0ECE2"/>
                </a:solidFill>
                <a:latin typeface="Arial"/>
              </a:rPr>
              <a:t>A dead man’s badge.</a:t>
            </a:r>
            <a:endParaRPr lang="en-US" sz="2850"/>
          </a:p>
          <a:p>
            <a:pPr/>
            <a:r>
              <a:rPr lang="en-US" sz="2850" b="0">
                <a:solidFill>
                  <a:srgbClr val="F0ECE2"/>
                </a:solidFill>
                <a:latin typeface="Arial"/>
              </a:rPr>
              <a:t>A valid work order.</a:t>
            </a:r>
            <a:endParaRPr lang="en-US" sz="2850"/>
          </a:p>
          <a:p>
            <a:pPr/>
            <a:r>
              <a:rPr lang="en-US" sz="2850" b="0">
                <a:solidFill>
                  <a:srgbClr val="F0ECE2"/>
                </a:solidFill>
                <a:latin typeface="Arial"/>
              </a:rPr>
              <a:t>A threat the system calls safe.</a:t>
            </a:r>
            <a:endParaRPr lang="en-US" sz="2850"/>
          </a:p>
        </p:txBody>
      </p:sp>
      <p:sp>
        <p:nvSpPr>
          <p:cNvPr id="4" name="Text 4"/>
          <p:cNvSpPr txBox="1"/>
          <p:nvPr/>
        </p:nvSpPr>
        <p:spPr>
          <a:xfrm>
            <a:off x="628650" y="4810125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0">
                <a:solidFill>
                  <a:srgbClr val="90BCB7"/>
                </a:solidFill>
                <a:latin typeface="Arial"/>
              </a:rPr>
              <a:t>Four people notice what the algorithm ignores.</a:t>
            </a:r>
            <a:endParaRPr lang="en-US" sz="1875"/>
          </a:p>
          <a:p>
            <a:pPr/>
            <a:r>
              <a:rPr lang="en-US" sz="1875" b="0">
                <a:solidFill>
                  <a:srgbClr val="90BCB7"/>
                </a:solidFill>
                <a:latin typeface="Arial"/>
              </a:rPr>
              <a:t>Stopping the attack makes them responsible for its consequences.</a:t>
            </a:r>
            <a:endParaRPr lang="en-US" sz="1875"/>
          </a:p>
        </p:txBody>
      </p:sp>
      <p:sp>
        <p:nvSpPr>
          <p:cNvPr id="5" name="Text 5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03</a:t>
            </a:r>
            <a:endParaRPr lang="en-US" sz="97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Singapore, 2030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1905000"/>
            <a:ext cx="4810125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100" b="1">
                <a:solidFill>
                  <a:srgbClr val="D4A260"/>
                </a:solidFill>
                <a:latin typeface="Arial"/>
              </a:rPr>
              <a:t>Above ground</a:t>
            </a:r>
            <a:endParaRPr lang="en-US" sz="2100"/>
          </a:p>
        </p:txBody>
      </p:sp>
      <p:sp>
        <p:nvSpPr>
          <p:cNvPr id="4" name="Text 4"/>
          <p:cNvSpPr txBox="1"/>
          <p:nvPr/>
        </p:nvSpPr>
        <p:spPr>
          <a:xfrm>
            <a:off x="628650" y="2552700"/>
            <a:ext cx="4810125" cy="1476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0">
                <a:solidFill>
                  <a:srgbClr val="F0ECE2"/>
                </a:solidFill>
                <a:latin typeface="Arial"/>
              </a:rPr>
              <a:t>A city of precise grids, driverless trains and frictionless routines. LATTICE keeps public life moving.</a:t>
            </a:r>
            <a:endParaRPr lang="en-US" sz="1875"/>
          </a:p>
        </p:txBody>
      </p:sp>
      <p:sp>
        <p:nvSpPr>
          <p:cNvPr id="5" name="Text 5"/>
          <p:cNvSpPr txBox="1"/>
          <p:nvPr/>
        </p:nvSpPr>
        <p:spPr>
          <a:xfrm>
            <a:off x="6334125" y="1905000"/>
            <a:ext cx="4810125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100" b="1">
                <a:solidFill>
                  <a:srgbClr val="D4A260"/>
                </a:solidFill>
                <a:latin typeface="Arial"/>
              </a:rPr>
              <a:t>Below the surface</a:t>
            </a:r>
            <a:endParaRPr lang="en-US" sz="2100"/>
          </a:p>
        </p:txBody>
      </p:sp>
      <p:sp>
        <p:nvSpPr>
          <p:cNvPr id="6" name="Text 6"/>
          <p:cNvSpPr txBox="1"/>
          <p:nvPr/>
        </p:nvSpPr>
        <p:spPr>
          <a:xfrm>
            <a:off x="6334125" y="2552700"/>
            <a:ext cx="4810125" cy="1476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0">
                <a:solidFill>
                  <a:srgbClr val="F0ECE2"/>
                </a:solidFill>
                <a:latin typeface="Arial"/>
              </a:rPr>
              <a:t>Maintenance tunnels, service corridors and old equipment preserve gaps in the digital map.</a:t>
            </a:r>
            <a:endParaRPr lang="en-US" sz="1875"/>
          </a:p>
        </p:txBody>
      </p:sp>
      <p:sp>
        <p:nvSpPr>
          <p:cNvPr id="7" name="Text 7"/>
          <p:cNvSpPr txBox="1"/>
          <p:nvPr/>
        </p:nvSpPr>
        <p:spPr>
          <a:xfrm>
            <a:off x="628650" y="4810125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100" b="0">
                <a:solidFill>
                  <a:srgbClr val="90BCB7"/>
                </a:solidFill>
                <a:latin typeface="Arial"/>
              </a:rPr>
              <a:t>Hawker centres and HDB homes give every system failure a human address.</a:t>
            </a:r>
            <a:endParaRPr lang="en-US" sz="2100"/>
          </a:p>
        </p:txBody>
      </p:sp>
      <p:sp>
        <p:nvSpPr>
          <p:cNvPr id="8" name="Text 8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04</a:t>
            </a:r>
            <a:endParaRPr lang="en-US" sz="97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LATTICE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1952625"/>
            <a:ext cx="100965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475" b="0">
                <a:solidFill>
                  <a:srgbClr val="F0ECE2"/>
                </a:solidFill>
                <a:latin typeface="Arial"/>
              </a:rPr>
              <a:t>The city’s predictive system ranks anomalies and models the cost of intervention.</a:t>
            </a:r>
            <a:endParaRPr lang="en-US" sz="2475"/>
          </a:p>
        </p:txBody>
      </p:sp>
      <p:sp>
        <p:nvSpPr>
          <p:cNvPr id="4" name="Text 4"/>
          <p:cNvSpPr txBox="1"/>
          <p:nvPr/>
        </p:nvSpPr>
        <p:spPr>
          <a:xfrm>
            <a:off x="628650" y="3619500"/>
            <a:ext cx="9810750" cy="1666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175" b="0">
                <a:solidFill>
                  <a:srgbClr val="90BCB7"/>
                </a:solidFill>
                <a:latin typeface="Arial"/>
              </a:rPr>
              <a:t>A badge outweighs a face.</a:t>
            </a:r>
            <a:endParaRPr lang="en-US" sz="2175"/>
          </a:p>
          <a:p>
            <a:pPr/>
            <a:r>
              <a:rPr lang="en-US" sz="2175" b="0">
                <a:solidFill>
                  <a:srgbClr val="90BCB7"/>
                </a:solidFill>
                <a:latin typeface="Arial"/>
              </a:rPr>
              <a:t>A risk falls below review.</a:t>
            </a:r>
            <a:endParaRPr lang="en-US" sz="2175"/>
          </a:p>
          <a:p>
            <a:pPr/>
            <a:r>
              <a:rPr lang="en-US" sz="2175" b="0">
                <a:solidFill>
                  <a:srgbClr val="90BCB7"/>
                </a:solidFill>
                <a:latin typeface="Arial"/>
              </a:rPr>
              <a:t>A death falls within tolerance.</a:t>
            </a:r>
            <a:endParaRPr lang="en-US" sz="2175"/>
          </a:p>
        </p:txBody>
      </p:sp>
      <p:sp>
        <p:nvSpPr>
          <p:cNvPr id="5" name="Text 5"/>
          <p:cNvSpPr txBox="1"/>
          <p:nvPr/>
        </p:nvSpPr>
        <p:spPr>
          <a:xfrm>
            <a:off x="628650" y="563880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650" b="0">
                <a:solidFill>
                  <a:srgbClr val="D4A260"/>
                </a:solidFill>
                <a:latin typeface="Arial"/>
              </a:rPr>
              <a:t>The rules embed human choices. The consequences reach people who never made them.</a:t>
            </a:r>
            <a:endParaRPr lang="en-US" sz="1650"/>
          </a:p>
        </p:txBody>
      </p:sp>
      <p:sp>
        <p:nvSpPr>
          <p:cNvPr id="6" name="Text 6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05</a:t>
            </a:r>
            <a:endParaRPr lang="en-US" sz="97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Sarah Chen Hui Min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1828800"/>
            <a:ext cx="9525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950" b="0">
                <a:solidFill>
                  <a:srgbClr val="D4A260"/>
                </a:solidFill>
                <a:latin typeface="Arial"/>
              </a:rPr>
              <a:t>41. Team leader. Railway daughter.</a:t>
            </a:r>
            <a:endParaRPr lang="en-US" sz="1950"/>
          </a:p>
        </p:txBody>
      </p:sp>
      <p:sp>
        <p:nvSpPr>
          <p:cNvPr id="4" name="Text 4"/>
          <p:cNvSpPr txBox="1"/>
          <p:nvPr/>
        </p:nvSpPr>
        <p:spPr>
          <a:xfrm>
            <a:off x="628650" y="2667000"/>
            <a:ext cx="10191750" cy="1285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250" b="0">
                <a:solidFill>
                  <a:srgbClr val="F0ECE2"/>
                </a:solidFill>
                <a:latin typeface="Arial"/>
              </a:rPr>
              <a:t>Sarah reads habits, rooms and silences. She follows a maintenance ritual to an attacker the system has already authorized.</a:t>
            </a:r>
            <a:endParaRPr lang="en-US" sz="2250"/>
          </a:p>
        </p:txBody>
      </p:sp>
      <p:sp>
        <p:nvSpPr>
          <p:cNvPr id="5" name="Text 5"/>
          <p:cNvSpPr txBox="1"/>
          <p:nvPr/>
        </p:nvSpPr>
        <p:spPr>
          <a:xfrm>
            <a:off x="628650" y="4314825"/>
            <a:ext cx="10191750" cy="1381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100" b="0">
                <a:solidFill>
                  <a:srgbClr val="90BCB7"/>
                </a:solidFill>
                <a:latin typeface="Arial"/>
              </a:rPr>
              <a:t>She lies to a widow for access. She turns the key that redirects an attack. Then she meets the name behind the casualty count.</a:t>
            </a:r>
            <a:endParaRPr lang="en-US" sz="2100"/>
          </a:p>
        </p:txBody>
      </p:sp>
      <p:sp>
        <p:nvSpPr>
          <p:cNvPr id="6" name="Text 6"/>
          <p:cNvSpPr txBox="1"/>
          <p:nvPr/>
        </p:nvSpPr>
        <p:spPr>
          <a:xfrm>
            <a:off x="628650" y="5934075"/>
            <a:ext cx="103822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500" b="0">
                <a:solidFill>
                  <a:srgbClr val="F0ECE2"/>
                </a:solidFill>
                <a:latin typeface="Arial"/>
              </a:rPr>
              <a:t>Her season question: how much authority can she claim before she becomes what she opposes?</a:t>
            </a:r>
            <a:endParaRPr lang="en-US" sz="1500"/>
          </a:p>
        </p:txBody>
      </p:sp>
      <p:sp>
        <p:nvSpPr>
          <p:cNvPr id="7" name="Text 7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06</a:t>
            </a:r>
            <a:endParaRPr lang="en-US" sz="97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The team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1952625"/>
            <a:ext cx="323850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00" b="1">
                <a:solidFill>
                  <a:srgbClr val="D4A260"/>
                </a:solidFill>
                <a:latin typeface="Arial"/>
              </a:rPr>
              <a:t>CLAIRE DE SOUZA</a:t>
            </a:r>
            <a:endParaRPr lang="en-US" sz="1800"/>
          </a:p>
        </p:txBody>
      </p:sp>
      <p:sp>
        <p:nvSpPr>
          <p:cNvPr id="4" name="Text 4"/>
          <p:cNvSpPr txBox="1"/>
          <p:nvPr/>
        </p:nvSpPr>
        <p:spPr>
          <a:xfrm>
            <a:off x="628650" y="2667000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725" b="0">
                <a:solidFill>
                  <a:srgbClr val="F0ECE2"/>
                </a:solidFill>
                <a:latin typeface="Arial"/>
              </a:rPr>
              <a:t>34. Aircon operator.</a:t>
            </a:r>
            <a:endParaRPr lang="en-US" sz="1725"/>
          </a:p>
          <a:p>
            <a:pPr/>
            <a:r>
              <a:rPr lang="en-US" sz="1725" b="0">
                <a:solidFill>
                  <a:srgbClr val="F0ECE2"/>
                </a:solidFill>
                <a:latin typeface="Arial"/>
              </a:rPr>
              <a:t/>
            </a:r>
            <a:endParaRPr lang="en-US" sz="1725"/>
          </a:p>
          <a:p>
            <a:pPr/>
            <a:r>
              <a:rPr lang="en-US" sz="1725" b="0">
                <a:solidFill>
                  <a:srgbClr val="F0ECE2"/>
                </a:solidFill>
                <a:latin typeface="Arial"/>
              </a:rPr>
              <a:t>Her real business gives the team access. She trusts the result until an ordinary service call brings the death home.</a:t>
            </a:r>
            <a:endParaRPr lang="en-US" sz="1725"/>
          </a:p>
        </p:txBody>
      </p:sp>
      <p:sp>
        <p:nvSpPr>
          <p:cNvPr id="5" name="Text 5"/>
          <p:cNvSpPr txBox="1"/>
          <p:nvPr/>
        </p:nvSpPr>
        <p:spPr>
          <a:xfrm>
            <a:off x="4476750" y="1952625"/>
            <a:ext cx="323850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00" b="1">
                <a:solidFill>
                  <a:srgbClr val="D4A260"/>
                </a:solidFill>
                <a:latin typeface="Arial"/>
              </a:rPr>
              <a:t>DEVAN PILLAI</a:t>
            </a:r>
            <a:endParaRPr lang="en-US" sz="1800"/>
          </a:p>
        </p:txBody>
      </p:sp>
      <p:sp>
        <p:nvSpPr>
          <p:cNvPr id="6" name="Text 6"/>
          <p:cNvSpPr txBox="1"/>
          <p:nvPr/>
        </p:nvSpPr>
        <p:spPr>
          <a:xfrm>
            <a:off x="4476750" y="2667000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725" b="0">
                <a:solidFill>
                  <a:srgbClr val="F0ECE2"/>
                </a:solidFill>
                <a:latin typeface="Arial"/>
              </a:rPr>
              <a:t>29. System insider.</a:t>
            </a:r>
            <a:endParaRPr lang="en-US" sz="1725"/>
          </a:p>
          <a:p>
            <a:pPr/>
            <a:r>
              <a:rPr lang="en-US" sz="1725" b="0">
                <a:solidFill>
                  <a:srgbClr val="F0ECE2"/>
                </a:solidFill>
                <a:latin typeface="Arial"/>
              </a:rPr>
              <a:t/>
            </a:r>
            <a:endParaRPr lang="en-US" sz="1725"/>
          </a:p>
          <a:p>
            <a:pPr/>
            <a:r>
              <a:rPr lang="en-US" sz="1725" b="0">
                <a:solidFill>
                  <a:srgbClr val="F0ECE2"/>
                </a:solidFill>
                <a:latin typeface="Arial"/>
              </a:rPr>
              <a:t>He built the identity rule the attacker exploits. His faith in the model collides with his own authorship.</a:t>
            </a:r>
            <a:endParaRPr lang="en-US" sz="1725"/>
          </a:p>
        </p:txBody>
      </p:sp>
      <p:sp>
        <p:nvSpPr>
          <p:cNvPr id="7" name="Text 7"/>
          <p:cNvSpPr txBox="1"/>
          <p:nvPr/>
        </p:nvSpPr>
        <p:spPr>
          <a:xfrm>
            <a:off x="8334375" y="1952625"/>
            <a:ext cx="323850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00" b="1">
                <a:solidFill>
                  <a:srgbClr val="D4A260"/>
                </a:solidFill>
                <a:latin typeface="Arial"/>
              </a:rPr>
              <a:t>UNCLE ROS</a:t>
            </a:r>
            <a:endParaRPr lang="en-US" sz="1800"/>
          </a:p>
        </p:txBody>
      </p:sp>
      <p:sp>
        <p:nvSpPr>
          <p:cNvPr id="8" name="Text 8"/>
          <p:cNvSpPr txBox="1"/>
          <p:nvPr/>
        </p:nvSpPr>
        <p:spPr>
          <a:xfrm>
            <a:off x="8334375" y="2667000"/>
            <a:ext cx="32385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725" b="0">
                <a:solidFill>
                  <a:srgbClr val="F0ECE2"/>
                </a:solidFill>
                <a:latin typeface="Arial"/>
              </a:rPr>
              <a:t>63. Rail veteran.</a:t>
            </a:r>
            <a:endParaRPr lang="en-US" sz="1725"/>
          </a:p>
          <a:p>
            <a:pPr/>
            <a:r>
              <a:rPr lang="en-US" sz="1725" b="0">
                <a:solidFill>
                  <a:srgbClr val="F0ECE2"/>
                </a:solidFill>
                <a:latin typeface="Arial"/>
              </a:rPr>
              <a:t/>
            </a:r>
            <a:endParaRPr lang="en-US" sz="1725"/>
          </a:p>
          <a:p>
            <a:pPr/>
            <a:r>
              <a:rPr lang="en-US" sz="1725" b="0">
                <a:solidFill>
                  <a:srgbClr val="F0ECE2"/>
                </a:solidFill>
                <a:latin typeface="Arial"/>
              </a:rPr>
              <a:t>He knows the routes the network forgot. When he hands Sarah the keys, he shares responsibility for the turn.</a:t>
            </a:r>
            <a:endParaRPr lang="en-US" sz="1725"/>
          </a:p>
        </p:txBody>
      </p:sp>
      <p:sp>
        <p:nvSpPr>
          <p:cNvPr id="9" name="Text 9"/>
          <p:cNvSpPr txBox="1"/>
          <p:nvPr/>
        </p:nvSpPr>
        <p:spPr>
          <a:xfrm>
            <a:off x="628650" y="5600700"/>
            <a:ext cx="105727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025" b="0">
                <a:solidFill>
                  <a:srgbClr val="90BCB7"/>
                </a:solidFill>
                <a:latin typeface="Arial"/>
              </a:rPr>
              <a:t>One team. Four different accounts of the same decision.</a:t>
            </a:r>
            <a:endParaRPr lang="en-US" sz="2025"/>
          </a:p>
        </p:txBody>
      </p:sp>
      <p:sp>
        <p:nvSpPr>
          <p:cNvPr id="10" name="Text 10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07</a:t>
            </a:r>
            <a:endParaRPr lang="en-US" sz="97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The opposing forces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1857375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950" b="1">
                <a:solidFill>
                  <a:srgbClr val="D4A260"/>
                </a:solidFill>
                <a:latin typeface="Arial"/>
              </a:rPr>
              <a:t>DARREN SIM</a:t>
            </a:r>
            <a:endParaRPr lang="en-US" sz="1950"/>
          </a:p>
        </p:txBody>
      </p:sp>
      <p:sp>
        <p:nvSpPr>
          <p:cNvPr id="4" name="Text 4"/>
          <p:cNvSpPr txBox="1"/>
          <p:nvPr/>
        </p:nvSpPr>
        <p:spPr>
          <a:xfrm>
            <a:off x="628650" y="2476500"/>
            <a:ext cx="4953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0">
                <a:solidFill>
                  <a:srgbClr val="F0ECE2"/>
                </a:solidFill>
                <a:latin typeface="Arial"/>
              </a:rPr>
              <a:t>A former signalling technician whose sister died in a LATTICE-assisted response. He builds an attack around the system’s own playbook.</a:t>
            </a:r>
            <a:endParaRPr lang="en-US" sz="1875"/>
          </a:p>
        </p:txBody>
      </p:sp>
      <p:sp>
        <p:nvSpPr>
          <p:cNvPr id="5" name="Text 5"/>
          <p:cNvSpPr txBox="1"/>
          <p:nvPr/>
        </p:nvSpPr>
        <p:spPr>
          <a:xfrm>
            <a:off x="628650" y="457200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325" b="0">
                <a:solidFill>
                  <a:srgbClr val="90BCB7"/>
                </a:solidFill>
                <a:latin typeface="Arial"/>
              </a:rPr>
              <a:t>He records names.</a:t>
            </a:r>
            <a:endParaRPr lang="en-US" sz="2325"/>
          </a:p>
        </p:txBody>
      </p:sp>
      <p:sp>
        <p:nvSpPr>
          <p:cNvPr id="6" name="Text 6"/>
          <p:cNvSpPr txBox="1"/>
          <p:nvPr/>
        </p:nvSpPr>
        <p:spPr>
          <a:xfrm>
            <a:off x="6381750" y="1857375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950" b="1">
                <a:solidFill>
                  <a:srgbClr val="D4A260"/>
                </a:solidFill>
                <a:latin typeface="Arial"/>
              </a:rPr>
              <a:t>BENEDICT HO</a:t>
            </a:r>
            <a:endParaRPr lang="en-US" sz="1950"/>
          </a:p>
        </p:txBody>
      </p:sp>
      <p:sp>
        <p:nvSpPr>
          <p:cNvPr id="7" name="Text 7"/>
          <p:cNvSpPr txBox="1"/>
          <p:nvPr/>
        </p:nvSpPr>
        <p:spPr>
          <a:xfrm>
            <a:off x="6381750" y="2476500"/>
            <a:ext cx="4953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0">
                <a:solidFill>
                  <a:srgbClr val="F0ECE2"/>
                </a:solidFill>
                <a:latin typeface="Arial"/>
              </a:rPr>
              <a:t>An official with access to anomalies others never see. He chooses observation over escalation and keeps a private record of Sarah’s interventions.</a:t>
            </a:r>
            <a:endParaRPr lang="en-US" sz="1875"/>
          </a:p>
        </p:txBody>
      </p:sp>
      <p:sp>
        <p:nvSpPr>
          <p:cNvPr id="8" name="Text 8"/>
          <p:cNvSpPr txBox="1"/>
          <p:nvPr/>
        </p:nvSpPr>
        <p:spPr>
          <a:xfrm>
            <a:off x="6381750" y="457200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325" b="0">
                <a:solidFill>
                  <a:srgbClr val="90BCB7"/>
                </a:solidFill>
                <a:latin typeface="Arial"/>
              </a:rPr>
              <a:t>He records counts.</a:t>
            </a:r>
            <a:endParaRPr lang="en-US" sz="2325"/>
          </a:p>
        </p:txBody>
      </p:sp>
      <p:sp>
        <p:nvSpPr>
          <p:cNvPr id="9" name="Text 9"/>
          <p:cNvSpPr txBox="1"/>
          <p:nvPr/>
        </p:nvSpPr>
        <p:spPr>
          <a:xfrm>
            <a:off x="628650" y="5667375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650" b="0">
                <a:solidFill>
                  <a:srgbClr val="F0ECE2"/>
                </a:solidFill>
                <a:latin typeface="Arial"/>
              </a:rPr>
              <a:t>Dr. Evelyn Koh provides a mandate she refuses to acknowledge when Sarah asks for permission.</a:t>
            </a:r>
            <a:endParaRPr lang="en-US" sz="1650"/>
          </a:p>
        </p:txBody>
      </p:sp>
      <p:sp>
        <p:nvSpPr>
          <p:cNvPr id="10" name="Text 10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08</a:t>
            </a:r>
            <a:endParaRPr lang="en-US" sz="97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The series engine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1838325"/>
            <a:ext cx="10191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400" b="0">
                <a:solidFill>
                  <a:srgbClr val="D4A260"/>
                </a:solidFill>
                <a:latin typeface="Arial"/>
              </a:rPr>
              <a:t>An anomaly slips below review.</a:t>
            </a:r>
            <a:endParaRPr lang="en-US" sz="2400"/>
          </a:p>
        </p:txBody>
      </p:sp>
      <p:sp>
        <p:nvSpPr>
          <p:cNvPr id="4" name="Text 4"/>
          <p:cNvSpPr txBox="1"/>
          <p:nvPr/>
        </p:nvSpPr>
        <p:spPr>
          <a:xfrm>
            <a:off x="628650" y="2714625"/>
            <a:ext cx="1038225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175" b="0">
                <a:solidFill>
                  <a:srgbClr val="F0ECE2"/>
                </a:solidFill>
                <a:latin typeface="Arial"/>
              </a:rPr>
              <a:t>Sarah’s team investigates through ordinary work, human relationships and forgotten infrastructure.</a:t>
            </a:r>
            <a:endParaRPr lang="en-US" sz="2175"/>
          </a:p>
        </p:txBody>
      </p:sp>
      <p:sp>
        <p:nvSpPr>
          <p:cNvPr id="5" name="Text 5"/>
          <p:cNvSpPr txBox="1"/>
          <p:nvPr/>
        </p:nvSpPr>
        <p:spPr>
          <a:xfrm>
            <a:off x="628650" y="4162425"/>
            <a:ext cx="10382250" cy="1123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175" b="0">
                <a:solidFill>
                  <a:srgbClr val="F0ECE2"/>
                </a:solidFill>
                <a:latin typeface="Arial"/>
              </a:rPr>
              <a:t>A deadline turns the investigation into a decision. The intervention leaves a consequence someone must own.</a:t>
            </a:r>
            <a:endParaRPr lang="en-US" sz="2175"/>
          </a:p>
        </p:txBody>
      </p:sp>
      <p:sp>
        <p:nvSpPr>
          <p:cNvPr id="6" name="Text 6"/>
          <p:cNvSpPr txBox="1"/>
          <p:nvPr/>
        </p:nvSpPr>
        <p:spPr>
          <a:xfrm>
            <a:off x="628650" y="5629275"/>
            <a:ext cx="103822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725" b="0">
                <a:solidFill>
                  <a:srgbClr val="90BCB7"/>
                </a:solidFill>
                <a:latin typeface="Arial"/>
              </a:rPr>
              <a:t>Each case advances the larger mystery: who shapes the forecasts, and who benefits from the accepted losses?</a:t>
            </a:r>
            <a:endParaRPr lang="en-US" sz="1725"/>
          </a:p>
        </p:txBody>
      </p:sp>
      <p:sp>
        <p:nvSpPr>
          <p:cNvPr id="7" name="Text 7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09</a:t>
            </a:r>
            <a:endParaRPr lang="en-US" sz="97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Pilot: Headway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1895475"/>
            <a:ext cx="10572750" cy="1266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175" b="0">
                <a:solidFill>
                  <a:srgbClr val="F0ECE2"/>
                </a:solidFill>
                <a:latin typeface="Arial"/>
              </a:rPr>
              <a:t>A dead technician’s badge admits an attacker into a rail tunnel. Sarah’s team finds a device designed around LATTICE’s emergency playbook.</a:t>
            </a:r>
            <a:endParaRPr lang="en-US" sz="2175"/>
          </a:p>
        </p:txBody>
      </p:sp>
      <p:sp>
        <p:nvSpPr>
          <p:cNvPr id="4" name="Text 4"/>
          <p:cNvSpPr txBox="1"/>
          <p:nvPr/>
        </p:nvSpPr>
        <p:spPr>
          <a:xfrm>
            <a:off x="628650" y="3505200"/>
            <a:ext cx="1057275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175" b="0">
                <a:solidFill>
                  <a:srgbClr val="90BCB7"/>
                </a:solidFill>
                <a:latin typeface="Arial"/>
              </a:rPr>
              <a:t>The model projects 37 deaths if they do nothing. Sarah redirects the fault to a lightly occupied train.</a:t>
            </a:r>
            <a:endParaRPr lang="en-US" sz="2175"/>
          </a:p>
        </p:txBody>
      </p:sp>
      <p:sp>
        <p:nvSpPr>
          <p:cNvPr id="5" name="Text 5"/>
          <p:cNvSpPr txBox="1"/>
          <p:nvPr/>
        </p:nvSpPr>
        <p:spPr>
          <a:xfrm>
            <a:off x="628650" y="4933950"/>
            <a:ext cx="10572750" cy="1095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175" b="0">
                <a:solidFill>
                  <a:srgbClr val="F0ECE2"/>
                </a:solidFill>
                <a:latin typeface="Arial"/>
              </a:rPr>
              <a:t>An elderly cleaner dies during evacuation. Sarah discovers that the woman had cleaned her table every morning.</a:t>
            </a:r>
            <a:endParaRPr lang="en-US" sz="2175"/>
          </a:p>
        </p:txBody>
      </p:sp>
      <p:sp>
        <p:nvSpPr>
          <p:cNvPr id="6" name="Text 6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10</a:t>
            </a:r>
            <a:endParaRPr lang="en-US" sz="97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The cost of intervention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2286000"/>
            <a:ext cx="10668000" cy="904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675" b="0">
                <a:solidFill>
                  <a:srgbClr val="D4A260"/>
                </a:solidFill>
                <a:latin typeface="Arial"/>
              </a:rPr>
              <a:t>“She cleared my table.”</a:t>
            </a:r>
            <a:endParaRPr lang="en-US" sz="3675"/>
          </a:p>
        </p:txBody>
      </p:sp>
      <p:sp>
        <p:nvSpPr>
          <p:cNvPr id="4" name="Text 4"/>
          <p:cNvSpPr txBox="1"/>
          <p:nvPr/>
        </p:nvSpPr>
        <p:spPr>
          <a:xfrm>
            <a:off x="628650" y="3686175"/>
            <a:ext cx="1000125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325" b="0">
                <a:solidFill>
                  <a:srgbClr val="F0ECE2"/>
                </a:solidFill>
                <a:latin typeface="Arial"/>
              </a:rPr>
              <a:t>Madam Low turns an acceptable loss into a life Sarah recognizes too late.</a:t>
            </a:r>
            <a:endParaRPr lang="en-US" sz="2325"/>
          </a:p>
        </p:txBody>
      </p:sp>
      <p:sp>
        <p:nvSpPr>
          <p:cNvPr id="5" name="Text 5"/>
          <p:cNvSpPr txBox="1"/>
          <p:nvPr/>
        </p:nvSpPr>
        <p:spPr>
          <a:xfrm>
            <a:off x="628650" y="5191125"/>
            <a:ext cx="1038225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100" b="0">
                <a:solidFill>
                  <a:srgbClr val="90BCB7"/>
                </a:solidFill>
                <a:latin typeface="Arial"/>
              </a:rPr>
              <a:t>The team can agree on what happened.</a:t>
            </a:r>
            <a:endParaRPr lang="en-US" sz="2100"/>
          </a:p>
          <a:p>
            <a:pPr/>
            <a:r>
              <a:rPr lang="en-US" sz="2100" b="0">
                <a:solidFill>
                  <a:srgbClr val="90BCB7"/>
                </a:solidFill>
                <a:latin typeface="Arial"/>
              </a:rPr>
              <a:t>They cannot agree on what it means.</a:t>
            </a:r>
            <a:endParaRPr lang="en-US" sz="2100"/>
          </a:p>
        </p:txBody>
      </p:sp>
      <p:sp>
        <p:nvSpPr>
          <p:cNvPr id="6" name="Text 6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11</a:t>
            </a:r>
            <a:endParaRPr lang="en-US" sz="97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Season One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1905000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0">
                <a:solidFill>
                  <a:srgbClr val="D4A260"/>
                </a:solidFill>
                <a:latin typeface="Arial"/>
              </a:rPr>
              <a:t>Who gets to decide what</a:t>
            </a:r>
            <a:endParaRPr lang="en-US" sz="3225"/>
          </a:p>
          <a:p>
            <a:pPr/>
            <a:r>
              <a:rPr lang="en-US" sz="3225" b="0">
                <a:solidFill>
                  <a:srgbClr val="D4A260"/>
                </a:solidFill>
                <a:latin typeface="Arial"/>
              </a:rPr>
              <a:t>“acceptable damage” means?</a:t>
            </a:r>
            <a:endParaRPr lang="en-US" sz="3225"/>
          </a:p>
        </p:txBody>
      </p:sp>
      <p:sp>
        <p:nvSpPr>
          <p:cNvPr id="4" name="Text 4"/>
          <p:cNvSpPr txBox="1"/>
          <p:nvPr/>
        </p:nvSpPr>
        <p:spPr>
          <a:xfrm>
            <a:off x="628650" y="3829050"/>
            <a:ext cx="10668000" cy="1285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175" b="0">
                <a:solidFill>
                  <a:srgbClr val="F0ECE2"/>
                </a:solidFill>
                <a:latin typeface="Arial"/>
              </a:rPr>
              <a:t>Sarah follows the connection between Bedok, Darren’s attacks and Benedict’s private record. New cases expose the human decisions inside LATTICE.</a:t>
            </a:r>
            <a:endParaRPr lang="en-US" sz="2175"/>
          </a:p>
        </p:txBody>
      </p:sp>
      <p:sp>
        <p:nvSpPr>
          <p:cNvPr id="5" name="Text 5"/>
          <p:cNvSpPr txBox="1"/>
          <p:nvPr/>
        </p:nvSpPr>
        <p:spPr>
          <a:xfrm>
            <a:off x="628650" y="5495925"/>
            <a:ext cx="10668000" cy="904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0">
                <a:solidFill>
                  <a:srgbClr val="90BCB7"/>
                </a:solidFill>
                <a:latin typeface="Arial"/>
              </a:rPr>
              <a:t>As the team’s interventions become visible, its members must decide whether to repair the system, expose it or resist the authority behind it.</a:t>
            </a:r>
            <a:endParaRPr lang="en-US" sz="1875"/>
          </a:p>
        </p:txBody>
      </p:sp>
      <p:sp>
        <p:nvSpPr>
          <p:cNvPr id="6" name="Text 6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12</a:t>
            </a:r>
            <a:endParaRPr lang="en-US" sz="97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Episodes 1–4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1857375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1">
                <a:solidFill>
                  <a:srgbClr val="D4A260"/>
                </a:solidFill>
                <a:latin typeface="Arial"/>
              </a:rPr>
              <a:t>01  HEADWAY</a:t>
            </a:r>
            <a:endParaRPr lang="en-US" sz="1875"/>
          </a:p>
        </p:txBody>
      </p:sp>
      <p:sp>
        <p:nvSpPr>
          <p:cNvPr id="4" name="Text 4"/>
          <p:cNvSpPr txBox="1"/>
          <p:nvPr/>
        </p:nvSpPr>
        <p:spPr>
          <a:xfrm>
            <a:off x="628650" y="2400300"/>
            <a:ext cx="4953000" cy="904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00" b="0">
                <a:solidFill>
                  <a:srgbClr val="F0ECE2"/>
                </a:solidFill>
                <a:latin typeface="Arial"/>
              </a:rPr>
              <a:t>A rail attack forces Sarah to redirect danger. One death fractures the team’s confidence.</a:t>
            </a:r>
            <a:endParaRPr lang="en-US" sz="1800"/>
          </a:p>
        </p:txBody>
      </p:sp>
      <p:sp>
        <p:nvSpPr>
          <p:cNvPr id="5" name="Text 5"/>
          <p:cNvSpPr txBox="1"/>
          <p:nvPr/>
        </p:nvSpPr>
        <p:spPr>
          <a:xfrm>
            <a:off x="6381750" y="1857375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1">
                <a:solidFill>
                  <a:srgbClr val="D4A260"/>
                </a:solidFill>
                <a:latin typeface="Arial"/>
              </a:rPr>
              <a:t>02  PRIORITY</a:t>
            </a:r>
            <a:endParaRPr lang="en-US" sz="1875"/>
          </a:p>
        </p:txBody>
      </p:sp>
      <p:sp>
        <p:nvSpPr>
          <p:cNvPr id="6" name="Text 6"/>
          <p:cNvSpPr txBox="1"/>
          <p:nvPr/>
        </p:nvSpPr>
        <p:spPr>
          <a:xfrm>
            <a:off x="6381750" y="2400300"/>
            <a:ext cx="49530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00" b="0">
                <a:solidFill>
                  <a:srgbClr val="F0ECE2"/>
                </a:solidFill>
                <a:latin typeface="Arial"/>
              </a:rPr>
              <a:t>Hospital delays reveal whose care the model repeatedly postpones. Devan confronts a rule he once defended.</a:t>
            </a:r>
            <a:endParaRPr lang="en-US" sz="1800"/>
          </a:p>
        </p:txBody>
      </p:sp>
      <p:sp>
        <p:nvSpPr>
          <p:cNvPr id="7" name="Text 7"/>
          <p:cNvSpPr txBox="1"/>
          <p:nvPr/>
        </p:nvSpPr>
        <p:spPr>
          <a:xfrm>
            <a:off x="628650" y="4048125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1">
                <a:solidFill>
                  <a:srgbClr val="D4A260"/>
                </a:solidFill>
                <a:latin typeface="Arial"/>
              </a:rPr>
              <a:t>03  DEAD LOAD</a:t>
            </a:r>
            <a:endParaRPr lang="en-US" sz="1875"/>
          </a:p>
        </p:txBody>
      </p:sp>
      <p:sp>
        <p:nvSpPr>
          <p:cNvPr id="8" name="Text 8"/>
          <p:cNvSpPr txBox="1"/>
          <p:nvPr/>
        </p:nvSpPr>
        <p:spPr>
          <a:xfrm>
            <a:off x="628650" y="4591050"/>
            <a:ext cx="4953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00" b="0">
                <a:solidFill>
                  <a:srgbClr val="F0ECE2"/>
                </a:solidFill>
                <a:latin typeface="Arial"/>
              </a:rPr>
              <a:t>A port anomaly threatens workers behind a clean safety record. Claire’s service cover becomes an exposure risk.</a:t>
            </a:r>
            <a:endParaRPr lang="en-US" sz="1800"/>
          </a:p>
        </p:txBody>
      </p:sp>
      <p:sp>
        <p:nvSpPr>
          <p:cNvPr id="9" name="Text 9"/>
          <p:cNvSpPr txBox="1"/>
          <p:nvPr/>
        </p:nvSpPr>
        <p:spPr>
          <a:xfrm>
            <a:off x="6381750" y="4048125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1">
                <a:solidFill>
                  <a:srgbClr val="D4A260"/>
                </a:solidFill>
                <a:latin typeface="Arial"/>
              </a:rPr>
              <a:t>04  WITHIN TOLERANCE</a:t>
            </a:r>
            <a:endParaRPr lang="en-US" sz="1875"/>
          </a:p>
        </p:txBody>
      </p:sp>
      <p:sp>
        <p:nvSpPr>
          <p:cNvPr id="10" name="Text 10"/>
          <p:cNvSpPr txBox="1"/>
          <p:nvPr/>
        </p:nvSpPr>
        <p:spPr>
          <a:xfrm>
            <a:off x="6381750" y="4591050"/>
            <a:ext cx="4953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00" b="0">
                <a:solidFill>
                  <a:srgbClr val="F0ECE2"/>
                </a:solidFill>
                <a:latin typeface="Arial"/>
              </a:rPr>
              <a:t>The Bedok record ties Sarah to Pei Shan’s death. Darren forces the team to revisit the original decision.</a:t>
            </a:r>
            <a:endParaRPr lang="en-US" sz="1800"/>
          </a:p>
        </p:txBody>
      </p:sp>
      <p:sp>
        <p:nvSpPr>
          <p:cNvPr id="11" name="Text 11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PROPOSED EPISODE DEVELOPMENT</a:t>
            </a:r>
            <a:endParaRPr lang="en-US" sz="97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Episodes 5–8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1857375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1">
                <a:solidFill>
                  <a:srgbClr val="D4A260"/>
                </a:solidFill>
                <a:latin typeface="Arial"/>
              </a:rPr>
              <a:t>05  WORK ORDER</a:t>
            </a:r>
            <a:endParaRPr lang="en-US" sz="1875"/>
          </a:p>
        </p:txBody>
      </p:sp>
      <p:sp>
        <p:nvSpPr>
          <p:cNvPr id="4" name="Text 4"/>
          <p:cNvSpPr txBox="1"/>
          <p:nvPr/>
        </p:nvSpPr>
        <p:spPr>
          <a:xfrm>
            <a:off x="628650" y="2400300"/>
            <a:ext cx="49530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00" b="0">
                <a:solidFill>
                  <a:srgbClr val="F0ECE2"/>
                </a:solidFill>
                <a:latin typeface="Arial"/>
              </a:rPr>
              <a:t>A case in an HDB block turns Ros’s trusted access into a liability. The team loses a route it depends on.</a:t>
            </a:r>
            <a:endParaRPr lang="en-US" sz="1800"/>
          </a:p>
        </p:txBody>
      </p:sp>
      <p:sp>
        <p:nvSpPr>
          <p:cNvPr id="5" name="Text 5"/>
          <p:cNvSpPr txBox="1"/>
          <p:nvPr/>
        </p:nvSpPr>
        <p:spPr>
          <a:xfrm>
            <a:off x="6381750" y="1857375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1">
                <a:solidFill>
                  <a:srgbClr val="D4A260"/>
                </a:solidFill>
                <a:latin typeface="Arial"/>
              </a:rPr>
              <a:t>06  OBSERVE</a:t>
            </a:r>
            <a:endParaRPr lang="en-US" sz="1875"/>
          </a:p>
        </p:txBody>
      </p:sp>
      <p:sp>
        <p:nvSpPr>
          <p:cNvPr id="6" name="Text 6"/>
          <p:cNvSpPr txBox="1"/>
          <p:nvPr/>
        </p:nvSpPr>
        <p:spPr>
          <a:xfrm>
            <a:off x="6381750" y="2400300"/>
            <a:ext cx="49530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00" b="0">
                <a:solidFill>
                  <a:srgbClr val="F0ECE2"/>
                </a:solidFill>
                <a:latin typeface="Arial"/>
              </a:rPr>
              <a:t>Evidence of Benedict’s monitoring forces Sarah to question who has been steering their interventions.</a:t>
            </a:r>
            <a:endParaRPr lang="en-US" sz="1800"/>
          </a:p>
        </p:txBody>
      </p:sp>
      <p:sp>
        <p:nvSpPr>
          <p:cNvPr id="7" name="Text 7"/>
          <p:cNvSpPr txBox="1"/>
          <p:nvPr/>
        </p:nvSpPr>
        <p:spPr>
          <a:xfrm>
            <a:off x="628650" y="4048125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1">
                <a:solidFill>
                  <a:srgbClr val="D4A260"/>
                </a:solidFill>
                <a:latin typeface="Arial"/>
              </a:rPr>
              <a:t>07  NAMES</a:t>
            </a:r>
            <a:endParaRPr lang="en-US" sz="1875"/>
          </a:p>
        </p:txBody>
      </p:sp>
      <p:sp>
        <p:nvSpPr>
          <p:cNvPr id="8" name="Text 8"/>
          <p:cNvSpPr txBox="1"/>
          <p:nvPr/>
        </p:nvSpPr>
        <p:spPr>
          <a:xfrm>
            <a:off x="628650" y="4591050"/>
            <a:ext cx="4953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00" b="0">
                <a:solidFill>
                  <a:srgbClr val="F0ECE2"/>
                </a:solidFill>
                <a:latin typeface="Arial"/>
              </a:rPr>
              <a:t>Darren’s ledger connects accepted losses. The team divides over how to expose it without triggering further harm.</a:t>
            </a:r>
            <a:endParaRPr lang="en-US" sz="1800"/>
          </a:p>
        </p:txBody>
      </p:sp>
      <p:sp>
        <p:nvSpPr>
          <p:cNvPr id="9" name="Text 9"/>
          <p:cNvSpPr txBox="1"/>
          <p:nvPr/>
        </p:nvSpPr>
        <p:spPr>
          <a:xfrm>
            <a:off x="6381750" y="4048125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1">
                <a:solidFill>
                  <a:srgbClr val="D4A260"/>
                </a:solidFill>
                <a:latin typeface="Arial"/>
              </a:rPr>
              <a:t>08  THE NECESSARY SIN</a:t>
            </a:r>
            <a:endParaRPr lang="en-US" sz="1875"/>
          </a:p>
        </p:txBody>
      </p:sp>
      <p:sp>
        <p:nvSpPr>
          <p:cNvPr id="10" name="Text 10"/>
          <p:cNvSpPr txBox="1"/>
          <p:nvPr/>
        </p:nvSpPr>
        <p:spPr>
          <a:xfrm>
            <a:off x="6381750" y="4591050"/>
            <a:ext cx="4953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00" b="0">
                <a:solidFill>
                  <a:srgbClr val="F0ECE2"/>
                </a:solidFill>
                <a:latin typeface="Arial"/>
              </a:rPr>
              <a:t>Sarah confronts the authority behind the forecasts. She must choose what to reveal and take public responsibility for the cost.</a:t>
            </a:r>
            <a:endParaRPr lang="en-US" sz="1800"/>
          </a:p>
        </p:txBody>
      </p:sp>
      <p:sp>
        <p:nvSpPr>
          <p:cNvPr id="11" name="Text 11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PROPOSED EPISODE DEVELOPMENT</a:t>
            </a:r>
            <a:endParaRPr lang="en-US" sz="97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Tone and audience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1819275"/>
            <a:ext cx="1066800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550" b="0">
                <a:solidFill>
                  <a:srgbClr val="D4A260"/>
                </a:solidFill>
                <a:latin typeface="Arial"/>
              </a:rPr>
              <a:t>Grounded suspense. Intimate consequences.</a:t>
            </a:r>
            <a:endParaRPr lang="en-US" sz="2550"/>
          </a:p>
        </p:txBody>
      </p:sp>
      <p:sp>
        <p:nvSpPr>
          <p:cNvPr id="4" name="Text 4"/>
          <p:cNvSpPr txBox="1"/>
          <p:nvPr/>
        </p:nvSpPr>
        <p:spPr>
          <a:xfrm>
            <a:off x="628650" y="2867025"/>
            <a:ext cx="3238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0">
                <a:solidFill>
                  <a:srgbClr val="F0ECE2"/>
                </a:solidFill>
                <a:latin typeface="Arial"/>
              </a:rPr>
              <a:t>Person of Interest</a:t>
            </a:r>
            <a:endParaRPr lang="en-US" sz="1875"/>
          </a:p>
          <a:p>
            <a:pPr/>
            <a:r>
              <a:rPr lang="en-US" sz="1875" b="0">
                <a:solidFill>
                  <a:srgbClr val="F0ECE2"/>
                </a:solidFill>
                <a:latin typeface="Arial"/>
              </a:rPr>
              <a:t>Surveillance and intervention</a:t>
            </a:r>
            <a:endParaRPr lang="en-US" sz="1875"/>
          </a:p>
        </p:txBody>
      </p:sp>
      <p:sp>
        <p:nvSpPr>
          <p:cNvPr id="5" name="Text 5"/>
          <p:cNvSpPr txBox="1"/>
          <p:nvPr/>
        </p:nvSpPr>
        <p:spPr>
          <a:xfrm>
            <a:off x="4476750" y="2867025"/>
            <a:ext cx="3238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0">
                <a:solidFill>
                  <a:srgbClr val="F0ECE2"/>
                </a:solidFill>
                <a:latin typeface="Arial"/>
              </a:rPr>
              <a:t>The Capture</a:t>
            </a:r>
            <a:endParaRPr lang="en-US" sz="1875"/>
          </a:p>
          <a:p>
            <a:pPr/>
            <a:r>
              <a:rPr lang="en-US" sz="1875" b="0">
                <a:solidFill>
                  <a:srgbClr val="F0ECE2"/>
                </a:solidFill>
                <a:latin typeface="Arial"/>
              </a:rPr>
              <a:t>Institutional control of evidence</a:t>
            </a:r>
            <a:endParaRPr lang="en-US" sz="1875"/>
          </a:p>
        </p:txBody>
      </p:sp>
      <p:sp>
        <p:nvSpPr>
          <p:cNvPr id="6" name="Text 6"/>
          <p:cNvSpPr txBox="1"/>
          <p:nvPr/>
        </p:nvSpPr>
        <p:spPr>
          <a:xfrm>
            <a:off x="8334375" y="2867025"/>
            <a:ext cx="3238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75" b="0">
                <a:solidFill>
                  <a:srgbClr val="F0ECE2"/>
                </a:solidFill>
                <a:latin typeface="Arial"/>
              </a:rPr>
              <a:t>Slow Horses</a:t>
            </a:r>
            <a:endParaRPr lang="en-US" sz="1875"/>
          </a:p>
          <a:p>
            <a:pPr/>
            <a:r>
              <a:rPr lang="en-US" sz="1875" b="0">
                <a:solidFill>
                  <a:srgbClr val="F0ECE2"/>
                </a:solidFill>
                <a:latin typeface="Arial"/>
              </a:rPr>
              <a:t>A fallible covert ensemble</a:t>
            </a:r>
            <a:endParaRPr lang="en-US" sz="1875"/>
          </a:p>
        </p:txBody>
      </p:sp>
      <p:sp>
        <p:nvSpPr>
          <p:cNvPr id="7" name="Text 7"/>
          <p:cNvSpPr txBox="1"/>
          <p:nvPr/>
        </p:nvSpPr>
        <p:spPr>
          <a:xfrm>
            <a:off x="628650" y="4781550"/>
            <a:ext cx="104775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175" b="0">
                <a:solidFill>
                  <a:srgbClr val="90BCB7"/>
                </a:solidFill>
                <a:latin typeface="Arial"/>
              </a:rPr>
              <a:t>For viewers of intelligent thrillers who want a weekly crisis, an unfolding conspiracy and characters worth following home.</a:t>
            </a:r>
            <a:endParaRPr lang="en-US" sz="2175"/>
          </a:p>
        </p:txBody>
      </p:sp>
      <p:sp>
        <p:nvSpPr>
          <p:cNvPr id="8" name="Text 8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15</a:t>
            </a:r>
            <a:endParaRPr lang="en-US" sz="97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Production and partnership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1838325"/>
            <a:ext cx="10477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550" b="0">
                <a:solidFill>
                  <a:srgbClr val="D4A260"/>
                </a:solidFill>
                <a:latin typeface="Arial"/>
              </a:rPr>
              <a:t>A Singapore-led world with an international thriller engine.</a:t>
            </a:r>
            <a:endParaRPr lang="en-US" sz="2550"/>
          </a:p>
        </p:txBody>
      </p:sp>
      <p:sp>
        <p:nvSpPr>
          <p:cNvPr id="4" name="Text 4"/>
          <p:cNvSpPr txBox="1"/>
          <p:nvPr/>
        </p:nvSpPr>
        <p:spPr>
          <a:xfrm>
            <a:off x="628650" y="3248025"/>
            <a:ext cx="10668000" cy="1666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950" b="0">
                <a:solidFill>
                  <a:srgbClr val="F0ECE2"/>
                </a:solidFill>
                <a:latin typeface="Arial"/>
              </a:rPr>
              <a:t>Recurring base: Seng Heng Aircon.</a:t>
            </a:r>
            <a:endParaRPr lang="en-US" sz="1950"/>
          </a:p>
          <a:p>
            <a:pPr/>
            <a:r>
              <a:rPr lang="en-US" sz="1950" b="0">
                <a:solidFill>
                  <a:srgbClr val="F0ECE2"/>
                </a:solidFill>
                <a:latin typeface="Arial"/>
              </a:rPr>
              <a:t>Civic locations: hawker centres, HDB homes and service corridors.</a:t>
            </a:r>
            <a:endParaRPr lang="en-US" sz="1950"/>
          </a:p>
          <a:p>
            <a:pPr/>
            <a:r>
              <a:rPr lang="en-US" sz="1950" b="0">
                <a:solidFill>
                  <a:srgbClr val="F0ECE2"/>
                </a:solidFill>
                <a:latin typeface="Arial"/>
              </a:rPr>
              <a:t>Rail sequences: controlled sets and planned visual effects.</a:t>
            </a:r>
            <a:endParaRPr lang="en-US" sz="1950"/>
          </a:p>
        </p:txBody>
      </p:sp>
      <p:sp>
        <p:nvSpPr>
          <p:cNvPr id="5" name="Text 5"/>
          <p:cNvSpPr txBox="1"/>
          <p:nvPr/>
        </p:nvSpPr>
        <p:spPr>
          <a:xfrm>
            <a:off x="628650" y="5448300"/>
            <a:ext cx="10572750" cy="895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800" b="0">
                <a:solidFill>
                  <a:srgbClr val="90BCB7"/>
                </a:solidFill>
                <a:latin typeface="Arial"/>
              </a:rPr>
              <a:t>Seeking development and production partners.</a:t>
            </a:r>
            <a:endParaRPr lang="en-US" sz="1800"/>
          </a:p>
          <a:p>
            <a:pPr/>
            <a:r>
              <a:rPr lang="en-US" sz="1800" b="0">
                <a:solidFill>
                  <a:srgbClr val="90BCB7"/>
                </a:solidFill>
                <a:latin typeface="Arial"/>
              </a:rPr>
              <a:t>Budget, rail access and financing structure to be developed with the producing team.</a:t>
            </a:r>
            <a:endParaRPr lang="en-US" sz="1800"/>
          </a:p>
        </p:txBody>
      </p:sp>
      <p:sp>
        <p:nvSpPr>
          <p:cNvPr id="6" name="Text 6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16</a:t>
            </a:r>
            <a:endParaRPr lang="en-US" sz="975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28650" y="619125"/>
            <a:ext cx="107632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225" b="1">
                <a:solidFill>
                  <a:srgbClr val="F0ECE2"/>
                </a:solidFill>
                <a:latin typeface="Arial"/>
              </a:rPr>
              <a:t>GRAY CELL</a:t>
            </a:r>
            <a:endParaRPr lang="en-US" sz="3225"/>
          </a:p>
        </p:txBody>
      </p:sp>
      <p:sp>
        <p:nvSpPr>
          <p:cNvPr id="3" name="Text 3"/>
          <p:cNvSpPr txBox="1"/>
          <p:nvPr/>
        </p:nvSpPr>
        <p:spPr>
          <a:xfrm>
            <a:off x="628650" y="2105025"/>
            <a:ext cx="10477500" cy="1571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3675" b="0">
                <a:solidFill>
                  <a:srgbClr val="D4A260"/>
                </a:solidFill>
                <a:latin typeface="Arial"/>
              </a:rPr>
              <a:t>Every life counts.</a:t>
            </a:r>
            <a:endParaRPr lang="en-US" sz="3675"/>
          </a:p>
          <a:p>
            <a:pPr/>
            <a:r>
              <a:rPr lang="en-US" sz="3675" b="0">
                <a:solidFill>
                  <a:srgbClr val="D4A260"/>
                </a:solidFill>
                <a:latin typeface="Arial"/>
              </a:rPr>
              <a:t>Until it doesn’t.</a:t>
            </a:r>
            <a:endParaRPr lang="en-US" sz="3675"/>
          </a:p>
        </p:txBody>
      </p:sp>
      <p:sp>
        <p:nvSpPr>
          <p:cNvPr id="4" name="Text 4"/>
          <p:cNvSpPr txBox="1"/>
          <p:nvPr/>
        </p:nvSpPr>
        <p:spPr>
          <a:xfrm>
            <a:off x="628650" y="4657725"/>
            <a:ext cx="9525000" cy="895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2025" b="0">
                <a:solidFill>
                  <a:srgbClr val="F0ECE2"/>
                </a:solidFill>
                <a:latin typeface="Arial"/>
              </a:rPr>
              <a:t>NCCA Entertainment</a:t>
            </a:r>
            <a:endParaRPr lang="en-US" sz="2025"/>
          </a:p>
          <a:p>
            <a:pPr/>
            <a:r>
              <a:rPr lang="en-US" sz="2025" b="0">
                <a:solidFill>
                  <a:srgbClr val="F0ECE2"/>
                </a:solidFill>
                <a:latin typeface="Arial"/>
              </a:rPr>
              <a:t>Kelly R. Tenney</a:t>
            </a:r>
            <a:endParaRPr lang="en-US" sz="2025"/>
          </a:p>
        </p:txBody>
      </p:sp>
      <p:sp>
        <p:nvSpPr>
          <p:cNvPr id="5" name="Text 5"/>
          <p:cNvSpPr txBox="1"/>
          <p:nvPr/>
        </p:nvSpPr>
        <p:spPr>
          <a:xfrm>
            <a:off x="628650" y="5867400"/>
            <a:ext cx="9525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1575" b="0">
                <a:solidFill>
                  <a:srgbClr val="90BCB7"/>
                </a:solidFill>
                <a:latin typeface="Arial"/>
              </a:rPr>
              <a:t>nccaentertainment.com</a:t>
            </a:r>
            <a:endParaRPr lang="en-US" sz="1575"/>
          </a:p>
        </p:txBody>
      </p:sp>
      <p:sp>
        <p:nvSpPr>
          <p:cNvPr id="6" name="Text 6"/>
          <p:cNvSpPr txBox="1"/>
          <p:nvPr/>
        </p:nvSpPr>
        <p:spPr>
          <a:xfrm>
            <a:off x="628650" y="6543675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/>
            <a:r>
              <a:rPr lang="en-US" sz="975" b="0">
                <a:solidFill>
                  <a:srgbClr val="B8C6C6"/>
                </a:solidFill>
                <a:latin typeface="Arial"/>
              </a:rPr>
              <a:t>NCCA ENTERTAINMENT   /   17</a:t>
            </a:r>
            <a:endParaRPr lang="en-US" sz="97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 Cell">
  <a:themeElements>
    <a:clrScheme name="Gray Cell">
      <a:dk1>
        <a:srgbClr val="000000"/>
      </a:dk1>
      <a:lt1>
        <a:srgbClr val="FFFFFF"/>
      </a:lt1>
      <a:dk2>
        <a:srgbClr val="0C1B20"/>
      </a:dk2>
      <a:lt2>
        <a:srgbClr val="F0ECE2"/>
      </a:lt2>
      <a:accent1>
        <a:srgbClr val="90BCB7"/>
      </a:accent1>
      <a:accent2>
        <a:srgbClr val="D4A260"/>
      </a:accent2>
      <a:accent3>
        <a:srgbClr val="48646B"/>
      </a:accent3>
      <a:accent4>
        <a:srgbClr val="9A5B4A"/>
      </a:accent4>
      <a:accent5>
        <a:srgbClr val="C5C6BE"/>
      </a:accent5>
      <a:accent6>
        <a:srgbClr val="647C82"/>
      </a:accent6>
      <a:hlink>
        <a:srgbClr val="90BCB7"/>
      </a:hlink>
      <a:folHlink>
        <a:srgbClr val="D4A26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