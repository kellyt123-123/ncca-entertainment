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2eac7a8db14f6d" /><Relationship Type="http://schemas.openxmlformats.org/officeDocument/2006/relationships/extended-properties" Target="/docProps/app.xml" Id="R4415a7ec39034690" /><Relationship Type="http://schemas.openxmlformats.org/officeDocument/2006/relationships/officeDocument" Target="/ppt/presentation.xml" Id="R3f90cbe702684246" /></Relationships>
</file>

<file path=ppt/presentation.xml><?xml version="1.0" encoding="utf-8"?>
<p:presentation xmlns:p="http://schemas.openxmlformats.org/presentationml/2006/main">
  <p:sldMasterIdLst>
    <p:sldMasterId xmlns:r="http://schemas.openxmlformats.org/officeDocument/2006/relationships" id="2147483648" r:id="Rda38d5cc225c4fe9"/>
  </p:sldMasterIdLst>
  <p:notesMasterIdLst>
    <p:notesMasterId xmlns:r="http://schemas.openxmlformats.org/officeDocument/2006/relationships" r:id="R60fc25ce6ddc4790"/>
  </p:notesMasterIdLst>
  <p:sldIdLst>
    <p:sldId xmlns:r="http://schemas.openxmlformats.org/officeDocument/2006/relationships" id="256" r:id="R8e7ad522341d4e8d"/>
    <p:sldId xmlns:r="http://schemas.openxmlformats.org/officeDocument/2006/relationships" id="257" r:id="R80fde48e50974961"/>
    <p:sldId xmlns:r="http://schemas.openxmlformats.org/officeDocument/2006/relationships" id="258" r:id="Rc89fcfbb66d24830"/>
    <p:sldId xmlns:r="http://schemas.openxmlformats.org/officeDocument/2006/relationships" id="259" r:id="R537efab2236e4e5b"/>
    <p:sldId xmlns:r="http://schemas.openxmlformats.org/officeDocument/2006/relationships" id="260" r:id="R50c6650ad9d44dac"/>
    <p:sldId xmlns:r="http://schemas.openxmlformats.org/officeDocument/2006/relationships" id="261" r:id="R9d2d3746123e4315"/>
    <p:sldId xmlns:r="http://schemas.openxmlformats.org/officeDocument/2006/relationships" id="262" r:id="Rf02233b8126c440b"/>
    <p:sldId xmlns:r="http://schemas.openxmlformats.org/officeDocument/2006/relationships" id="263" r:id="R4fea3962a5874a5c"/>
    <p:sldId xmlns:r="http://schemas.openxmlformats.org/officeDocument/2006/relationships" id="264" r:id="Rdbb61149134d49da"/>
    <p:sldId xmlns:r="http://schemas.openxmlformats.org/officeDocument/2006/relationships" id="265" r:id="Ra2f96e3970194b68"/>
    <p:sldId xmlns:r="http://schemas.openxmlformats.org/officeDocument/2006/relationships" id="266" r:id="R87d93054aa7c45a1"/>
    <p:sldId xmlns:r="http://schemas.openxmlformats.org/officeDocument/2006/relationships" id="267" r:id="R775d02ba905b48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cbf2da4294415b" /><Relationship Type="http://schemas.openxmlformats.org/officeDocument/2006/relationships/slideMaster" Target="/ppt/slideMasters/slideMaster1.xml" Id="Rda38d5cc225c4fe9" /><Relationship Type="http://schemas.openxmlformats.org/officeDocument/2006/relationships/notesMaster" Target="/ppt/notesMasters/notesMaster1.xml" Id="R60fc25ce6ddc4790" /><Relationship Type="http://schemas.openxmlformats.org/officeDocument/2006/relationships/presProps" Target="/ppt/presProps.xml" Id="Rdd4f521bc87547e3" /><Relationship Type="http://schemas.openxmlformats.org/officeDocument/2006/relationships/tableStyles" Target="/ppt/tableStyles.xml" Id="Rebd2002a702045e8" /><Relationship Type="http://schemas.openxmlformats.org/officeDocument/2006/relationships/slide" Target="/ppt/slides/slide1.xml" Id="R8e7ad522341d4e8d" /><Relationship Type="http://schemas.openxmlformats.org/officeDocument/2006/relationships/slide" Target="/ppt/slides/slide2.xml" Id="R80fde48e50974961" /><Relationship Type="http://schemas.openxmlformats.org/officeDocument/2006/relationships/slide" Target="/ppt/slides/slide3.xml" Id="Rc89fcfbb66d24830" /><Relationship Type="http://schemas.openxmlformats.org/officeDocument/2006/relationships/slide" Target="/ppt/slides/slide4.xml" Id="R537efab2236e4e5b" /><Relationship Type="http://schemas.openxmlformats.org/officeDocument/2006/relationships/slide" Target="/ppt/slides/slide5.xml" Id="R50c6650ad9d44dac" /><Relationship Type="http://schemas.openxmlformats.org/officeDocument/2006/relationships/slide" Target="/ppt/slides/slide6.xml" Id="R9d2d3746123e4315" /><Relationship Type="http://schemas.openxmlformats.org/officeDocument/2006/relationships/slide" Target="/ppt/slides/slide7.xml" Id="Rf02233b8126c440b" /><Relationship Type="http://schemas.openxmlformats.org/officeDocument/2006/relationships/slide" Target="/ppt/slides/slide8.xml" Id="R4fea3962a5874a5c" /><Relationship Type="http://schemas.openxmlformats.org/officeDocument/2006/relationships/slide" Target="/ppt/slides/slide9.xml" Id="Rdbb61149134d49da" /><Relationship Type="http://schemas.openxmlformats.org/officeDocument/2006/relationships/slide" Target="/ppt/slides/slide10.xml" Id="Ra2f96e3970194b68" /><Relationship Type="http://schemas.openxmlformats.org/officeDocument/2006/relationships/slide" Target="/ppt/slides/slide11.xml" Id="R87d93054aa7c45a1" /><Relationship Type="http://schemas.openxmlformats.org/officeDocument/2006/relationships/slide" Target="/ppt/slides/slide12.xml" Id="R775d02ba905b48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fd3f0c859646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2f59d5f83d4a17" /><Relationship Type="http://schemas.openxmlformats.org/officeDocument/2006/relationships/notesMaster" Target="/ppt/notesMasters/notesMaster1.xml" Id="R81b47fdaaa3742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737d4b7cab4082" /><Relationship Type="http://schemas.openxmlformats.org/officeDocument/2006/relationships/notesMaster" Target="/ppt/notesMasters/notesMaster1.xml" Id="Rd5ae5de4f3dd44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00d66178e3470d" /><Relationship Type="http://schemas.openxmlformats.org/officeDocument/2006/relationships/notesMaster" Target="/ppt/notesMasters/notesMaster1.xml" Id="R39c6db3073f14b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6a6f8e82c9477e" /><Relationship Type="http://schemas.openxmlformats.org/officeDocument/2006/relationships/notesMaster" Target="/ppt/notesMasters/notesMaster1.xml" Id="Rf4d1e35cb90a4b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47dd4364614447" /><Relationship Type="http://schemas.openxmlformats.org/officeDocument/2006/relationships/notesMaster" Target="/ppt/notesMasters/notesMaster1.xml" Id="R80c713d6210245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af4d0180df4758" /><Relationship Type="http://schemas.openxmlformats.org/officeDocument/2006/relationships/notesMaster" Target="/ppt/notesMasters/notesMaster1.xml" Id="Rbba8d938206948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06525a57664b2f" /><Relationship Type="http://schemas.openxmlformats.org/officeDocument/2006/relationships/notesMaster" Target="/ppt/notesMasters/notesMaster1.xml" Id="R84f72cfbd23349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92b6129d304885" /><Relationship Type="http://schemas.openxmlformats.org/officeDocument/2006/relationships/notesMaster" Target="/ppt/notesMasters/notesMaster1.xml" Id="R04edb46e68df44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8e601f445d4e05" /><Relationship Type="http://schemas.openxmlformats.org/officeDocument/2006/relationships/notesMaster" Target="/ppt/notesMasters/notesMaster1.xml" Id="Rffaace7321154f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3148c0e91c4efb" /><Relationship Type="http://schemas.openxmlformats.org/officeDocument/2006/relationships/notesMaster" Target="/ppt/notesMasters/notesMaster1.xml" Id="R431b1341223542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5e71d9b3cd47a9" /><Relationship Type="http://schemas.openxmlformats.org/officeDocument/2006/relationships/notesMaster" Target="/ppt/notesMasters/notesMaster1.xml" Id="R92f30fd767e34b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b455502d7f46bc" /><Relationship Type="http://schemas.openxmlformats.org/officeDocument/2006/relationships/notesMaster" Target="/ppt/notesMasters/notesMaster1.xml" Id="Rb1bbce816d90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Title changed throughout to LION CITY. Singapore, present day.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Jack Vance is a DSS agent protecting a U.S. Senator. Sophii Weiming must confront her father’s legacy. Julian Vane steals the Sovereign Drive to trigger The Reset.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Paper maps, mechanical watches, radio networks and forgotten tunnels form the analog counterattack. Lau Pa Sat exposes the surveillance lie: a satay skewer is misread as a gun.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Comparables retain the prior conversation’s tonal references. They are creative positioning, not financial forecasts or claims of equivalent performance.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An AI threat assessment misread a child’s toy as a bomb during an embassy evacuation in Kyiv, delaying the response and costing lives. Jack’s arc moves from isolation to human trust.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Former STAR Unit rising star. Her father, a revered urban planner, died under mysterious circumstances after defending the grid. Vane offers proof of his blackmail only if she completes the Reset. She destroys the terminal instead.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Vane, 50s, uses the Sovereign Drive to collapse financial, identity and surveillance records across ASEAN. Uncle Tan is described as a WWII sapper in the supplied treatment. Maya’s capture makes resistance costly. Sloane predicts movement through building sensors and a subdermal mesh.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Act I: Jewel Changi, Marina Bay Financial Centre, Lau Pa Sat. Act II: stormwater tunnels, Bukit Timah, Little India, Supertree Grove light-and-mist escape. Act III: two-path Marina Bay Sands assault; Sophii defeats Sloane with inherited silat, destroys the terminal at 98%; Jack couples the Sovereign Drive to a lightning rod. Grid reboots; Sophii establishes the Gray Cell; Seoul anomaly seeds continuation.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Palette: Midnight Black #0E0E11, Steel Gray #2A2F36, Neon Teal #1ED6C1, Warm Paper White #F3F1EC. Grain, rain streaks, reflected light and fractured grid lines connect the deck and poster.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Casting in discussion is the user’s requested language. No talent attachments or named actors are asserted. Portraits are fictional character concepts.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Positioning for a premium action-thriller audience. Franchise potential is grounded in Sophii’s Gray Cell and the final Seoul anomaly; the core story resolves the Singapore crisis. No market size, budget or buyer commitment is claimed.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four-page story treatment and Pitch Deck Creation conversation. Available source is a four-page treatment labeled Final Draft, not a feature-length screenplay. Next steps are proposed development and packaging stages, not secured financing or production status. Visuals are generated concept artwork; no actors are depicted as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0054008c0441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9803b7b89e470a" /><Relationship Type="http://schemas.openxmlformats.org/officeDocument/2006/relationships/slideLayout" Target="/ppt/slideLayouts/slideLayout1.xml" Id="R82fe1acd8df34c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fe1acd8df34c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52b9963e6942dd" /><Relationship Type="http://schemas.openxmlformats.org/officeDocument/2006/relationships/image" Target="/ppt/media/image.png" Id="Rbb192db5d07a4507" /><Relationship Type="http://schemas.openxmlformats.org/officeDocument/2006/relationships/notesSlide" Target="/ppt/notesSlides/notesSlide1.xml" Id="Rb70adf7614d7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943595b0594d9f" /><Relationship Type="http://schemas.openxmlformats.org/officeDocument/2006/relationships/image" Target="/ppt/media/image2.png" Id="R49fbdaf9d2f1421f" /><Relationship Type="http://schemas.openxmlformats.org/officeDocument/2006/relationships/notesSlide" Target="/ppt/notesSlides/notesSlide2.xml" Id="R3fa1239057a046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7fd7728d58421f" /><Relationship Type="http://schemas.openxmlformats.org/officeDocument/2006/relationships/image" Target="/ppt/media/image3.png" Id="R4bbfed02b5a34568" /><Relationship Type="http://schemas.openxmlformats.org/officeDocument/2006/relationships/notesSlide" Target="/ppt/notesSlides/notesSlide3.xml" Id="Rd33d92332dcd42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45238d804d41c9" /><Relationship Type="http://schemas.openxmlformats.org/officeDocument/2006/relationships/notesSlide" Target="/ppt/notesSlides/notesSlide4.xml" Id="R8b7f556e3a7849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a3af8e695b415c" /><Relationship Type="http://schemas.openxmlformats.org/officeDocument/2006/relationships/image" Target="/ppt/media/image4.png" Id="R39f8edb0c6c84851" /><Relationship Type="http://schemas.openxmlformats.org/officeDocument/2006/relationships/notesSlide" Target="/ppt/notesSlides/notesSlide5.xml" Id="R111e958986de4b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7a06479c4e4a87" /><Relationship Type="http://schemas.openxmlformats.org/officeDocument/2006/relationships/image" Target="/ppt/media/image5.png" Id="R94f33497de8344a3" /><Relationship Type="http://schemas.openxmlformats.org/officeDocument/2006/relationships/notesSlide" Target="/ppt/notesSlides/notesSlide6.xml" Id="R7ae7c5a05a864d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b426d33e404f09" /><Relationship Type="http://schemas.openxmlformats.org/officeDocument/2006/relationships/notesSlide" Target="/ppt/notesSlides/notesSlide7.xml" Id="R811f3ea8ec3742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a8bfa21b62409b" /><Relationship Type="http://schemas.openxmlformats.org/officeDocument/2006/relationships/notesSlide" Target="/ppt/notesSlides/notesSlide8.xml" Id="Ra12c747c0d6443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85ba8774a54a29" /><Relationship Type="http://schemas.openxmlformats.org/officeDocument/2006/relationships/image" Target="/ppt/media/image6.png" Id="R4c633a4e4b884edc" /><Relationship Type="http://schemas.openxmlformats.org/officeDocument/2006/relationships/image" Target="/ppt/media/image7.png" Id="R7615df8b78e54e41" /><Relationship Type="http://schemas.openxmlformats.org/officeDocument/2006/relationships/notesSlide" Target="/ppt/notesSlides/notesSlide9.xml" Id="R255f5aa3b45c48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554239e2524525" /><Relationship Type="http://schemas.openxmlformats.org/officeDocument/2006/relationships/image" Target="/ppt/media/image8.png" Id="R9adeeffc538e431c" /><Relationship Type="http://schemas.openxmlformats.org/officeDocument/2006/relationships/image" Target="/ppt/media/image9.png" Id="R2f4101072d434eb8" /><Relationship Type="http://schemas.openxmlformats.org/officeDocument/2006/relationships/notesSlide" Target="/ppt/notesSlides/notesSlide10.xml" Id="R28a74e3d67f844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d91ff3bd874850" /><Relationship Type="http://schemas.openxmlformats.org/officeDocument/2006/relationships/notesSlide" Target="/ppt/notesSlides/notesSlide11.xml" Id="Rc75add0a4ab74b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a8ae195e9c4a87" /><Relationship Type="http://schemas.openxmlformats.org/officeDocument/2006/relationships/notesSlide" Target="/ppt/notesSlides/notesSlide12.xml" Id="R4a92d1c81e694b4a" /></Relationships>
</file>

<file path=ppt/slides/slide1.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D8833A-8F80-4817-98D9-9623D120AA01}"/>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CA42114-CE09-4293-88FE-F446ED81C156}"/>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BB7F3420-45E2-4FEA-9B29-057035164C41}"/>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b192db5d07a4507"/>
          <a:srcRect xmlns:a="http://schemas.openxmlformats.org/drawingml/2006/main" l="0" t="7895" r="0" b="7895"/>
          <a:stretch xmlns:a="http://schemas.openxmlformats.org/drawingml/2006/main">
            <a:fillRect l="0" t="0" r="0" b="0"/>
          </a:stretch>
        </p:blipFill>
        <p:spPr>
          <a:xfrm xmlns:a="http://schemas.openxmlformats.org/drawingml/2006/main">
            <a:off x="0" y="0"/>
            <a:ext cx="7239000" cy="609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2CD720-562A-4D02-B61A-7BFCAFE283BB}"/>
              </a:ext>
            </a:extLst>
          </p:cNvPr>
          <p:cNvSpPr>
            <a:spLocks xmlns:a="http://schemas.openxmlformats.org/drawingml/2006/main" noGrp="1"/>
          </p:cNvSpPr>
          <p:nvPr/>
        </p:nvSpPr>
        <p:spPr>
          <a:xfrm xmlns:a="http://schemas.openxmlformats.org/drawingml/2006/main">
            <a:off x="7620000" y="104775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F3F1EC"/>
                </a:solidFill>
                <a:latin typeface="Arial Narrow"/>
                <a:ea typeface="Arial Narrow"/>
                <a:cs typeface="Arial Narrow"/>
              </a:defRPr>
            </a:pPr>
            <a:r>
              <a:rPr sz="8400" b="1">
                <a:solidFill>
                  <a:srgbClr val="F3F1EC"/>
                </a:solidFill>
                <a:latin typeface="Arial Narrow"/>
                <a:ea typeface="Arial Narrow"/>
                <a:cs typeface="Arial Narrow"/>
              </a:rPr>
              <a:t>LION</a:t>
            </a:r>
          </a:p>
          <a:p xmlns:a="http://schemas.openxmlformats.org/drawingml/2006/main">
            <a:pPr>
              <a:defRPr sz="8400" b="1">
                <a:solidFill>
                  <a:srgbClr val="F3F1EC"/>
                </a:solidFill>
                <a:latin typeface="Arial Narrow"/>
                <a:ea typeface="Arial Narrow"/>
                <a:cs typeface="Arial Narrow"/>
              </a:defRPr>
            </a:pPr>
            <a:r>
              <a:rPr sz="8400" b="1">
                <a:solidFill>
                  <a:srgbClr val="F3F1EC"/>
                </a:solidFill>
                <a:latin typeface="Arial Narrow"/>
                <a:ea typeface="Arial Narrow"/>
                <a:cs typeface="Arial Narrow"/>
              </a:rPr>
              <a:t>CITY</a:t>
            </a:r>
          </a:p>
        </p:txBody>
      </p:sp>
      <p:sp>
        <p:nvSpPr>
          <p:cNvPr id="6" name="">
            <a:extLst xmlns:a="http://schemas.openxmlformats.org/drawingml/2006/main">
              <a:ext uri="{FF2B5EF4-FFF2-40B4-BE49-F238E27FC236}">
                <a16:creationId xmlns:a16="http://schemas.microsoft.com/office/drawing/2014/main" id="{FC1ACA2B-9D84-4D77-B45E-3EA54A77F0BF}"/>
              </a:ext>
            </a:extLst>
          </p:cNvPr>
          <p:cNvSpPr>
            <a:spLocks xmlns:a="http://schemas.openxmlformats.org/drawingml/2006/main" noGrp="1"/>
          </p:cNvSpPr>
          <p:nvPr/>
        </p:nvSpPr>
        <p:spPr>
          <a:xfrm xmlns:a="http://schemas.openxmlformats.org/drawingml/2006/main">
            <a:off x="7667625" y="3857625"/>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D6C1"/>
                </a:solidFill>
                <a:latin typeface="Arial"/>
                <a:ea typeface="Arial"/>
                <a:cs typeface="Arial"/>
              </a:defRPr>
            </a:pPr>
            <a:r>
              <a:rPr sz="1500" b="0">
                <a:solidFill>
                  <a:srgbClr val="1ED6C1"/>
                </a:solidFill>
                <a:latin typeface="Arial"/>
                <a:ea typeface="Arial"/>
                <a:cs typeface="Arial"/>
              </a:rPr>
              <a:t>TACTICAL ACTION / TECH THRILLER</a:t>
            </a:r>
          </a:p>
          <a:p xmlns:a="http://schemas.openxmlformats.org/drawingml/2006/main">
            <a:pPr>
              <a:defRPr sz="1500" b="0">
                <a:solidFill>
                  <a:srgbClr val="1ED6C1"/>
                </a:solidFill>
                <a:latin typeface="Arial"/>
                <a:ea typeface="Arial"/>
                <a:cs typeface="Arial"/>
              </a:defRPr>
            </a:pPr>
            <a:r>
              <a:rPr sz="1500" b="0">
                <a:solidFill>
                  <a:srgbClr val="1ED6C1"/>
                </a:solidFill>
                <a:latin typeface="Arial"/>
                <a:ea typeface="Arial"/>
                <a:cs typeface="Arial"/>
              </a:rPr>
              <a:t>FEATURE FILM</a:t>
            </a:r>
          </a:p>
        </p:txBody>
      </p:sp>
      <p:sp>
        <p:nvSpPr>
          <p:cNvPr id="7" name="">
            <a:extLst xmlns:a="http://schemas.openxmlformats.org/drawingml/2006/main">
              <a:ext uri="{FF2B5EF4-FFF2-40B4-BE49-F238E27FC236}">
                <a16:creationId xmlns:a16="http://schemas.microsoft.com/office/drawing/2014/main" id="{67CCD6C5-B596-4AEF-9309-A1B0C53F6FBC}"/>
              </a:ext>
            </a:extLst>
          </p:cNvPr>
          <p:cNvSpPr>
            <a:spLocks xmlns:a="http://schemas.openxmlformats.org/drawingml/2006/main" noGrp="1"/>
          </p:cNvSpPr>
          <p:nvPr/>
        </p:nvSpPr>
        <p:spPr>
          <a:xfrm xmlns:a="http://schemas.openxmlformats.org/drawingml/2006/main">
            <a:off x="7667625" y="495300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You can’t debug</a:t>
            </a:r>
          </a:p>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the human soul.</a:t>
            </a:r>
          </a:p>
        </p:txBody>
      </p:sp>
    </p:spTree>
    <p:extLst>
      <p:ext uri="{BB962C8B-B14F-4D97-AF65-F5344CB8AC3E}">
        <p14:creationId xmlns:p14="http://schemas.microsoft.com/office/powerpoint/2010/main" val="2102143937"/>
      </p:ext>
    </p:extLst>
  </p:cSld>
</p:sld>
</file>

<file path=ppt/slides/slide2.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30C7BE-45F4-44A1-B491-493C2A20214A}"/>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THE LOGLINE</a:t>
            </a:r>
          </a:p>
        </p:txBody>
      </p:sp>
      <p:sp>
        <p:nvSpPr>
          <p:cNvPr id="2" name="">
            <a:extLst xmlns:a="http://schemas.openxmlformats.org/drawingml/2006/main">
              <a:ext uri="{FF2B5EF4-FFF2-40B4-BE49-F238E27FC236}">
                <a16:creationId xmlns:a16="http://schemas.microsoft.com/office/drawing/2014/main" id="{D7E96445-C6F5-44C0-A397-7A595B3F6F77}"/>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35EF7E0E-A15B-4D0E-A73F-25AC691CF24C}"/>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9fbdaf9d2f1421f"/>
          <a:srcRect xmlns:a="http://schemas.openxmlformats.org/drawingml/2006/main" l="1717" t="0" r="1717" b="0"/>
          <a:stretch xmlns:a="http://schemas.openxmlformats.org/drawingml/2006/main">
            <a:fillRect l="0" t="0" r="0" b="0"/>
          </a:stretch>
        </p:blipFill>
        <p:spPr>
          <a:xfrm xmlns:a="http://schemas.openxmlformats.org/drawingml/2006/main">
            <a:off x="7905750" y="1485900"/>
            <a:ext cx="4286250" cy="4438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827C62-52E6-46E3-B3C9-6E41DC20D99F}"/>
              </a:ext>
            </a:extLst>
          </p:cNvPr>
          <p:cNvSpPr>
            <a:spLocks xmlns:a="http://schemas.openxmlformats.org/drawingml/2006/main" noGrp="1"/>
          </p:cNvSpPr>
          <p:nvPr/>
        </p:nvSpPr>
        <p:spPr>
          <a:xfrm xmlns:a="http://schemas.openxmlformats.org/drawingml/2006/main">
            <a:off x="609600" y="2000250"/>
            <a:ext cx="6762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3F1EC"/>
                </a:solidFill>
                <a:latin typeface="Arial"/>
                <a:ea typeface="Arial"/>
                <a:cs typeface="Arial"/>
              </a:defRPr>
            </a:pPr>
            <a:r>
              <a:rPr sz="2775" b="0">
                <a:solidFill>
                  <a:srgbClr val="F3F1EC"/>
                </a:solidFill>
                <a:latin typeface="Arial"/>
                <a:ea typeface="Arial"/>
                <a:cs typeface="Arial"/>
              </a:rPr>
              <a:t>Framed by the architect of Singapore’s all-seeing grid, a traumatized American agent and a disgraced inspector must disappear into the city’s analog blind spots to stop a stolen quantum key from erasing identity and finance across ASEAN.</a:t>
            </a:r>
          </a:p>
        </p:txBody>
      </p:sp>
    </p:spTree>
    <p:extLst>
      <p:ext uri="{BB962C8B-B14F-4D97-AF65-F5344CB8AC3E}">
        <p14:creationId xmlns:p14="http://schemas.microsoft.com/office/powerpoint/2010/main" val="1638896504"/>
      </p:ext>
    </p:extLst>
  </p:cSld>
</p:sld>
</file>

<file path=ppt/slides/slide3.xml><?xml version="1.0" encoding="utf-8"?>
<p:sld xmlns:p="http://schemas.openxmlformats.org/presentationml/2006/main">
  <p:cSld>
    <p:bg>
      <p:bgPr>
        <a:solidFill xmlns:a="http://schemas.openxmlformats.org/drawingml/2006/main">
          <a:srgbClr val="F3F1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514235-0F52-4571-B468-04E3D7604CBF}"/>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E0E11"/>
                </a:solidFill>
                <a:latin typeface="Arial Narrow"/>
                <a:ea typeface="Arial Narrow"/>
                <a:cs typeface="Arial Narrow"/>
              </a:defRPr>
            </a:pPr>
            <a:r>
              <a:rPr sz="3750" b="1">
                <a:solidFill>
                  <a:srgbClr val="0E0E11"/>
                </a:solidFill>
                <a:latin typeface="Arial Narrow"/>
                <a:ea typeface="Arial Narrow"/>
                <a:cs typeface="Arial Narrow"/>
              </a:rPr>
              <a:t>THE HOOK</a:t>
            </a:r>
          </a:p>
        </p:txBody>
      </p:sp>
      <p:sp>
        <p:nvSpPr>
          <p:cNvPr id="2" name="">
            <a:extLst xmlns:a="http://schemas.openxmlformats.org/drawingml/2006/main">
              <a:ext uri="{FF2B5EF4-FFF2-40B4-BE49-F238E27FC236}">
                <a16:creationId xmlns:a16="http://schemas.microsoft.com/office/drawing/2014/main" id="{90AB8B40-64CB-45CA-AC8C-BB48FBAC3582}"/>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A2F36"/>
                </a:solidFill>
                <a:latin typeface="Arial"/>
                <a:ea typeface="Arial"/>
                <a:cs typeface="Arial"/>
              </a:defRPr>
            </a:pPr>
            <a:r>
              <a:rPr sz="1125" b="0">
                <a:solidFill>
                  <a:srgbClr val="2A2F36"/>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AA9BAB10-A71A-4635-A02F-2252F47E852B}"/>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86AF644-2EEB-429D-938F-4854DE978E0C}"/>
              </a:ext>
            </a:extLst>
          </p:cNvPr>
          <p:cNvSpPr>
            <a:spLocks xmlns:a="http://schemas.openxmlformats.org/drawingml/2006/main" noGrp="1"/>
          </p:cNvSpPr>
          <p:nvPr/>
        </p:nvSpPr>
        <p:spPr>
          <a:xfrm xmlns:a="http://schemas.openxmlformats.org/drawingml/2006/main">
            <a:off x="609600" y="1762125"/>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E0E11"/>
                </a:solidFill>
                <a:latin typeface="Arial Narrow"/>
                <a:ea typeface="Arial Narrow"/>
                <a:cs typeface="Arial Narrow"/>
              </a:defRPr>
            </a:pPr>
            <a:r>
              <a:rPr sz="3375" b="1">
                <a:solidFill>
                  <a:srgbClr val="0E0E11"/>
                </a:solidFill>
                <a:latin typeface="Arial Narrow"/>
                <a:ea typeface="Arial Narrow"/>
                <a:cs typeface="Arial Narrow"/>
              </a:rPr>
              <a:t>The smartest city becomes</a:t>
            </a:r>
          </a:p>
          <a:p xmlns:a="http://schemas.openxmlformats.org/drawingml/2006/main">
            <a:pPr>
              <a:defRPr sz="3375" b="1">
                <a:solidFill>
                  <a:srgbClr val="0E0E11"/>
                </a:solidFill>
                <a:latin typeface="Arial Narrow"/>
                <a:ea typeface="Arial Narrow"/>
                <a:cs typeface="Arial Narrow"/>
              </a:defRPr>
            </a:pPr>
            <a:r>
              <a:rPr sz="3375" b="1">
                <a:solidFill>
                  <a:srgbClr val="0E0E11"/>
                </a:solidFill>
                <a:latin typeface="Arial Narrow"/>
                <a:ea typeface="Arial Narrow"/>
                <a:cs typeface="Arial Narrow"/>
              </a:rPr>
              <a:t>the perfect trap.</a:t>
            </a:r>
          </a:p>
        </p:txBody>
      </p:sp>
      <p:sp>
        <p:nvSpPr>
          <p:cNvPr id="5" name="">
            <a:extLst xmlns:a="http://schemas.openxmlformats.org/drawingml/2006/main">
              <a:ext uri="{FF2B5EF4-FFF2-40B4-BE49-F238E27FC236}">
                <a16:creationId xmlns:a16="http://schemas.microsoft.com/office/drawing/2014/main" id="{6903CD4C-E7B5-4313-8DAA-DB976BE85B5D}"/>
              </a:ext>
            </a:extLst>
          </p:cNvPr>
          <p:cNvSpPr>
            <a:spLocks xmlns:a="http://schemas.openxmlformats.org/drawingml/2006/main" noGrp="1"/>
          </p:cNvSpPr>
          <p:nvPr/>
        </p:nvSpPr>
        <p:spPr>
          <a:xfrm xmlns:a="http://schemas.openxmlformats.org/drawingml/2006/main">
            <a:off x="609600" y="3524250"/>
            <a:ext cx="5810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A2F36"/>
                </a:solidFill>
                <a:latin typeface="Arial"/>
                <a:ea typeface="Arial"/>
                <a:cs typeface="Arial"/>
              </a:defRPr>
            </a:pPr>
            <a:r>
              <a:rPr sz="2100" b="0">
                <a:solidFill>
                  <a:srgbClr val="2A2F36"/>
                </a:solidFill>
                <a:latin typeface="Arial"/>
                <a:ea typeface="Arial"/>
                <a:cs typeface="Arial"/>
              </a:rPr>
              <a:t>Every camera hunts them.</a:t>
            </a:r>
          </a:p>
          <a:p xmlns:a="http://schemas.openxmlformats.org/drawingml/2006/main">
            <a:pPr>
              <a:defRPr sz="2100" b="0">
                <a:solidFill>
                  <a:srgbClr val="2A2F36"/>
                </a:solidFill>
                <a:latin typeface="Arial"/>
                <a:ea typeface="Arial"/>
                <a:cs typeface="Arial"/>
              </a:defRPr>
            </a:pPr>
            <a:r>
              <a:rPr sz="2100" b="0">
                <a:solidFill>
                  <a:srgbClr val="2A2F36"/>
                </a:solidFill>
                <a:latin typeface="Arial"/>
                <a:ea typeface="Arial"/>
                <a:cs typeface="Arial"/>
              </a:rPr>
              <a:t>Every connected system can turn hostile.</a:t>
            </a:r>
          </a:p>
          <a:p xmlns:a="http://schemas.openxmlformats.org/drawingml/2006/main">
            <a:pPr>
              <a:defRPr sz="2100" b="0">
                <a:solidFill>
                  <a:srgbClr val="2A2F36"/>
                </a:solidFill>
                <a:latin typeface="Arial"/>
                <a:ea typeface="Arial"/>
                <a:cs typeface="Arial"/>
              </a:defRPr>
            </a:pPr>
            <a:r>
              <a:rPr sz="2100" b="0">
                <a:solidFill>
                  <a:srgbClr val="2A2F36"/>
                </a:solidFill>
                <a:latin typeface="Arial"/>
                <a:ea typeface="Arial"/>
                <a:cs typeface="Arial"/>
              </a:rPr>
              <a:t>Their escape route is human.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bbfed02b5a34568"/>
          <a:srcRect xmlns:a="http://schemas.openxmlformats.org/drawingml/2006/main" l="0" t="4211" r="0" b="4211"/>
          <a:stretch xmlns:a="http://schemas.openxmlformats.org/drawingml/2006/main">
            <a:fillRect l="0" t="0" r="0" b="0"/>
          </a:stretch>
        </p:blipFill>
        <p:spPr>
          <a:xfrm xmlns:a="http://schemas.openxmlformats.org/drawingml/2006/main">
            <a:off x="7048500" y="1581150"/>
            <a:ext cx="4524375" cy="4143375"/>
          </a:xfrm>
          <a:prstGeom xmlns:a="http://schemas.openxmlformats.org/drawingml/2006/main" prst="rect">
            <a:avLst/>
          </a:prstGeom>
        </p:spPr>
      </p:pic>
    </p:spTree>
    <p:extLst>
      <p:ext uri="{BB962C8B-B14F-4D97-AF65-F5344CB8AC3E}">
        <p14:creationId xmlns:p14="http://schemas.microsoft.com/office/powerpoint/2010/main" val="1370666137"/>
      </p:ext>
    </p:extLst>
  </p:cSld>
</p:sld>
</file>

<file path=ppt/slides/slide4.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02167F-9971-4D47-BA8F-00ED4DBC26E2}"/>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TONE &amp; COMPARABLES</a:t>
            </a:r>
          </a:p>
        </p:txBody>
      </p:sp>
      <p:sp>
        <p:nvSpPr>
          <p:cNvPr id="2" name="">
            <a:extLst xmlns:a="http://schemas.openxmlformats.org/drawingml/2006/main">
              <a:ext uri="{FF2B5EF4-FFF2-40B4-BE49-F238E27FC236}">
                <a16:creationId xmlns:a16="http://schemas.microsoft.com/office/drawing/2014/main" id="{D72EF128-C2D1-43A2-AA0C-DB7BEAC923BD}"/>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B13E204A-EEFE-4CEE-961A-0552E2159B7D}"/>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AD154FED-36C5-43C2-87A5-34CF13A497E8}"/>
              </a:ext>
            </a:extLst>
          </p:cNvPr>
          <p:cNvSpPr>
            <a:spLocks xmlns:a="http://schemas.openxmlformats.org/drawingml/2006/main" noGrp="1"/>
          </p:cNvSpPr>
          <p:nvPr/>
        </p:nvSpPr>
        <p:spPr>
          <a:xfrm xmlns:a="http://schemas.openxmlformats.org/drawingml/2006/main">
            <a:off x="609600" y="14668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ED6C1"/>
                </a:solidFill>
                <a:latin typeface="Arial"/>
                <a:ea typeface="Arial"/>
                <a:cs typeface="Arial"/>
              </a:defRPr>
            </a:pPr>
            <a:r>
              <a:rPr sz="2700" b="0">
                <a:solidFill>
                  <a:srgbClr val="1ED6C1"/>
                </a:solidFill>
                <a:latin typeface="Arial"/>
                <a:ea typeface="Arial"/>
                <a:cs typeface="Arial"/>
              </a:rPr>
              <a:t>High-octane. Emotionally grounded.</a:t>
            </a:r>
          </a:p>
        </p:txBody>
      </p:sp>
      <p:sp>
        <p:nvSpPr>
          <p:cNvPr id="5" name="">
            <a:extLst xmlns:a="http://schemas.openxmlformats.org/drawingml/2006/main">
              <a:ext uri="{FF2B5EF4-FFF2-40B4-BE49-F238E27FC236}">
                <a16:creationId xmlns:a16="http://schemas.microsoft.com/office/drawing/2014/main" id="{44BA2EAA-4355-4CC0-B66B-5DC24875E710}"/>
              </a:ext>
            </a:extLst>
          </p:cNvPr>
          <p:cNvSpPr>
            <a:spLocks xmlns:a="http://schemas.openxmlformats.org/drawingml/2006/main" noGrp="1"/>
          </p:cNvSpPr>
          <p:nvPr/>
        </p:nvSpPr>
        <p:spPr>
          <a:xfrm xmlns:a="http://schemas.openxmlformats.org/drawingml/2006/main">
            <a:off x="609600" y="271462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1EC"/>
                </a:solidFill>
                <a:latin typeface="Arial Narrow"/>
                <a:ea typeface="Arial Narrow"/>
                <a:cs typeface="Arial Narrow"/>
              </a:defRPr>
            </a:pPr>
            <a:r>
              <a:rPr sz="2175" b="1">
                <a:solidFill>
                  <a:srgbClr val="F3F1EC"/>
                </a:solidFill>
                <a:latin typeface="Arial Narrow"/>
                <a:ea typeface="Arial Narrow"/>
                <a:cs typeface="Arial Narrow"/>
              </a:rPr>
              <a:t>MISSION: IMPOSSIBLE</a:t>
            </a:r>
          </a:p>
          <a:p xmlns:a="http://schemas.openxmlformats.org/drawingml/2006/main">
            <a:pPr>
              <a:defRPr sz="2175" b="1">
                <a:solidFill>
                  <a:srgbClr val="F3F1EC"/>
                </a:solidFill>
                <a:latin typeface="Arial Narrow"/>
                <a:ea typeface="Arial Narrow"/>
                <a:cs typeface="Arial Narrow"/>
              </a:defRPr>
            </a:pPr>
            <a:r>
              <a:rPr sz="2175" b="1">
                <a:solidFill>
                  <a:srgbClr val="F3F1EC"/>
                </a:solidFill>
                <a:latin typeface="Arial Narrow"/>
                <a:ea typeface="Arial Narrow"/>
                <a:cs typeface="Arial Narrow"/>
              </a:rPr>
              <a:t>ROGUE NATION</a:t>
            </a:r>
          </a:p>
        </p:txBody>
      </p:sp>
      <p:sp>
        <p:nvSpPr>
          <p:cNvPr id="6" name="">
            <a:extLst xmlns:a="http://schemas.openxmlformats.org/drawingml/2006/main">
              <a:ext uri="{FF2B5EF4-FFF2-40B4-BE49-F238E27FC236}">
                <a16:creationId xmlns:a16="http://schemas.microsoft.com/office/drawing/2014/main" id="{D377BABB-3E42-42CE-B13D-1959457B4C05}"/>
              </a:ext>
            </a:extLst>
          </p:cNvPr>
          <p:cNvSpPr>
            <a:spLocks xmlns:a="http://schemas.openxmlformats.org/drawingml/2006/main" noGrp="1"/>
          </p:cNvSpPr>
          <p:nvPr/>
        </p:nvSpPr>
        <p:spPr>
          <a:xfrm xmlns:a="http://schemas.openxmlformats.org/drawingml/2006/main">
            <a:off x="609600" y="442912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ED6C1"/>
                </a:solidFill>
                <a:latin typeface="Arial"/>
                <a:ea typeface="Arial"/>
                <a:cs typeface="Arial"/>
              </a:defRPr>
            </a:pPr>
            <a:r>
              <a:rPr sz="1725" b="0">
                <a:solidFill>
                  <a:srgbClr val="1ED6C1"/>
                </a:solidFill>
                <a:latin typeface="Arial"/>
                <a:ea typeface="Arial"/>
                <a:cs typeface="Arial"/>
              </a:rPr>
              <a:t>Practical action</a:t>
            </a:r>
          </a:p>
        </p:txBody>
      </p:sp>
      <p:sp>
        <p:nvSpPr>
          <p:cNvPr id="7" name="">
            <a:extLst xmlns:a="http://schemas.openxmlformats.org/drawingml/2006/main">
              <a:ext uri="{FF2B5EF4-FFF2-40B4-BE49-F238E27FC236}">
                <a16:creationId xmlns:a16="http://schemas.microsoft.com/office/drawing/2014/main" id="{98F77DDA-5E01-45E9-9DDF-6A4DA25B8A89}"/>
              </a:ext>
            </a:extLst>
          </p:cNvPr>
          <p:cNvSpPr>
            <a:spLocks xmlns:a="http://schemas.openxmlformats.org/drawingml/2006/main" noGrp="1"/>
          </p:cNvSpPr>
          <p:nvPr/>
        </p:nvSpPr>
        <p:spPr>
          <a:xfrm xmlns:a="http://schemas.openxmlformats.org/drawingml/2006/main">
            <a:off x="3467100" y="271462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1EC"/>
                </a:solidFill>
                <a:latin typeface="Arial Narrow"/>
                <a:ea typeface="Arial Narrow"/>
                <a:cs typeface="Arial Narrow"/>
              </a:defRPr>
            </a:pPr>
            <a:r>
              <a:rPr sz="2175" b="1">
                <a:solidFill>
                  <a:srgbClr val="F3F1EC"/>
                </a:solidFill>
                <a:latin typeface="Arial Narrow"/>
                <a:ea typeface="Arial Narrow"/>
                <a:cs typeface="Arial Narrow"/>
              </a:rPr>
              <a:t>THE BOURNE</a:t>
            </a:r>
          </a:p>
          <a:p xmlns:a="http://schemas.openxmlformats.org/drawingml/2006/main">
            <a:pPr>
              <a:defRPr sz="2175" b="1">
                <a:solidFill>
                  <a:srgbClr val="F3F1EC"/>
                </a:solidFill>
                <a:latin typeface="Arial Narrow"/>
                <a:ea typeface="Arial Narrow"/>
                <a:cs typeface="Arial Narrow"/>
              </a:defRPr>
            </a:pPr>
            <a:r>
              <a:rPr sz="2175" b="1">
                <a:solidFill>
                  <a:srgbClr val="F3F1EC"/>
                </a:solidFill>
                <a:latin typeface="Arial Narrow"/>
                <a:ea typeface="Arial Narrow"/>
                <a:cs typeface="Arial Narrow"/>
              </a:rPr>
              <a:t>ULTIMATUM</a:t>
            </a:r>
          </a:p>
        </p:txBody>
      </p:sp>
      <p:sp>
        <p:nvSpPr>
          <p:cNvPr id="8" name="">
            <a:extLst xmlns:a="http://schemas.openxmlformats.org/drawingml/2006/main">
              <a:ext uri="{FF2B5EF4-FFF2-40B4-BE49-F238E27FC236}">
                <a16:creationId xmlns:a16="http://schemas.microsoft.com/office/drawing/2014/main" id="{89BEBE7F-E821-4989-B1F0-66E2FDC85F18}"/>
              </a:ext>
            </a:extLst>
          </p:cNvPr>
          <p:cNvSpPr>
            <a:spLocks xmlns:a="http://schemas.openxmlformats.org/drawingml/2006/main" noGrp="1"/>
          </p:cNvSpPr>
          <p:nvPr/>
        </p:nvSpPr>
        <p:spPr>
          <a:xfrm xmlns:a="http://schemas.openxmlformats.org/drawingml/2006/main">
            <a:off x="3467100" y="442912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ED6C1"/>
                </a:solidFill>
                <a:latin typeface="Arial"/>
                <a:ea typeface="Arial"/>
                <a:cs typeface="Arial"/>
              </a:defRPr>
            </a:pPr>
            <a:r>
              <a:rPr sz="1725" b="0">
                <a:solidFill>
                  <a:srgbClr val="1ED6C1"/>
                </a:solidFill>
                <a:latin typeface="Arial"/>
                <a:ea typeface="Arial"/>
                <a:cs typeface="Arial"/>
              </a:rPr>
              <a:t>Man vs. system urgency</a:t>
            </a:r>
          </a:p>
        </p:txBody>
      </p:sp>
      <p:sp>
        <p:nvSpPr>
          <p:cNvPr id="9" name="">
            <a:extLst xmlns:a="http://schemas.openxmlformats.org/drawingml/2006/main">
              <a:ext uri="{FF2B5EF4-FFF2-40B4-BE49-F238E27FC236}">
                <a16:creationId xmlns:a16="http://schemas.microsoft.com/office/drawing/2014/main" id="{23C0EE2E-8685-4CCF-A3CA-51497843FD6C}"/>
              </a:ext>
            </a:extLst>
          </p:cNvPr>
          <p:cNvSpPr>
            <a:spLocks xmlns:a="http://schemas.openxmlformats.org/drawingml/2006/main" noGrp="1"/>
          </p:cNvSpPr>
          <p:nvPr/>
        </p:nvSpPr>
        <p:spPr>
          <a:xfrm xmlns:a="http://schemas.openxmlformats.org/drawingml/2006/main">
            <a:off x="6324600" y="271462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1EC"/>
                </a:solidFill>
                <a:latin typeface="Arial Narrow"/>
                <a:ea typeface="Arial Narrow"/>
                <a:cs typeface="Arial Narrow"/>
              </a:defRPr>
            </a:pPr>
            <a:r>
              <a:rPr sz="2175" b="1">
                <a:solidFill>
                  <a:srgbClr val="F3F1EC"/>
                </a:solidFill>
                <a:latin typeface="Arial Narrow"/>
                <a:ea typeface="Arial Narrow"/>
                <a:cs typeface="Arial Narrow"/>
              </a:rPr>
              <a:t>ENEMY OF</a:t>
            </a:r>
          </a:p>
          <a:p xmlns:a="http://schemas.openxmlformats.org/drawingml/2006/main">
            <a:pPr>
              <a:defRPr sz="2175" b="1">
                <a:solidFill>
                  <a:srgbClr val="F3F1EC"/>
                </a:solidFill>
                <a:latin typeface="Arial Narrow"/>
                <a:ea typeface="Arial Narrow"/>
                <a:cs typeface="Arial Narrow"/>
              </a:defRPr>
            </a:pPr>
            <a:r>
              <a:rPr sz="2175" b="1">
                <a:solidFill>
                  <a:srgbClr val="F3F1EC"/>
                </a:solidFill>
                <a:latin typeface="Arial Narrow"/>
                <a:ea typeface="Arial Narrow"/>
                <a:cs typeface="Arial Narrow"/>
              </a:rPr>
              <a:t>THE STATE</a:t>
            </a:r>
          </a:p>
        </p:txBody>
      </p:sp>
      <p:sp>
        <p:nvSpPr>
          <p:cNvPr id="10" name="">
            <a:extLst xmlns:a="http://schemas.openxmlformats.org/drawingml/2006/main">
              <a:ext uri="{FF2B5EF4-FFF2-40B4-BE49-F238E27FC236}">
                <a16:creationId xmlns:a16="http://schemas.microsoft.com/office/drawing/2014/main" id="{174F4113-AF52-4437-9F86-62CC37E07491}"/>
              </a:ext>
            </a:extLst>
          </p:cNvPr>
          <p:cNvSpPr>
            <a:spLocks xmlns:a="http://schemas.openxmlformats.org/drawingml/2006/main" noGrp="1"/>
          </p:cNvSpPr>
          <p:nvPr/>
        </p:nvSpPr>
        <p:spPr>
          <a:xfrm xmlns:a="http://schemas.openxmlformats.org/drawingml/2006/main">
            <a:off x="6324600" y="442912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ED6C1"/>
                </a:solidFill>
                <a:latin typeface="Arial"/>
                <a:ea typeface="Arial"/>
                <a:cs typeface="Arial"/>
              </a:defRPr>
            </a:pPr>
            <a:r>
              <a:rPr sz="1725" b="0">
                <a:solidFill>
                  <a:srgbClr val="1ED6C1"/>
                </a:solidFill>
                <a:latin typeface="Arial"/>
                <a:ea typeface="Arial"/>
                <a:cs typeface="Arial"/>
              </a:rPr>
              <a:t>Surveillance paranoia</a:t>
            </a:r>
          </a:p>
        </p:txBody>
      </p:sp>
      <p:sp>
        <p:nvSpPr>
          <p:cNvPr id="11" name="">
            <a:extLst xmlns:a="http://schemas.openxmlformats.org/drawingml/2006/main">
              <a:ext uri="{FF2B5EF4-FFF2-40B4-BE49-F238E27FC236}">
                <a16:creationId xmlns:a16="http://schemas.microsoft.com/office/drawing/2014/main" id="{BBD536E4-9B57-4DF7-A299-BDD20BA7D340}"/>
              </a:ext>
            </a:extLst>
          </p:cNvPr>
          <p:cNvSpPr>
            <a:spLocks xmlns:a="http://schemas.openxmlformats.org/drawingml/2006/main" noGrp="1"/>
          </p:cNvSpPr>
          <p:nvPr/>
        </p:nvSpPr>
        <p:spPr>
          <a:xfrm xmlns:a="http://schemas.openxmlformats.org/drawingml/2006/main">
            <a:off x="9182100" y="271462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1EC"/>
                </a:solidFill>
                <a:latin typeface="Arial Narrow"/>
                <a:ea typeface="Arial Narrow"/>
                <a:cs typeface="Arial Narrow"/>
              </a:defRPr>
            </a:pPr>
            <a:r>
              <a:rPr sz="2175" b="1">
                <a:solidFill>
                  <a:srgbClr val="F3F1EC"/>
                </a:solidFill>
                <a:latin typeface="Arial Narrow"/>
                <a:ea typeface="Arial Narrow"/>
                <a:cs typeface="Arial Narrow"/>
              </a:rPr>
              <a:t>SICARIO</a:t>
            </a:r>
          </a:p>
        </p:txBody>
      </p:sp>
      <p:sp>
        <p:nvSpPr>
          <p:cNvPr id="12" name="">
            <a:extLst xmlns:a="http://schemas.openxmlformats.org/drawingml/2006/main">
              <a:ext uri="{FF2B5EF4-FFF2-40B4-BE49-F238E27FC236}">
                <a16:creationId xmlns:a16="http://schemas.microsoft.com/office/drawing/2014/main" id="{C1F7C336-ABF8-45CE-9A35-0B41A3F80632}"/>
              </a:ext>
            </a:extLst>
          </p:cNvPr>
          <p:cNvSpPr>
            <a:spLocks xmlns:a="http://schemas.openxmlformats.org/drawingml/2006/main" noGrp="1"/>
          </p:cNvSpPr>
          <p:nvPr/>
        </p:nvSpPr>
        <p:spPr>
          <a:xfrm xmlns:a="http://schemas.openxmlformats.org/drawingml/2006/main">
            <a:off x="9182100" y="442912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ED6C1"/>
                </a:solidFill>
                <a:latin typeface="Arial"/>
                <a:ea typeface="Arial"/>
                <a:cs typeface="Arial"/>
              </a:defRPr>
            </a:pPr>
            <a:r>
              <a:rPr sz="1725" b="0">
                <a:solidFill>
                  <a:srgbClr val="1ED6C1"/>
                </a:solidFill>
                <a:latin typeface="Arial"/>
                <a:ea typeface="Arial"/>
                <a:cs typeface="Arial"/>
              </a:rPr>
              <a:t>Moral gray zones</a:t>
            </a:r>
          </a:p>
        </p:txBody>
      </p:sp>
    </p:spTree>
    <p:extLst>
      <p:ext uri="{BB962C8B-B14F-4D97-AF65-F5344CB8AC3E}">
        <p14:creationId xmlns:p14="http://schemas.microsoft.com/office/powerpoint/2010/main" val="646691628"/>
      </p:ext>
    </p:extLst>
  </p:cSld>
</p:sld>
</file>

<file path=ppt/slides/slide5.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28F07B-FBAA-4562-B0B1-9E23EEDC51C7}"/>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JACK VANCE</a:t>
            </a:r>
          </a:p>
        </p:txBody>
      </p:sp>
      <p:sp>
        <p:nvSpPr>
          <p:cNvPr id="2" name="">
            <a:extLst xmlns:a="http://schemas.openxmlformats.org/drawingml/2006/main">
              <a:ext uri="{FF2B5EF4-FFF2-40B4-BE49-F238E27FC236}">
                <a16:creationId xmlns:a16="http://schemas.microsoft.com/office/drawing/2014/main" id="{E1DF2F6B-8782-4850-9182-6C961D4B0862}"/>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31E47E8B-DFD2-47D8-8EC6-E157C0447DA3}"/>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9f8edb0c6c84851"/>
          <a:srcRect xmlns:a="http://schemas.openxmlformats.org/drawingml/2006/main" l="0" t="6262" r="0" b="6262"/>
          <a:stretch xmlns:a="http://schemas.openxmlformats.org/drawingml/2006/main">
            <a:fillRect l="0" t="0" r="0" b="0"/>
          </a:stretch>
        </p:blipFill>
        <p:spPr>
          <a:xfrm xmlns:a="http://schemas.openxmlformats.org/drawingml/2006/main">
            <a:off x="609600" y="1476375"/>
            <a:ext cx="5095875" cy="4457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BD1AAEF-B9C8-45DA-B217-0240E30395CA}"/>
              </a:ext>
            </a:extLst>
          </p:cNvPr>
          <p:cNvSpPr>
            <a:spLocks xmlns:a="http://schemas.openxmlformats.org/drawingml/2006/main" noGrp="1"/>
          </p:cNvSpPr>
          <p:nvPr/>
        </p:nvSpPr>
        <p:spPr>
          <a:xfrm xmlns:a="http://schemas.openxmlformats.org/drawingml/2006/main">
            <a:off x="6191250" y="16002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D6C1"/>
                </a:solidFill>
                <a:latin typeface="Arial"/>
                <a:ea typeface="Arial"/>
                <a:cs typeface="Arial"/>
              </a:defRPr>
            </a:pPr>
            <a:r>
              <a:rPr sz="1875" b="0">
                <a:solidFill>
                  <a:srgbClr val="1ED6C1"/>
                </a:solidFill>
                <a:latin typeface="Arial"/>
                <a:ea typeface="Arial"/>
                <a:cs typeface="Arial"/>
              </a:rPr>
              <a:t>40s • American DSS agent</a:t>
            </a:r>
          </a:p>
        </p:txBody>
      </p:sp>
      <p:sp>
        <p:nvSpPr>
          <p:cNvPr id="6" name="">
            <a:extLst xmlns:a="http://schemas.openxmlformats.org/drawingml/2006/main">
              <a:ext uri="{FF2B5EF4-FFF2-40B4-BE49-F238E27FC236}">
                <a16:creationId xmlns:a16="http://schemas.microsoft.com/office/drawing/2014/main" id="{538C4736-56B2-4D5C-B314-26AAA5D00890}"/>
              </a:ext>
            </a:extLst>
          </p:cNvPr>
          <p:cNvSpPr>
            <a:spLocks xmlns:a="http://schemas.openxmlformats.org/drawingml/2006/main" noGrp="1"/>
          </p:cNvSpPr>
          <p:nvPr/>
        </p:nvSpPr>
        <p:spPr>
          <a:xfrm xmlns:a="http://schemas.openxmlformats.org/drawingml/2006/main">
            <a:off x="6191250" y="2419350"/>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3F1EC"/>
                </a:solidFill>
                <a:latin typeface="Arial Narrow"/>
                <a:ea typeface="Arial Narrow"/>
                <a:cs typeface="Arial Narrow"/>
              </a:defRPr>
            </a:pPr>
            <a:r>
              <a:rPr sz="2850" b="1">
                <a:solidFill>
                  <a:srgbClr val="F3F1EC"/>
                </a:solidFill>
                <a:latin typeface="Arial Narrow"/>
                <a:ea typeface="Arial Narrow"/>
                <a:cs typeface="Arial Narrow"/>
              </a:rPr>
              <a:t>Kyiv taught him the cost</a:t>
            </a:r>
          </a:p>
          <a:p xmlns:a="http://schemas.openxmlformats.org/drawingml/2006/main">
            <a:pPr>
              <a:defRPr sz="2850" b="1">
                <a:solidFill>
                  <a:srgbClr val="F3F1EC"/>
                </a:solidFill>
                <a:latin typeface="Arial Narrow"/>
                <a:ea typeface="Arial Narrow"/>
                <a:cs typeface="Arial Narrow"/>
              </a:defRPr>
            </a:pPr>
            <a:r>
              <a:rPr sz="2850" b="1">
                <a:solidFill>
                  <a:srgbClr val="F3F1EC"/>
                </a:solidFill>
                <a:latin typeface="Arial Narrow"/>
                <a:ea typeface="Arial Narrow"/>
                <a:cs typeface="Arial Narrow"/>
              </a:rPr>
              <a:t>of trusting an algorithm.</a:t>
            </a:r>
          </a:p>
        </p:txBody>
      </p:sp>
      <p:sp>
        <p:nvSpPr>
          <p:cNvPr id="7" name="">
            <a:extLst xmlns:a="http://schemas.openxmlformats.org/drawingml/2006/main">
              <a:ext uri="{FF2B5EF4-FFF2-40B4-BE49-F238E27FC236}">
                <a16:creationId xmlns:a16="http://schemas.microsoft.com/office/drawing/2014/main" id="{4D4AD603-9EA9-45AC-9AA7-D12A693D783A}"/>
              </a:ext>
            </a:extLst>
          </p:cNvPr>
          <p:cNvSpPr>
            <a:spLocks xmlns:a="http://schemas.openxmlformats.org/drawingml/2006/main" noGrp="1"/>
          </p:cNvSpPr>
          <p:nvPr/>
        </p:nvSpPr>
        <p:spPr>
          <a:xfrm xmlns:a="http://schemas.openxmlformats.org/drawingml/2006/main">
            <a:off x="6191250" y="4124325"/>
            <a:ext cx="514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3F1EC"/>
                </a:solidFill>
                <a:latin typeface="Arial"/>
                <a:ea typeface="Arial"/>
                <a:cs typeface="Arial"/>
              </a:defRPr>
            </a:pPr>
            <a:r>
              <a:rPr sz="1950" b="0">
                <a:solidFill>
                  <a:srgbClr val="F3F1EC"/>
                </a:solidFill>
                <a:latin typeface="Arial"/>
                <a:ea typeface="Arial"/>
                <a:cs typeface="Arial"/>
              </a:rPr>
              <a:t>Paper maps. Twin revolvers. Physical instinct.</a:t>
            </a:r>
          </a:p>
          <a:p xmlns:a="http://schemas.openxmlformats.org/drawingml/2006/main">
            <a:pPr>
              <a:defRPr sz="1950" b="0">
                <a:solidFill>
                  <a:srgbClr val="F3F1EC"/>
                </a:solidFill>
                <a:latin typeface="Arial"/>
                <a:ea typeface="Arial"/>
                <a:cs typeface="Arial"/>
              </a:defRPr>
            </a:pPr>
            <a:r>
              <a:rPr sz="1950" b="0">
                <a:solidFill>
                  <a:srgbClr val="F3F1EC"/>
                </a:solidFill>
                <a:latin typeface="Arial"/>
                <a:ea typeface="Arial"/>
                <a:cs typeface="Arial"/>
              </a:rPr>
              <a:t>Framed while protecting a U.S. Senator.</a:t>
            </a:r>
          </a:p>
          <a:p xmlns:a="http://schemas.openxmlformats.org/drawingml/2006/main">
            <a:pPr>
              <a:defRPr sz="1950" b="0">
                <a:solidFill>
                  <a:srgbClr val="F3F1EC"/>
                </a:solidFill>
                <a:latin typeface="Arial"/>
                <a:ea typeface="Arial"/>
                <a:cs typeface="Arial"/>
              </a:defRPr>
            </a:pPr>
            <a:r>
              <a:rPr sz="1950" b="0">
                <a:solidFill>
                  <a:srgbClr val="F3F1EC"/>
                </a:solidFill>
                <a:latin typeface="Arial"/>
                <a:ea typeface="Arial"/>
                <a:cs typeface="Arial"/>
              </a:rPr>
              <a:t>His way back is learning to trust people.</a:t>
            </a:r>
          </a:p>
        </p:txBody>
      </p:sp>
    </p:spTree>
    <p:extLst>
      <p:ext uri="{BB962C8B-B14F-4D97-AF65-F5344CB8AC3E}">
        <p14:creationId xmlns:p14="http://schemas.microsoft.com/office/powerpoint/2010/main" val="1275628917"/>
      </p:ext>
    </p:extLst>
  </p:cSld>
</p:sld>
</file>

<file path=ppt/slides/slide6.xml><?xml version="1.0" encoding="utf-8"?>
<p:sld xmlns:p="http://schemas.openxmlformats.org/presentationml/2006/main">
  <p:cSld>
    <p:bg>
      <p:bgPr>
        <a:solidFill xmlns:a="http://schemas.openxmlformats.org/drawingml/2006/main">
          <a:srgbClr val="F3F1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AD2D5B-FBF9-4620-8588-6B16DF74EC01}"/>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E0E11"/>
                </a:solidFill>
                <a:latin typeface="Arial Narrow"/>
                <a:ea typeface="Arial Narrow"/>
                <a:cs typeface="Arial Narrow"/>
              </a:defRPr>
            </a:pPr>
            <a:r>
              <a:rPr sz="3750" b="1">
                <a:solidFill>
                  <a:srgbClr val="0E0E11"/>
                </a:solidFill>
                <a:latin typeface="Arial Narrow"/>
                <a:ea typeface="Arial Narrow"/>
                <a:cs typeface="Arial Narrow"/>
              </a:rPr>
              <a:t>SOPHII WEIMING</a:t>
            </a:r>
          </a:p>
        </p:txBody>
      </p:sp>
      <p:sp>
        <p:nvSpPr>
          <p:cNvPr id="2" name="">
            <a:extLst xmlns:a="http://schemas.openxmlformats.org/drawingml/2006/main">
              <a:ext uri="{FF2B5EF4-FFF2-40B4-BE49-F238E27FC236}">
                <a16:creationId xmlns:a16="http://schemas.microsoft.com/office/drawing/2014/main" id="{0CFCE9F8-661B-498B-BDC0-ACA3EACED9E1}"/>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A2F36"/>
                </a:solidFill>
                <a:latin typeface="Arial"/>
                <a:ea typeface="Arial"/>
                <a:cs typeface="Arial"/>
              </a:defRPr>
            </a:pPr>
            <a:r>
              <a:rPr sz="1125" b="0">
                <a:solidFill>
                  <a:srgbClr val="2A2F36"/>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056EF5F1-D5D6-4A90-9836-44B8A2D09AE7}"/>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8DEE940E-9B2E-44A1-9731-BCDA95BD521C}"/>
              </a:ext>
            </a:extLst>
          </p:cNvPr>
          <p:cNvSpPr>
            <a:spLocks xmlns:a="http://schemas.openxmlformats.org/drawingml/2006/main" noGrp="1"/>
          </p:cNvSpPr>
          <p:nvPr/>
        </p:nvSpPr>
        <p:spPr>
          <a:xfrm xmlns:a="http://schemas.openxmlformats.org/drawingml/2006/main">
            <a:off x="609600" y="1619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87A70"/>
                </a:solidFill>
                <a:latin typeface="Arial"/>
                <a:ea typeface="Arial"/>
                <a:cs typeface="Arial"/>
              </a:defRPr>
            </a:pPr>
            <a:r>
              <a:rPr sz="1875" b="0">
                <a:solidFill>
                  <a:srgbClr val="087A70"/>
                </a:solidFill>
                <a:latin typeface="Arial"/>
                <a:ea typeface="Arial"/>
                <a:cs typeface="Arial"/>
              </a:rPr>
              <a:t>30s • Singaporean inspector</a:t>
            </a:r>
          </a:p>
        </p:txBody>
      </p:sp>
      <p:sp>
        <p:nvSpPr>
          <p:cNvPr id="5" name="">
            <a:extLst xmlns:a="http://schemas.openxmlformats.org/drawingml/2006/main">
              <a:ext uri="{FF2B5EF4-FFF2-40B4-BE49-F238E27FC236}">
                <a16:creationId xmlns:a16="http://schemas.microsoft.com/office/drawing/2014/main" id="{64F50E35-8B7B-4F3F-9A40-EC10A1CB2EBE}"/>
              </a:ext>
            </a:extLst>
          </p:cNvPr>
          <p:cNvSpPr>
            <a:spLocks xmlns:a="http://schemas.openxmlformats.org/drawingml/2006/main" noGrp="1"/>
          </p:cNvSpPr>
          <p:nvPr/>
        </p:nvSpPr>
        <p:spPr>
          <a:xfrm xmlns:a="http://schemas.openxmlformats.org/drawingml/2006/main">
            <a:off x="609600" y="2438400"/>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E0E11"/>
                </a:solidFill>
                <a:latin typeface="Arial Narrow"/>
                <a:ea typeface="Arial Narrow"/>
                <a:cs typeface="Arial Narrow"/>
              </a:defRPr>
            </a:pPr>
            <a:r>
              <a:rPr sz="2850" b="1">
                <a:solidFill>
                  <a:srgbClr val="0E0E11"/>
                </a:solidFill>
                <a:latin typeface="Arial Narrow"/>
                <a:ea typeface="Arial Narrow"/>
                <a:cs typeface="Arial Narrow"/>
              </a:rPr>
              <a:t>Her father defended the grid.</a:t>
            </a:r>
          </a:p>
          <a:p xmlns:a="http://schemas.openxmlformats.org/drawingml/2006/main">
            <a:pPr>
              <a:defRPr sz="2850" b="1">
                <a:solidFill>
                  <a:srgbClr val="0E0E11"/>
                </a:solidFill>
                <a:latin typeface="Arial Narrow"/>
                <a:ea typeface="Arial Narrow"/>
                <a:cs typeface="Arial Narrow"/>
              </a:defRPr>
            </a:pPr>
            <a:r>
              <a:rPr sz="2850" b="1">
                <a:solidFill>
                  <a:srgbClr val="0E0E11"/>
                </a:solidFill>
                <a:latin typeface="Arial Narrow"/>
                <a:ea typeface="Arial Narrow"/>
                <a:cs typeface="Arial Narrow"/>
              </a:rPr>
              <a:t>She has to question it.</a:t>
            </a:r>
          </a:p>
        </p:txBody>
      </p:sp>
      <p:sp>
        <p:nvSpPr>
          <p:cNvPr id="6" name="">
            <a:extLst xmlns:a="http://schemas.openxmlformats.org/drawingml/2006/main">
              <a:ext uri="{FF2B5EF4-FFF2-40B4-BE49-F238E27FC236}">
                <a16:creationId xmlns:a16="http://schemas.microsoft.com/office/drawing/2014/main" id="{46C511BA-30BC-49AF-BED2-6436442FC28C}"/>
              </a:ext>
            </a:extLst>
          </p:cNvPr>
          <p:cNvSpPr>
            <a:spLocks xmlns:a="http://schemas.openxmlformats.org/drawingml/2006/main" noGrp="1"/>
          </p:cNvSpPr>
          <p:nvPr/>
        </p:nvSpPr>
        <p:spPr>
          <a:xfrm xmlns:a="http://schemas.openxmlformats.org/drawingml/2006/main">
            <a:off x="609600" y="407670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A2F36"/>
                </a:solidFill>
                <a:latin typeface="Arial"/>
                <a:ea typeface="Arial"/>
                <a:cs typeface="Arial"/>
              </a:defRPr>
            </a:pPr>
            <a:r>
              <a:rPr sz="1950" b="0">
                <a:solidFill>
                  <a:srgbClr val="2A2F36"/>
                </a:solidFill>
                <a:latin typeface="Arial"/>
                <a:ea typeface="Arial"/>
                <a:cs typeface="Arial"/>
              </a:rPr>
              <a:t>Discredited after exposing system anomalies.</a:t>
            </a:r>
          </a:p>
          <a:p xmlns:a="http://schemas.openxmlformats.org/drawingml/2006/main">
            <a:pPr>
              <a:defRPr sz="1950" b="0">
                <a:solidFill>
                  <a:srgbClr val="2A2F36"/>
                </a:solidFill>
                <a:latin typeface="Arial"/>
                <a:ea typeface="Arial"/>
                <a:cs typeface="Arial"/>
              </a:defRPr>
            </a:pPr>
            <a:r>
              <a:rPr sz="1950" b="0">
                <a:solidFill>
                  <a:srgbClr val="2A2F36"/>
                </a:solidFill>
                <a:latin typeface="Arial"/>
                <a:ea typeface="Arial"/>
                <a:cs typeface="Arial"/>
              </a:rPr>
              <a:t>His mechanical watch keeps her grounded.</a:t>
            </a:r>
          </a:p>
          <a:p xmlns:a="http://schemas.openxmlformats.org/drawingml/2006/main">
            <a:pPr>
              <a:defRPr sz="1950" b="0">
                <a:solidFill>
                  <a:srgbClr val="2A2F36"/>
                </a:solidFill>
                <a:latin typeface="Arial"/>
                <a:ea typeface="Arial"/>
                <a:cs typeface="Arial"/>
              </a:defRPr>
            </a:pPr>
            <a:r>
              <a:rPr sz="1950" b="0">
                <a:solidFill>
                  <a:srgbClr val="2A2F36"/>
                </a:solidFill>
                <a:latin typeface="Arial"/>
                <a:ea typeface="Arial"/>
                <a:cs typeface="Arial"/>
              </a:rPr>
              <a:t>She chooses the city over vengeance.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4f33497de8344a3"/>
          <a:srcRect xmlns:a="http://schemas.openxmlformats.org/drawingml/2006/main" l="0" t="8584" r="0" b="8584"/>
          <a:stretch xmlns:a="http://schemas.openxmlformats.org/drawingml/2006/main">
            <a:fillRect l="0" t="0" r="0" b="0"/>
          </a:stretch>
        </p:blipFill>
        <p:spPr>
          <a:xfrm xmlns:a="http://schemas.openxmlformats.org/drawingml/2006/main">
            <a:off x="6191250" y="1476375"/>
            <a:ext cx="5381625" cy="4457700"/>
          </a:xfrm>
          <a:prstGeom xmlns:a="http://schemas.openxmlformats.org/drawingml/2006/main" prst="rect">
            <a:avLst/>
          </a:prstGeom>
        </p:spPr>
      </p:pic>
    </p:spTree>
    <p:extLst>
      <p:ext uri="{BB962C8B-B14F-4D97-AF65-F5344CB8AC3E}">
        <p14:creationId xmlns:p14="http://schemas.microsoft.com/office/powerpoint/2010/main" val="1086000467"/>
      </p:ext>
    </p:extLst>
  </p:cSld>
</p:sld>
</file>

<file path=ppt/slides/slide7.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0702D9-7062-477C-9E67-32DB69C36844}"/>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THE SHADOW ARCHITECT &amp; THE GRAY CELL</a:t>
            </a:r>
          </a:p>
        </p:txBody>
      </p:sp>
      <p:sp>
        <p:nvSpPr>
          <p:cNvPr id="2" name="">
            <a:extLst xmlns:a="http://schemas.openxmlformats.org/drawingml/2006/main">
              <a:ext uri="{FF2B5EF4-FFF2-40B4-BE49-F238E27FC236}">
                <a16:creationId xmlns:a16="http://schemas.microsoft.com/office/drawing/2014/main" id="{5F554D52-09C8-4D8D-93A1-62DB43ED7F71}"/>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C3E35658-76C3-441A-82FE-3861F312B852}"/>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3DE06CD-2CCB-4E24-8F26-984CDD0A7E11}"/>
              </a:ext>
            </a:extLst>
          </p:cNvPr>
          <p:cNvSpPr>
            <a:spLocks xmlns:a="http://schemas.openxmlformats.org/drawingml/2006/main" noGrp="1"/>
          </p:cNvSpPr>
          <p:nvPr/>
        </p:nvSpPr>
        <p:spPr>
          <a:xfrm xmlns:a="http://schemas.openxmlformats.org/drawingml/2006/main">
            <a:off x="609600" y="1619250"/>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ED6C1"/>
                </a:solidFill>
                <a:latin typeface="Arial Narrow"/>
                <a:ea typeface="Arial Narrow"/>
                <a:cs typeface="Arial Narrow"/>
              </a:defRPr>
            </a:pPr>
            <a:r>
              <a:rPr sz="3000" b="1">
                <a:solidFill>
                  <a:srgbClr val="1ED6C1"/>
                </a:solidFill>
                <a:latin typeface="Arial Narrow"/>
                <a:ea typeface="Arial Narrow"/>
                <a:cs typeface="Arial Narrow"/>
              </a:rPr>
              <a:t>JULIAN VANE</a:t>
            </a:r>
          </a:p>
        </p:txBody>
      </p:sp>
      <p:sp>
        <p:nvSpPr>
          <p:cNvPr id="5" name="">
            <a:extLst xmlns:a="http://schemas.openxmlformats.org/drawingml/2006/main">
              <a:ext uri="{FF2B5EF4-FFF2-40B4-BE49-F238E27FC236}">
                <a16:creationId xmlns:a16="http://schemas.microsoft.com/office/drawing/2014/main" id="{821628BF-5978-4A99-8049-7E17B99495EB}"/>
              </a:ext>
            </a:extLst>
          </p:cNvPr>
          <p:cNvSpPr>
            <a:spLocks xmlns:a="http://schemas.openxmlformats.org/drawingml/2006/main" noGrp="1"/>
          </p:cNvSpPr>
          <p:nvPr/>
        </p:nvSpPr>
        <p:spPr>
          <a:xfrm xmlns:a="http://schemas.openxmlformats.org/drawingml/2006/main">
            <a:off x="609600" y="233362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3F1EC"/>
                </a:solidFill>
                <a:latin typeface="Arial"/>
                <a:ea typeface="Arial"/>
                <a:cs typeface="Arial"/>
              </a:defRPr>
            </a:pPr>
            <a:r>
              <a:rPr sz="2625" b="0">
                <a:solidFill>
                  <a:srgbClr val="F3F1EC"/>
                </a:solidFill>
                <a:latin typeface="Arial"/>
                <a:ea typeface="Arial"/>
                <a:cs typeface="Arial"/>
              </a:rPr>
              <a:t>Erased civic visionary.</a:t>
            </a:r>
          </a:p>
          <a:p xmlns:a="http://schemas.openxmlformats.org/drawingml/2006/main">
            <a:pPr>
              <a:defRPr sz="2625" b="0">
                <a:solidFill>
                  <a:srgbClr val="F3F1EC"/>
                </a:solidFill>
                <a:latin typeface="Arial"/>
                <a:ea typeface="Arial"/>
                <a:cs typeface="Arial"/>
              </a:defRPr>
            </a:pPr>
            <a:r>
              <a:rPr sz="2625" b="0">
                <a:solidFill>
                  <a:srgbClr val="F3F1EC"/>
                </a:solidFill>
                <a:latin typeface="Arial"/>
                <a:ea typeface="Arial"/>
                <a:cs typeface="Arial"/>
              </a:rPr>
              <a:t>He calls mass erasure salvation.</a:t>
            </a:r>
          </a:p>
        </p:txBody>
      </p:sp>
      <p:sp>
        <p:nvSpPr>
          <p:cNvPr id="6" name="">
            <a:extLst xmlns:a="http://schemas.openxmlformats.org/drawingml/2006/main">
              <a:ext uri="{FF2B5EF4-FFF2-40B4-BE49-F238E27FC236}">
                <a16:creationId xmlns:a16="http://schemas.microsoft.com/office/drawing/2014/main" id="{7A24458F-2448-433F-BC2F-29EBE9761BC6}"/>
              </a:ext>
            </a:extLst>
          </p:cNvPr>
          <p:cNvSpPr>
            <a:spLocks xmlns:a="http://schemas.openxmlformats.org/drawingml/2006/main" noGrp="1"/>
          </p:cNvSpPr>
          <p:nvPr/>
        </p:nvSpPr>
        <p:spPr>
          <a:xfrm xmlns:a="http://schemas.openxmlformats.org/drawingml/2006/main">
            <a:off x="609600" y="4276725"/>
            <a:ext cx="261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UNCLE TAN</a:t>
            </a:r>
          </a:p>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Colonial tunnel knowledge</a:t>
            </a:r>
          </a:p>
        </p:txBody>
      </p:sp>
      <p:sp>
        <p:nvSpPr>
          <p:cNvPr id="7" name="">
            <a:extLst xmlns:a="http://schemas.openxmlformats.org/drawingml/2006/main">
              <a:ext uri="{FF2B5EF4-FFF2-40B4-BE49-F238E27FC236}">
                <a16:creationId xmlns:a16="http://schemas.microsoft.com/office/drawing/2014/main" id="{AC785BB5-AECA-454E-963B-7A014E183E09}"/>
              </a:ext>
            </a:extLst>
          </p:cNvPr>
          <p:cNvSpPr>
            <a:spLocks xmlns:a="http://schemas.openxmlformats.org/drawingml/2006/main" noGrp="1"/>
          </p:cNvSpPr>
          <p:nvPr/>
        </p:nvSpPr>
        <p:spPr>
          <a:xfrm xmlns:a="http://schemas.openxmlformats.org/drawingml/2006/main">
            <a:off x="3552825" y="427672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RAVI</a:t>
            </a:r>
          </a:p>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Improvised jammers</a:t>
            </a:r>
          </a:p>
        </p:txBody>
      </p:sp>
      <p:sp>
        <p:nvSpPr>
          <p:cNvPr id="8" name="">
            <a:extLst xmlns:a="http://schemas.openxmlformats.org/drawingml/2006/main">
              <a:ext uri="{FF2B5EF4-FFF2-40B4-BE49-F238E27FC236}">
                <a16:creationId xmlns:a16="http://schemas.microsoft.com/office/drawing/2014/main" id="{F1BA4DAD-46A4-4E12-9481-E574F686A174}"/>
              </a:ext>
            </a:extLst>
          </p:cNvPr>
          <p:cNvSpPr>
            <a:spLocks xmlns:a="http://schemas.openxmlformats.org/drawingml/2006/main" noGrp="1"/>
          </p:cNvSpPr>
          <p:nvPr/>
        </p:nvSpPr>
        <p:spPr>
          <a:xfrm xmlns:a="http://schemas.openxmlformats.org/drawingml/2006/main">
            <a:off x="6200775" y="427672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MAYA</a:t>
            </a:r>
          </a:p>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Rogue taxi radio net</a:t>
            </a:r>
          </a:p>
        </p:txBody>
      </p:sp>
      <p:sp>
        <p:nvSpPr>
          <p:cNvPr id="9" name="">
            <a:extLst xmlns:a="http://schemas.openxmlformats.org/drawingml/2006/main">
              <a:ext uri="{FF2B5EF4-FFF2-40B4-BE49-F238E27FC236}">
                <a16:creationId xmlns:a16="http://schemas.microsoft.com/office/drawing/2014/main" id="{046C11DA-4F41-4B48-A1D2-3EFC1BDF3C8E}"/>
              </a:ext>
            </a:extLst>
          </p:cNvPr>
          <p:cNvSpPr>
            <a:spLocks xmlns:a="http://schemas.openxmlformats.org/drawingml/2006/main" noGrp="1"/>
          </p:cNvSpPr>
          <p:nvPr/>
        </p:nvSpPr>
        <p:spPr>
          <a:xfrm xmlns:a="http://schemas.openxmlformats.org/drawingml/2006/main">
            <a:off x="9029700" y="427672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SLOANE</a:t>
            </a:r>
          </a:p>
          <a:p xmlns:a="http://schemas.openxmlformats.org/drawingml/2006/main">
            <a:pPr>
              <a:defRPr sz="1800" b="0">
                <a:solidFill>
                  <a:srgbClr val="F3F1EC"/>
                </a:solidFill>
                <a:latin typeface="Arial"/>
                <a:ea typeface="Arial"/>
                <a:cs typeface="Arial"/>
              </a:defRPr>
            </a:pPr>
            <a:r>
              <a:rPr sz="1800" b="0">
                <a:solidFill>
                  <a:srgbClr val="F3F1EC"/>
                </a:solidFill>
                <a:latin typeface="Arial"/>
                <a:ea typeface="Arial"/>
                <a:cs typeface="Arial"/>
              </a:rPr>
              <a:t>Vane’s sensor-linked enforcer</a:t>
            </a:r>
          </a:p>
        </p:txBody>
      </p:sp>
    </p:spTree>
    <p:extLst>
      <p:ext uri="{BB962C8B-B14F-4D97-AF65-F5344CB8AC3E}">
        <p14:creationId xmlns:p14="http://schemas.microsoft.com/office/powerpoint/2010/main" val="392981047"/>
      </p:ext>
    </p:extLst>
  </p:cSld>
</p:sld>
</file>

<file path=ppt/slides/slide8.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C4A11F-D3E7-46B2-9E8E-49EFDEB1DB4E}"/>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THE STORY</a:t>
            </a:r>
          </a:p>
        </p:txBody>
      </p:sp>
      <p:sp>
        <p:nvSpPr>
          <p:cNvPr id="2" name="">
            <a:extLst xmlns:a="http://schemas.openxmlformats.org/drawingml/2006/main">
              <a:ext uri="{FF2B5EF4-FFF2-40B4-BE49-F238E27FC236}">
                <a16:creationId xmlns:a16="http://schemas.microsoft.com/office/drawing/2014/main" id="{933C742C-9700-437F-BFAF-3D81E3E4A9C3}"/>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A640C6DA-5090-4745-A85D-B5D88A0D016C}"/>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D201BFFB-2399-4D78-A6A3-2E6898DA6DD4}"/>
              </a:ext>
            </a:extLst>
          </p:cNvPr>
          <p:cNvSpPr>
            <a:spLocks xmlns:a="http://schemas.openxmlformats.org/drawingml/2006/main" noGrp="1"/>
          </p:cNvSpPr>
          <p:nvPr/>
        </p:nvSpPr>
        <p:spPr>
          <a:xfrm xmlns:a="http://schemas.openxmlformats.org/drawingml/2006/main">
            <a:off x="609600" y="1743075"/>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ED6C1"/>
                </a:solidFill>
                <a:latin typeface="Arial Narrow"/>
                <a:ea typeface="Arial Narrow"/>
                <a:cs typeface="Arial Narrow"/>
              </a:defRPr>
            </a:pPr>
            <a:r>
              <a:rPr sz="2325" b="1">
                <a:solidFill>
                  <a:srgbClr val="1ED6C1"/>
                </a:solidFill>
                <a:latin typeface="Arial Narrow"/>
                <a:ea typeface="Arial Narrow"/>
                <a:cs typeface="Arial Narrow"/>
              </a:rPr>
              <a:t>I / THE SYSTEM</a:t>
            </a:r>
          </a:p>
          <a:p xmlns:a="http://schemas.openxmlformats.org/drawingml/2006/main">
            <a:pPr>
              <a:defRPr sz="2325" b="1">
                <a:solidFill>
                  <a:srgbClr val="1ED6C1"/>
                </a:solidFill>
                <a:latin typeface="Arial Narrow"/>
                <a:ea typeface="Arial Narrow"/>
                <a:cs typeface="Arial Narrow"/>
              </a:defRPr>
            </a:pPr>
            <a:r>
              <a:rPr sz="2325" b="1">
                <a:solidFill>
                  <a:srgbClr val="1ED6C1"/>
                </a:solidFill>
                <a:latin typeface="Arial Narrow"/>
                <a:ea typeface="Arial Narrow"/>
                <a:cs typeface="Arial Narrow"/>
              </a:rPr>
              <a:t>IS THE CRIME</a:t>
            </a:r>
          </a:p>
        </p:txBody>
      </p:sp>
      <p:sp>
        <p:nvSpPr>
          <p:cNvPr id="5" name="">
            <a:extLst xmlns:a="http://schemas.openxmlformats.org/drawingml/2006/main">
              <a:ext uri="{FF2B5EF4-FFF2-40B4-BE49-F238E27FC236}">
                <a16:creationId xmlns:a16="http://schemas.microsoft.com/office/drawing/2014/main" id="{88CD402E-F613-4F94-B989-FA15A8856B1F}"/>
              </a:ext>
            </a:extLst>
          </p:cNvPr>
          <p:cNvSpPr>
            <a:spLocks xmlns:a="http://schemas.openxmlformats.org/drawingml/2006/main" noGrp="1"/>
          </p:cNvSpPr>
          <p:nvPr/>
        </p:nvSpPr>
        <p:spPr>
          <a:xfrm xmlns:a="http://schemas.openxmlformats.org/drawingml/2006/main">
            <a:off x="609600" y="3371850"/>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A Sovereign Drive heist.</a:t>
            </a:r>
          </a:p>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A deepfake frames Jack.</a:t>
            </a:r>
          </a:p>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Sophii sees the lie.</a:t>
            </a:r>
          </a:p>
        </p:txBody>
      </p:sp>
      <p:sp>
        <p:nvSpPr>
          <p:cNvPr id="6" name="">
            <a:extLst xmlns:a="http://schemas.openxmlformats.org/drawingml/2006/main">
              <a:ext uri="{FF2B5EF4-FFF2-40B4-BE49-F238E27FC236}">
                <a16:creationId xmlns:a16="http://schemas.microsoft.com/office/drawing/2014/main" id="{57FDB564-13F5-461C-A392-E3131D84675E}"/>
              </a:ext>
            </a:extLst>
          </p:cNvPr>
          <p:cNvSpPr>
            <a:spLocks xmlns:a="http://schemas.openxmlformats.org/drawingml/2006/main" noGrp="1"/>
          </p:cNvSpPr>
          <p:nvPr/>
        </p:nvSpPr>
        <p:spPr>
          <a:xfrm xmlns:a="http://schemas.openxmlformats.org/drawingml/2006/main">
            <a:off x="4438650" y="1743075"/>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ED6C1"/>
                </a:solidFill>
                <a:latin typeface="Arial Narrow"/>
                <a:ea typeface="Arial Narrow"/>
                <a:cs typeface="Arial Narrow"/>
              </a:defRPr>
            </a:pPr>
            <a:r>
              <a:rPr sz="2325" b="1">
                <a:solidFill>
                  <a:srgbClr val="1ED6C1"/>
                </a:solidFill>
                <a:latin typeface="Arial Narrow"/>
                <a:ea typeface="Arial Narrow"/>
                <a:cs typeface="Arial Narrow"/>
              </a:rPr>
              <a:t>II / THE ANALOG</a:t>
            </a:r>
          </a:p>
          <a:p xmlns:a="http://schemas.openxmlformats.org/drawingml/2006/main">
            <a:pPr>
              <a:defRPr sz="2325" b="1">
                <a:solidFill>
                  <a:srgbClr val="1ED6C1"/>
                </a:solidFill>
                <a:latin typeface="Arial Narrow"/>
                <a:ea typeface="Arial Narrow"/>
                <a:cs typeface="Arial Narrow"/>
              </a:defRPr>
            </a:pPr>
            <a:r>
              <a:rPr sz="2325" b="1">
                <a:solidFill>
                  <a:srgbClr val="1ED6C1"/>
                </a:solidFill>
                <a:latin typeface="Arial Narrow"/>
                <a:ea typeface="Arial Narrow"/>
                <a:cs typeface="Arial Narrow"/>
              </a:rPr>
              <a:t>NETWORK</a:t>
            </a:r>
          </a:p>
        </p:txBody>
      </p:sp>
      <p:sp>
        <p:nvSpPr>
          <p:cNvPr id="7" name="">
            <a:extLst xmlns:a="http://schemas.openxmlformats.org/drawingml/2006/main">
              <a:ext uri="{FF2B5EF4-FFF2-40B4-BE49-F238E27FC236}">
                <a16:creationId xmlns:a16="http://schemas.microsoft.com/office/drawing/2014/main" id="{968C0B1A-A391-4F82-AF49-35A98F3C5626}"/>
              </a:ext>
            </a:extLst>
          </p:cNvPr>
          <p:cNvSpPr>
            <a:spLocks xmlns:a="http://schemas.openxmlformats.org/drawingml/2006/main" noGrp="1"/>
          </p:cNvSpPr>
          <p:nvPr/>
        </p:nvSpPr>
        <p:spPr>
          <a:xfrm xmlns:a="http://schemas.openxmlformats.org/drawingml/2006/main">
            <a:off x="4438650" y="3371850"/>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The city locks down.</a:t>
            </a:r>
          </a:p>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The Gray Cell finds blind spots.</a:t>
            </a:r>
          </a:p>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The Reset threatens ASEAN.</a:t>
            </a:r>
          </a:p>
        </p:txBody>
      </p:sp>
      <p:sp>
        <p:nvSpPr>
          <p:cNvPr id="8" name="">
            <a:extLst xmlns:a="http://schemas.openxmlformats.org/drawingml/2006/main">
              <a:ext uri="{FF2B5EF4-FFF2-40B4-BE49-F238E27FC236}">
                <a16:creationId xmlns:a16="http://schemas.microsoft.com/office/drawing/2014/main" id="{0D8CB599-32C2-4F31-80E1-B3EAB69A4976}"/>
              </a:ext>
            </a:extLst>
          </p:cNvPr>
          <p:cNvSpPr>
            <a:spLocks xmlns:a="http://schemas.openxmlformats.org/drawingml/2006/main" noGrp="1"/>
          </p:cNvSpPr>
          <p:nvPr/>
        </p:nvSpPr>
        <p:spPr>
          <a:xfrm xmlns:a="http://schemas.openxmlformats.org/drawingml/2006/main">
            <a:off x="8267700" y="1743075"/>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ED6C1"/>
                </a:solidFill>
                <a:latin typeface="Arial Narrow"/>
                <a:ea typeface="Arial Narrow"/>
                <a:cs typeface="Arial Narrow"/>
              </a:defRPr>
            </a:pPr>
            <a:r>
              <a:rPr sz="2325" b="1">
                <a:solidFill>
                  <a:srgbClr val="1ED6C1"/>
                </a:solidFill>
                <a:latin typeface="Arial Narrow"/>
                <a:ea typeface="Arial Narrow"/>
                <a:cs typeface="Arial Narrow"/>
              </a:rPr>
              <a:t>III / THE RESET</a:t>
            </a:r>
          </a:p>
        </p:txBody>
      </p:sp>
      <p:sp>
        <p:nvSpPr>
          <p:cNvPr id="9" name="">
            <a:extLst xmlns:a="http://schemas.openxmlformats.org/drawingml/2006/main">
              <a:ext uri="{FF2B5EF4-FFF2-40B4-BE49-F238E27FC236}">
                <a16:creationId xmlns:a16="http://schemas.microsoft.com/office/drawing/2014/main" id="{D1866263-B5A5-4D44-9E9E-423D2337EF10}"/>
              </a:ext>
            </a:extLst>
          </p:cNvPr>
          <p:cNvSpPr>
            <a:spLocks xmlns:a="http://schemas.openxmlformats.org/drawingml/2006/main" noGrp="1"/>
          </p:cNvSpPr>
          <p:nvPr/>
        </p:nvSpPr>
        <p:spPr>
          <a:xfrm xmlns:a="http://schemas.openxmlformats.org/drawingml/2006/main">
            <a:off x="8267700" y="3371850"/>
            <a:ext cx="3429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Sophii refuses vengeance.</a:t>
            </a:r>
          </a:p>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Jack turns the roof into a fuse.</a:t>
            </a:r>
          </a:p>
          <a:p xmlns:a="http://schemas.openxmlformats.org/drawingml/2006/main">
            <a:pPr>
              <a:defRPr sz="2100" b="0">
                <a:solidFill>
                  <a:srgbClr val="F3F1EC"/>
                </a:solidFill>
                <a:latin typeface="Arial"/>
                <a:ea typeface="Arial"/>
                <a:cs typeface="Arial"/>
              </a:defRPr>
            </a:pPr>
            <a:r>
              <a:rPr sz="2100" b="0">
                <a:solidFill>
                  <a:srgbClr val="F3F1EC"/>
                </a:solidFill>
                <a:latin typeface="Arial"/>
                <a:ea typeface="Arial"/>
                <a:cs typeface="Arial"/>
              </a:rPr>
              <a:t>The Gray Cell survives.</a:t>
            </a:r>
          </a:p>
        </p:txBody>
      </p:sp>
    </p:spTree>
    <p:extLst>
      <p:ext uri="{BB962C8B-B14F-4D97-AF65-F5344CB8AC3E}">
        <p14:creationId xmlns:p14="http://schemas.microsoft.com/office/powerpoint/2010/main" val="81305766"/>
      </p:ext>
    </p:extLst>
  </p:cSld>
</p:sld>
</file>

<file path=ppt/slides/slide9.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CCB5C5-7421-43F1-87CA-D75124DB4FD3}"/>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VISUAL STYLE</a:t>
            </a:r>
          </a:p>
        </p:txBody>
      </p:sp>
      <p:sp>
        <p:nvSpPr>
          <p:cNvPr id="2" name="">
            <a:extLst xmlns:a="http://schemas.openxmlformats.org/drawingml/2006/main">
              <a:ext uri="{FF2B5EF4-FFF2-40B4-BE49-F238E27FC236}">
                <a16:creationId xmlns:a16="http://schemas.microsoft.com/office/drawing/2014/main" id="{C2EBAE25-A33F-42F1-A686-20B382D8E781}"/>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26945E68-966F-466D-8210-2FD14468F29A}"/>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c633a4e4b884edc"/>
          <a:srcRect xmlns:a="http://schemas.openxmlformats.org/drawingml/2006/main" l="0" t="21530" r="0" b="21530"/>
          <a:stretch xmlns:a="http://schemas.openxmlformats.org/drawingml/2006/main">
            <a:fillRect l="0" t="0" r="0" b="0"/>
          </a:stretch>
        </p:blipFill>
        <p:spPr>
          <a:xfrm xmlns:a="http://schemas.openxmlformats.org/drawingml/2006/main">
            <a:off x="609600" y="1504950"/>
            <a:ext cx="5353050" cy="30480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15df8b78e54e41"/>
          <a:srcRect xmlns:a="http://schemas.openxmlformats.org/drawingml/2006/main" l="0" t="21631" r="0" b="21631"/>
          <a:stretch xmlns:a="http://schemas.openxmlformats.org/drawingml/2006/main">
            <a:fillRect l="0" t="0" r="0" b="0"/>
          </a:stretch>
        </p:blipFill>
        <p:spPr>
          <a:xfrm xmlns:a="http://schemas.openxmlformats.org/drawingml/2006/main">
            <a:off x="6191250" y="1504950"/>
            <a:ext cx="5372100" cy="304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1AC9697-7F96-4D25-8BA3-49F402A78507}"/>
              </a:ext>
            </a:extLst>
          </p:cNvPr>
          <p:cNvSpPr>
            <a:spLocks xmlns:a="http://schemas.openxmlformats.org/drawingml/2006/main" noGrp="1"/>
          </p:cNvSpPr>
          <p:nvPr/>
        </p:nvSpPr>
        <p:spPr>
          <a:xfrm xmlns:a="http://schemas.openxmlformats.org/drawingml/2006/main">
            <a:off x="609600" y="49244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D6C1"/>
                </a:solidFill>
                <a:latin typeface="Arial"/>
                <a:ea typeface="Arial"/>
                <a:cs typeface="Arial"/>
              </a:defRPr>
            </a:pPr>
            <a:r>
              <a:rPr sz="1875" b="0">
                <a:solidFill>
                  <a:srgbClr val="1ED6C1"/>
                </a:solidFill>
                <a:latin typeface="Arial"/>
                <a:ea typeface="Arial"/>
                <a:cs typeface="Arial"/>
              </a:rPr>
              <a:t>DIGITAL / Teal surveillance. Steel geometry.</a:t>
            </a:r>
          </a:p>
        </p:txBody>
      </p:sp>
      <p:sp>
        <p:nvSpPr>
          <p:cNvPr id="7" name="">
            <a:extLst xmlns:a="http://schemas.openxmlformats.org/drawingml/2006/main">
              <a:ext uri="{FF2B5EF4-FFF2-40B4-BE49-F238E27FC236}">
                <a16:creationId xmlns:a16="http://schemas.microsoft.com/office/drawing/2014/main" id="{0104D212-9545-48A1-B26F-AB691024D311}"/>
              </a:ext>
            </a:extLst>
          </p:cNvPr>
          <p:cNvSpPr>
            <a:spLocks xmlns:a="http://schemas.openxmlformats.org/drawingml/2006/main" noGrp="1"/>
          </p:cNvSpPr>
          <p:nvPr/>
        </p:nvSpPr>
        <p:spPr>
          <a:xfrm xmlns:a="http://schemas.openxmlformats.org/drawingml/2006/main">
            <a:off x="6191250" y="4924425"/>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1EC"/>
                </a:solidFill>
                <a:latin typeface="Arial"/>
                <a:ea typeface="Arial"/>
                <a:cs typeface="Arial"/>
              </a:defRPr>
            </a:pPr>
            <a:r>
              <a:rPr sz="1875" b="0">
                <a:solidFill>
                  <a:srgbClr val="F3F1EC"/>
                </a:solidFill>
                <a:latin typeface="Arial"/>
                <a:ea typeface="Arial"/>
                <a:cs typeface="Arial"/>
              </a:rPr>
              <a:t>ANALOG / Rain. Paper. Mechanical time.</a:t>
            </a:r>
          </a:p>
        </p:txBody>
      </p:sp>
    </p:spTree>
    <p:extLst>
      <p:ext uri="{BB962C8B-B14F-4D97-AF65-F5344CB8AC3E}">
        <p14:creationId xmlns:p14="http://schemas.microsoft.com/office/powerpoint/2010/main" val="1504265619"/>
      </p:ext>
    </p:extLst>
  </p:cSld>
</p:sld>
</file>

<file path=ppt/slides/slide10.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32E63DD-6938-4012-AF9A-2E4904214FB7}"/>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CASTING IN DISCUSSION</a:t>
            </a:r>
          </a:p>
        </p:txBody>
      </p:sp>
      <p:sp>
        <p:nvSpPr>
          <p:cNvPr id="2" name="">
            <a:extLst xmlns:a="http://schemas.openxmlformats.org/drawingml/2006/main">
              <a:ext uri="{FF2B5EF4-FFF2-40B4-BE49-F238E27FC236}">
                <a16:creationId xmlns:a16="http://schemas.microsoft.com/office/drawing/2014/main" id="{3B9ED8A9-13EC-4B3C-8C9F-CE98914FBB26}"/>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C6E1D31C-B5A9-48A3-AB2D-C5DC5865ADE7}"/>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adeeffc538e431c"/>
          <a:srcRect xmlns:a="http://schemas.openxmlformats.org/drawingml/2006/main" l="0" t="8571" r="0" b="8571"/>
          <a:stretch xmlns:a="http://schemas.openxmlformats.org/drawingml/2006/main">
            <a:fillRect l="0" t="0" r="0" b="0"/>
          </a:stretch>
        </p:blipFill>
        <p:spPr>
          <a:xfrm xmlns:a="http://schemas.openxmlformats.org/drawingml/2006/main">
            <a:off x="609600" y="1495425"/>
            <a:ext cx="3333750" cy="276225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f4101072d434eb8"/>
          <a:srcRect xmlns:a="http://schemas.openxmlformats.org/drawingml/2006/main" l="0" t="8571" r="0" b="8571"/>
          <a:stretch xmlns:a="http://schemas.openxmlformats.org/drawingml/2006/main">
            <a:fillRect l="0" t="0" r="0" b="0"/>
          </a:stretch>
        </p:blipFill>
        <p:spPr>
          <a:xfrm xmlns:a="http://schemas.openxmlformats.org/drawingml/2006/main">
            <a:off x="4276725" y="1495425"/>
            <a:ext cx="3333750" cy="2762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A23880-4823-473B-82E2-1E191947C1C5}"/>
              </a:ext>
            </a:extLst>
          </p:cNvPr>
          <p:cNvSpPr>
            <a:spLocks xmlns:a="http://schemas.openxmlformats.org/drawingml/2006/main" noGrp="1"/>
          </p:cNvSpPr>
          <p:nvPr/>
        </p:nvSpPr>
        <p:spPr>
          <a:xfrm xmlns:a="http://schemas.openxmlformats.org/drawingml/2006/main">
            <a:off x="8181975" y="2000250"/>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ED6C1"/>
                </a:solidFill>
                <a:latin typeface="Arial Narrow"/>
                <a:ea typeface="Arial Narrow"/>
                <a:cs typeface="Arial Narrow"/>
              </a:defRPr>
            </a:pPr>
            <a:r>
              <a:rPr sz="5100" b="1">
                <a:solidFill>
                  <a:srgbClr val="1ED6C1"/>
                </a:solidFill>
                <a:latin typeface="Arial Narrow"/>
                <a:ea typeface="Arial Narrow"/>
                <a:cs typeface="Arial Narrow"/>
              </a:rPr>
              <a:t>JULIAN</a:t>
            </a:r>
          </a:p>
          <a:p xmlns:a="http://schemas.openxmlformats.org/drawingml/2006/main">
            <a:pPr>
              <a:defRPr sz="5100" b="1">
                <a:solidFill>
                  <a:srgbClr val="1ED6C1"/>
                </a:solidFill>
                <a:latin typeface="Arial Narrow"/>
                <a:ea typeface="Arial Narrow"/>
                <a:cs typeface="Arial Narrow"/>
              </a:defRPr>
            </a:pPr>
            <a:r>
              <a:rPr sz="5100" b="1">
                <a:solidFill>
                  <a:srgbClr val="1ED6C1"/>
                </a:solidFill>
                <a:latin typeface="Arial Narrow"/>
                <a:ea typeface="Arial Narrow"/>
                <a:cs typeface="Arial Narrow"/>
              </a:rPr>
              <a:t>VANE</a:t>
            </a:r>
          </a:p>
        </p:txBody>
      </p:sp>
      <p:sp>
        <p:nvSpPr>
          <p:cNvPr id="7" name="">
            <a:extLst xmlns:a="http://schemas.openxmlformats.org/drawingml/2006/main">
              <a:ext uri="{FF2B5EF4-FFF2-40B4-BE49-F238E27FC236}">
                <a16:creationId xmlns:a16="http://schemas.microsoft.com/office/drawing/2014/main" id="{5B253D00-B38A-4036-B05B-2441FD6DA0D6}"/>
              </a:ext>
            </a:extLst>
          </p:cNvPr>
          <p:cNvSpPr>
            <a:spLocks xmlns:a="http://schemas.openxmlformats.org/drawingml/2006/main" noGrp="1"/>
          </p:cNvSpPr>
          <p:nvPr/>
        </p:nvSpPr>
        <p:spPr>
          <a:xfrm xmlns:a="http://schemas.openxmlformats.org/drawingml/2006/main">
            <a:off x="609600" y="45529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1EC"/>
                </a:solidFill>
                <a:latin typeface="Arial"/>
                <a:ea typeface="Arial"/>
                <a:cs typeface="Arial"/>
              </a:defRPr>
            </a:pPr>
            <a:r>
              <a:rPr sz="1875" b="0">
                <a:solidFill>
                  <a:srgbClr val="F3F1EC"/>
                </a:solidFill>
                <a:latin typeface="Arial"/>
                <a:ea typeface="Arial"/>
                <a:cs typeface="Arial"/>
              </a:rPr>
              <a:t>JACK VANCE</a:t>
            </a:r>
          </a:p>
          <a:p xmlns:a="http://schemas.openxmlformats.org/drawingml/2006/main">
            <a:pPr>
              <a:defRPr sz="1875" b="0">
                <a:solidFill>
                  <a:srgbClr val="F3F1EC"/>
                </a:solidFill>
                <a:latin typeface="Arial"/>
                <a:ea typeface="Arial"/>
                <a:cs typeface="Arial"/>
              </a:defRPr>
            </a:pPr>
            <a:r>
              <a:rPr sz="1875" b="0">
                <a:solidFill>
                  <a:srgbClr val="F3F1EC"/>
                </a:solidFill>
                <a:latin typeface="Arial"/>
                <a:ea typeface="Arial"/>
                <a:cs typeface="Arial"/>
              </a:rPr>
              <a:t>40s • Physical authority</a:t>
            </a:r>
          </a:p>
        </p:txBody>
      </p:sp>
      <p:sp>
        <p:nvSpPr>
          <p:cNvPr id="8" name="">
            <a:extLst xmlns:a="http://schemas.openxmlformats.org/drawingml/2006/main">
              <a:ext uri="{FF2B5EF4-FFF2-40B4-BE49-F238E27FC236}">
                <a16:creationId xmlns:a16="http://schemas.microsoft.com/office/drawing/2014/main" id="{59BA022B-5075-4FE0-8220-9301B48D0821}"/>
              </a:ext>
            </a:extLst>
          </p:cNvPr>
          <p:cNvSpPr>
            <a:spLocks xmlns:a="http://schemas.openxmlformats.org/drawingml/2006/main" noGrp="1"/>
          </p:cNvSpPr>
          <p:nvPr/>
        </p:nvSpPr>
        <p:spPr>
          <a:xfrm xmlns:a="http://schemas.openxmlformats.org/drawingml/2006/main">
            <a:off x="4276725" y="45529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1EC"/>
                </a:solidFill>
                <a:latin typeface="Arial"/>
                <a:ea typeface="Arial"/>
                <a:cs typeface="Arial"/>
              </a:defRPr>
            </a:pPr>
            <a:r>
              <a:rPr sz="1875" b="0">
                <a:solidFill>
                  <a:srgbClr val="F3F1EC"/>
                </a:solidFill>
                <a:latin typeface="Arial"/>
                <a:ea typeface="Arial"/>
                <a:cs typeface="Arial"/>
              </a:rPr>
              <a:t>SOPHII WEIMING</a:t>
            </a:r>
          </a:p>
          <a:p xmlns:a="http://schemas.openxmlformats.org/drawingml/2006/main">
            <a:pPr>
              <a:defRPr sz="1875" b="0">
                <a:solidFill>
                  <a:srgbClr val="F3F1EC"/>
                </a:solidFill>
                <a:latin typeface="Arial"/>
                <a:ea typeface="Arial"/>
                <a:cs typeface="Arial"/>
              </a:defRPr>
            </a:pPr>
            <a:r>
              <a:rPr sz="1875" b="0">
                <a:solidFill>
                  <a:srgbClr val="F3F1EC"/>
                </a:solidFill>
                <a:latin typeface="Arial"/>
                <a:ea typeface="Arial"/>
                <a:cs typeface="Arial"/>
              </a:rPr>
              <a:t>30s • Intelligence and resolve</a:t>
            </a:r>
          </a:p>
        </p:txBody>
      </p:sp>
      <p:sp>
        <p:nvSpPr>
          <p:cNvPr id="9" name="">
            <a:extLst xmlns:a="http://schemas.openxmlformats.org/drawingml/2006/main">
              <a:ext uri="{FF2B5EF4-FFF2-40B4-BE49-F238E27FC236}">
                <a16:creationId xmlns:a16="http://schemas.microsoft.com/office/drawing/2014/main" id="{C2DF845F-7419-42F6-883F-15BA3B6E90DF}"/>
              </a:ext>
            </a:extLst>
          </p:cNvPr>
          <p:cNvSpPr>
            <a:spLocks xmlns:a="http://schemas.openxmlformats.org/drawingml/2006/main" noGrp="1"/>
          </p:cNvSpPr>
          <p:nvPr/>
        </p:nvSpPr>
        <p:spPr>
          <a:xfrm xmlns:a="http://schemas.openxmlformats.org/drawingml/2006/main">
            <a:off x="8181975" y="45529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1EC"/>
                </a:solidFill>
                <a:latin typeface="Arial"/>
                <a:ea typeface="Arial"/>
                <a:cs typeface="Arial"/>
              </a:defRPr>
            </a:pPr>
            <a:r>
              <a:rPr sz="1875" b="0">
                <a:solidFill>
                  <a:srgbClr val="F3F1EC"/>
                </a:solidFill>
                <a:latin typeface="Arial"/>
                <a:ea typeface="Arial"/>
                <a:cs typeface="Arial"/>
              </a:rPr>
              <a:t>JULIAN VANE</a:t>
            </a:r>
          </a:p>
          <a:p xmlns:a="http://schemas.openxmlformats.org/drawingml/2006/main">
            <a:pPr>
              <a:defRPr sz="1875" b="0">
                <a:solidFill>
                  <a:srgbClr val="F3F1EC"/>
                </a:solidFill>
                <a:latin typeface="Arial"/>
                <a:ea typeface="Arial"/>
                <a:cs typeface="Arial"/>
              </a:defRPr>
            </a:pPr>
            <a:r>
              <a:rPr sz="1875" b="0">
                <a:solidFill>
                  <a:srgbClr val="F3F1EC"/>
                </a:solidFill>
                <a:latin typeface="Arial"/>
                <a:ea typeface="Arial"/>
                <a:cs typeface="Arial"/>
              </a:rPr>
              <a:t>50s • Charisma and precision</a:t>
            </a:r>
          </a:p>
        </p:txBody>
      </p:sp>
    </p:spTree>
    <p:extLst>
      <p:ext uri="{BB962C8B-B14F-4D97-AF65-F5344CB8AC3E}">
        <p14:creationId xmlns:p14="http://schemas.microsoft.com/office/powerpoint/2010/main" val="633237233"/>
      </p:ext>
    </p:extLst>
  </p:cSld>
</p:sld>
</file>

<file path=ppt/slides/slide11.xml><?xml version="1.0" encoding="utf-8"?>
<p:sld xmlns:p="http://schemas.openxmlformats.org/presentationml/2006/main">
  <p:cSld>
    <p:bg>
      <p:bgPr>
        <a:solidFill xmlns:a="http://schemas.openxmlformats.org/drawingml/2006/main">
          <a:srgbClr val="F3F1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C9CFD0-21AF-4B1D-8D62-E7F97A9C32EA}"/>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E0E11"/>
                </a:solidFill>
                <a:latin typeface="Arial Narrow"/>
                <a:ea typeface="Arial Narrow"/>
                <a:cs typeface="Arial Narrow"/>
              </a:defRPr>
            </a:pPr>
            <a:r>
              <a:rPr sz="3750" b="1">
                <a:solidFill>
                  <a:srgbClr val="0E0E11"/>
                </a:solidFill>
                <a:latin typeface="Arial Narrow"/>
                <a:ea typeface="Arial Narrow"/>
                <a:cs typeface="Arial Narrow"/>
              </a:rPr>
              <a:t>WHY IT WORKS</a:t>
            </a:r>
          </a:p>
        </p:txBody>
      </p:sp>
      <p:sp>
        <p:nvSpPr>
          <p:cNvPr id="2" name="">
            <a:extLst xmlns:a="http://schemas.openxmlformats.org/drawingml/2006/main">
              <a:ext uri="{FF2B5EF4-FFF2-40B4-BE49-F238E27FC236}">
                <a16:creationId xmlns:a16="http://schemas.microsoft.com/office/drawing/2014/main" id="{D1EC2C3C-F845-4DAA-8844-BCA8F94B79CD}"/>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A2F36"/>
                </a:solidFill>
                <a:latin typeface="Arial"/>
                <a:ea typeface="Arial"/>
                <a:cs typeface="Arial"/>
              </a:defRPr>
            </a:pPr>
            <a:r>
              <a:rPr sz="1125" b="0">
                <a:solidFill>
                  <a:srgbClr val="2A2F36"/>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CC38E402-AE2C-4F1E-B3B4-EBFBF6E585B7}"/>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F9D20B5-2E10-4F0D-840A-718B35412604}"/>
              </a:ext>
            </a:extLst>
          </p:cNvPr>
          <p:cNvSpPr>
            <a:spLocks xmlns:a="http://schemas.openxmlformats.org/drawingml/2006/main" noGrp="1"/>
          </p:cNvSpPr>
          <p:nvPr/>
        </p:nvSpPr>
        <p:spPr>
          <a:xfrm xmlns:a="http://schemas.openxmlformats.org/drawingml/2006/main">
            <a:off x="609600" y="1619250"/>
            <a:ext cx="5524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E0E11"/>
                </a:solidFill>
                <a:latin typeface="Arial Narrow"/>
                <a:ea typeface="Arial Narrow"/>
                <a:cs typeface="Arial Narrow"/>
              </a:defRPr>
            </a:pPr>
            <a:r>
              <a:rPr sz="3300" b="1">
                <a:solidFill>
                  <a:srgbClr val="0E0E11"/>
                </a:solidFill>
                <a:latin typeface="Arial Narrow"/>
                <a:ea typeface="Arial Narrow"/>
                <a:cs typeface="Arial Narrow"/>
              </a:rPr>
              <a:t>A global threat.</a:t>
            </a:r>
          </a:p>
          <a:p xmlns:a="http://schemas.openxmlformats.org/drawingml/2006/main">
            <a:pPr>
              <a:defRPr sz="3300" b="1">
                <a:solidFill>
                  <a:srgbClr val="0E0E11"/>
                </a:solidFill>
                <a:latin typeface="Arial Narrow"/>
                <a:ea typeface="Arial Narrow"/>
                <a:cs typeface="Arial Narrow"/>
              </a:defRPr>
            </a:pPr>
            <a:r>
              <a:rPr sz="3300" b="1">
                <a:solidFill>
                  <a:srgbClr val="0E0E11"/>
                </a:solidFill>
                <a:latin typeface="Arial Narrow"/>
                <a:ea typeface="Arial Narrow"/>
                <a:cs typeface="Arial Narrow"/>
              </a:rPr>
              <a:t>A distinctly Singaporean fight.</a:t>
            </a:r>
          </a:p>
        </p:txBody>
      </p:sp>
      <p:sp>
        <p:nvSpPr>
          <p:cNvPr id="5" name="">
            <a:extLst xmlns:a="http://schemas.openxmlformats.org/drawingml/2006/main">
              <a:ext uri="{FF2B5EF4-FFF2-40B4-BE49-F238E27FC236}">
                <a16:creationId xmlns:a16="http://schemas.microsoft.com/office/drawing/2014/main" id="{58500FB2-1060-4259-BED9-EAF4B22288F9}"/>
              </a:ext>
            </a:extLst>
          </p:cNvPr>
          <p:cNvSpPr>
            <a:spLocks xmlns:a="http://schemas.openxmlformats.org/drawingml/2006/main" noGrp="1"/>
          </p:cNvSpPr>
          <p:nvPr/>
        </p:nvSpPr>
        <p:spPr>
          <a:xfrm xmlns:a="http://schemas.openxmlformats.org/drawingml/2006/main">
            <a:off x="609600" y="3562350"/>
            <a:ext cx="1028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A2F36"/>
                </a:solidFill>
                <a:latin typeface="Arial"/>
                <a:ea typeface="Arial"/>
                <a:cs typeface="Arial"/>
              </a:defRPr>
            </a:pPr>
            <a:r>
              <a:rPr sz="2175" b="0">
                <a:solidFill>
                  <a:srgbClr val="2A2F36"/>
                </a:solidFill>
                <a:latin typeface="Arial"/>
                <a:ea typeface="Arial"/>
                <a:cs typeface="Arial"/>
              </a:rPr>
              <a:t>AI and surveillance turn everyday life into suspense.</a:t>
            </a:r>
          </a:p>
          <a:p xmlns:a="http://schemas.openxmlformats.org/drawingml/2006/main">
            <a:pPr>
              <a:defRPr sz="2175" b="0">
                <a:solidFill>
                  <a:srgbClr val="2A2F36"/>
                </a:solidFill>
                <a:latin typeface="Arial"/>
                <a:ea typeface="Arial"/>
                <a:cs typeface="Arial"/>
              </a:defRPr>
            </a:pPr>
            <a:r>
              <a:rPr sz="2175" b="0">
                <a:solidFill>
                  <a:srgbClr val="2A2F36"/>
                </a:solidFill>
                <a:latin typeface="Arial"/>
                <a:ea typeface="Arial"/>
                <a:cs typeface="Arial"/>
              </a:rPr>
              <a:t>Asian and Western co-leads carry the emotional stakes.</a:t>
            </a:r>
          </a:p>
          <a:p xmlns:a="http://schemas.openxmlformats.org/drawingml/2006/main">
            <a:pPr>
              <a:defRPr sz="2175" b="0">
                <a:solidFill>
                  <a:srgbClr val="2A2F36"/>
                </a:solidFill>
                <a:latin typeface="Arial"/>
                <a:ea typeface="Arial"/>
                <a:cs typeface="Arial"/>
              </a:defRPr>
            </a:pPr>
            <a:r>
              <a:rPr sz="2175" b="0">
                <a:solidFill>
                  <a:srgbClr val="2A2F36"/>
                </a:solidFill>
                <a:latin typeface="Arial"/>
                <a:ea typeface="Arial"/>
                <a:cs typeface="Arial"/>
              </a:rPr>
              <a:t>Landmark action grows from the city’s infrastructure.</a:t>
            </a:r>
          </a:p>
          <a:p xmlns:a="http://schemas.openxmlformats.org/drawingml/2006/main">
            <a:pPr>
              <a:defRPr sz="2175" b="0">
                <a:solidFill>
                  <a:srgbClr val="2A2F36"/>
                </a:solidFill>
                <a:latin typeface="Arial"/>
                <a:ea typeface="Arial"/>
                <a:cs typeface="Arial"/>
              </a:defRPr>
            </a:pPr>
            <a:r>
              <a:rPr sz="2175" b="0">
                <a:solidFill>
                  <a:srgbClr val="2A2F36"/>
                </a:solidFill>
                <a:latin typeface="Arial"/>
                <a:ea typeface="Arial"/>
                <a:cs typeface="Arial"/>
              </a:rPr>
              <a:t>The Gray Cell supports further stories.</a:t>
            </a:r>
          </a:p>
        </p:txBody>
      </p:sp>
    </p:spTree>
    <p:extLst>
      <p:ext uri="{BB962C8B-B14F-4D97-AF65-F5344CB8AC3E}">
        <p14:creationId xmlns:p14="http://schemas.microsoft.com/office/powerpoint/2010/main" val="293593818"/>
      </p:ext>
    </p:extLst>
  </p:cSld>
</p:sld>
</file>

<file path=ppt/slides/slide12.xml><?xml version="1.0" encoding="utf-8"?>
<p:sld xmlns:p="http://schemas.openxmlformats.org/presentationml/2006/main">
  <p:cSld>
    <p:bg>
      <p:bgPr>
        <a:solidFill xmlns:a="http://schemas.openxmlformats.org/drawingml/2006/main">
          <a:srgbClr val="0E0E1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7B841E-8C41-45F0-9C69-B535DDAF758A}"/>
              </a:ext>
            </a:extLst>
          </p:cNvPr>
          <p:cNvSpPr>
            <a:spLocks xmlns:a="http://schemas.openxmlformats.org/drawingml/2006/main" noGrp="1"/>
          </p:cNvSpPr>
          <p:nvPr/>
        </p:nvSpPr>
        <p:spPr>
          <a:xfrm xmlns:a="http://schemas.openxmlformats.org/drawingml/2006/main">
            <a:off x="60960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3F1EC"/>
                </a:solidFill>
                <a:latin typeface="Arial Narrow"/>
                <a:ea typeface="Arial Narrow"/>
                <a:cs typeface="Arial Narrow"/>
              </a:defRPr>
            </a:pPr>
            <a:r>
              <a:rPr sz="3750" b="1">
                <a:solidFill>
                  <a:srgbClr val="F3F1EC"/>
                </a:solidFill>
                <a:latin typeface="Arial Narrow"/>
                <a:ea typeface="Arial Narrow"/>
                <a:cs typeface="Arial Narrow"/>
              </a:rPr>
              <a:t>NEXT STEPS</a:t>
            </a:r>
          </a:p>
        </p:txBody>
      </p:sp>
      <p:sp>
        <p:nvSpPr>
          <p:cNvPr id="2" name="">
            <a:extLst xmlns:a="http://schemas.openxmlformats.org/drawingml/2006/main">
              <a:ext uri="{FF2B5EF4-FFF2-40B4-BE49-F238E27FC236}">
                <a16:creationId xmlns:a16="http://schemas.microsoft.com/office/drawing/2014/main" id="{62E2DCDE-A579-4CC8-AF66-B46E5FD1EDDF}"/>
              </a:ext>
            </a:extLst>
          </p:cNvPr>
          <p:cNvSpPr>
            <a:spLocks xmlns:a="http://schemas.openxmlformats.org/drawingml/2006/main" noGrp="1"/>
          </p:cNvSpPr>
          <p:nvPr/>
        </p:nvSpPr>
        <p:spPr>
          <a:xfrm xmlns:a="http://schemas.openxmlformats.org/drawingml/2006/main">
            <a:off x="609600" y="63436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3F1EC"/>
                </a:solidFill>
                <a:latin typeface="Arial"/>
                <a:ea typeface="Arial"/>
                <a:cs typeface="Arial"/>
              </a:defRPr>
            </a:pPr>
            <a:r>
              <a:rPr sz="1125" b="0">
                <a:solidFill>
                  <a:srgbClr val="F3F1EC"/>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5166605B-860C-4C1F-B835-60F740C0E776}"/>
              </a:ext>
            </a:extLst>
          </p:cNvPr>
          <p:cNvSpPr>
            <a:spLocks xmlns:a="http://schemas.openxmlformats.org/drawingml/2006/main" noGrp="1"/>
          </p:cNvSpPr>
          <p:nvPr/>
        </p:nvSpPr>
        <p:spPr>
          <a:xfrm xmlns:a="http://schemas.openxmlformats.org/drawingml/2006/main">
            <a:off x="111823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ED6C1"/>
                </a:solidFill>
                <a:latin typeface="Arial"/>
                <a:ea typeface="Arial"/>
                <a:cs typeface="Arial"/>
              </a:defRPr>
            </a:pPr>
            <a:r>
              <a:rPr sz="1125" b="0">
                <a:solidFill>
                  <a:srgbClr val="1ED6C1"/>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AE598BC2-87C0-4E1F-B2F2-4B15B39D31F7}"/>
              </a:ext>
            </a:extLst>
          </p:cNvPr>
          <p:cNvSpPr>
            <a:spLocks xmlns:a="http://schemas.openxmlformats.org/drawingml/2006/main" noGrp="1"/>
          </p:cNvSpPr>
          <p:nvPr/>
        </p:nvSpPr>
        <p:spPr>
          <a:xfrm xmlns:a="http://schemas.openxmlformats.org/drawingml/2006/main">
            <a:off x="609600" y="1695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3F1EC"/>
                </a:solidFill>
                <a:latin typeface="Arial Narrow"/>
                <a:ea typeface="Arial Narrow"/>
                <a:cs typeface="Arial Narrow"/>
              </a:defRPr>
            </a:pPr>
            <a:r>
              <a:rPr sz="6150" b="1">
                <a:solidFill>
                  <a:srgbClr val="F3F1EC"/>
                </a:solidFill>
                <a:latin typeface="Arial Narrow"/>
                <a:ea typeface="Arial Narrow"/>
                <a:cs typeface="Arial Narrow"/>
              </a:rPr>
              <a:t>LION CITY</a:t>
            </a:r>
          </a:p>
        </p:txBody>
      </p:sp>
      <p:sp>
        <p:nvSpPr>
          <p:cNvPr id="5" name="">
            <a:extLst xmlns:a="http://schemas.openxmlformats.org/drawingml/2006/main">
              <a:ext uri="{FF2B5EF4-FFF2-40B4-BE49-F238E27FC236}">
                <a16:creationId xmlns:a16="http://schemas.microsoft.com/office/drawing/2014/main" id="{89D4A497-79D0-4524-9806-8F3772AB811E}"/>
              </a:ext>
            </a:extLst>
          </p:cNvPr>
          <p:cNvSpPr>
            <a:spLocks xmlns:a="http://schemas.openxmlformats.org/drawingml/2006/main" noGrp="1"/>
          </p:cNvSpPr>
          <p:nvPr/>
        </p:nvSpPr>
        <p:spPr>
          <a:xfrm xmlns:a="http://schemas.openxmlformats.org/drawingml/2006/main">
            <a:off x="609600" y="31242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ED6C1"/>
                </a:solidFill>
                <a:latin typeface="Arial"/>
                <a:ea typeface="Arial"/>
                <a:cs typeface="Arial"/>
              </a:defRPr>
            </a:pPr>
            <a:r>
              <a:rPr sz="2550" b="0">
                <a:solidFill>
                  <a:srgbClr val="1ED6C1"/>
                </a:solidFill>
                <a:latin typeface="Arial"/>
                <a:ea typeface="Arial"/>
                <a:cs typeface="Arial"/>
              </a:rPr>
              <a:t>Story materials → Packaging → Casting</a:t>
            </a:r>
          </a:p>
          <a:p xmlns:a="http://schemas.openxmlformats.org/drawingml/2006/main">
            <a:pPr>
              <a:defRPr sz="2550" b="0">
                <a:solidFill>
                  <a:srgbClr val="1ED6C1"/>
                </a:solidFill>
                <a:latin typeface="Arial"/>
                <a:ea typeface="Arial"/>
                <a:cs typeface="Arial"/>
              </a:defRPr>
            </a:pPr>
            <a:r>
              <a:rPr sz="2550" b="0">
                <a:solidFill>
                  <a:srgbClr val="1ED6C1"/>
                </a:solidFill>
                <a:latin typeface="Arial"/>
                <a:ea typeface="Arial"/>
                <a:cs typeface="Arial"/>
              </a:rPr>
              <a:t>Financing → Production</a:t>
            </a:r>
          </a:p>
        </p:txBody>
      </p:sp>
      <p:sp>
        <p:nvSpPr>
          <p:cNvPr id="6" name="">
            <a:extLst xmlns:a="http://schemas.openxmlformats.org/drawingml/2006/main">
              <a:ext uri="{FF2B5EF4-FFF2-40B4-BE49-F238E27FC236}">
                <a16:creationId xmlns:a16="http://schemas.microsoft.com/office/drawing/2014/main" id="{798BBE62-7DE8-4229-B88F-44C4D211369F}"/>
              </a:ext>
            </a:extLst>
          </p:cNvPr>
          <p:cNvSpPr>
            <a:spLocks xmlns:a="http://schemas.openxmlformats.org/drawingml/2006/main" noGrp="1"/>
          </p:cNvSpPr>
          <p:nvPr/>
        </p:nvSpPr>
        <p:spPr>
          <a:xfrm xmlns:a="http://schemas.openxmlformats.org/drawingml/2006/main">
            <a:off x="609600" y="48101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3F1EC"/>
                </a:solidFill>
                <a:latin typeface="Arial"/>
                <a:ea typeface="Arial"/>
                <a:cs typeface="Arial"/>
              </a:defRPr>
            </a:pPr>
            <a:r>
              <a:rPr sz="2025" b="0">
                <a:solidFill>
                  <a:srgbClr val="F3F1EC"/>
                </a:solidFill>
                <a:latin typeface="Arial"/>
                <a:ea typeface="Arial"/>
                <a:cs typeface="Arial"/>
              </a:rPr>
              <a:t>Seeking producing and international co-production partners</a:t>
            </a:r>
          </a:p>
          <a:p xmlns:a="http://schemas.openxmlformats.org/drawingml/2006/main">
            <a:pPr>
              <a:defRPr sz="2025" b="0">
                <a:solidFill>
                  <a:srgbClr val="F3F1EC"/>
                </a:solidFill>
                <a:latin typeface="Arial"/>
                <a:ea typeface="Arial"/>
                <a:cs typeface="Arial"/>
              </a:defRPr>
            </a:pPr>
            <a:r>
              <a:rPr sz="2025" b="0">
                <a:solidFill>
                  <a:srgbClr val="F3F1EC"/>
                </a:solidFill>
                <a:latin typeface="Arial"/>
                <a:ea typeface="Arial"/>
                <a:cs typeface="Arial"/>
              </a:rPr>
              <a:t>to develop the screenplay and assemble the package.</a:t>
            </a:r>
          </a:p>
        </p:txBody>
      </p:sp>
    </p:spTree>
    <p:extLst>
      <p:ext uri="{BB962C8B-B14F-4D97-AF65-F5344CB8AC3E}">
        <p14:creationId xmlns:p14="http://schemas.microsoft.com/office/powerpoint/2010/main" val="765242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2026-10-09T18:26:17.7510000Z</dcterms:created>
  <dcterms:modified xsi:type="dcterms:W3CDTF">2026-10-09T18:26:17.7510000Z</dcterms:modified>
</coreProperties>
</file>