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type="screen16x9"/>
  <p:notesSz cx="6858000" cy="9144000"/>
  <p:defaultTextStyle/>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Opening pitch: a political romantic comedy about two experts in public performan"/>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Opening pitch: a political romantic comedy about two experts in public performance who learn to risk telling the truth. Written by Kelly R. Tenney, NCCA Entertainment. Poster is concept artwork, not a representation of attached cast.</a:t>
            </a:r>
            <a:endParaRPr lang="en-US" sz="120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Logline adapted from the studio one-pager supplied by NCCA. The engagement is ma"/>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Logline adapted from the studio one-pager supplied by NCCA. The engagement is manufactured by both campaigns, and the leads knowingly consent. The leak threatens their reputations just as their private connection becomes real.</a:t>
            </a:r>
            <a:endParaRPr lang="en-US" sz="120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he premise supplies escalating public obligations. Alex needs her job to protec"/>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The premise supplies escalating public obligations. Alex needs her job to protect paid retraining and wage replacement in the Heartland Jobs Act. Marcus needs his father’s approval. Their goals make accepting the stunt plausible, while the contract creates a clear comic promise.</a:t>
            </a:r>
            <a:endParaRPr lang="en-US" sz="1200"/>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he yellow legal pad is the recurring visual motif. These are the central terms,"/>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The yellow legal pad is the recurring visual motif. These are the central terms, summarized for the pitch. The no-love clause is emotional armor, not merely a comic rule.</a:t>
            </a:r>
            <a:endParaRPr lang="en-US" sz="1200"/>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Alex and Marcus are Black political professionals, with genuinely different beli"/>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Alex and Marcus are Black political professionals, with genuinely different beliefs. Their romance does not erase their disagreement over the jobs bill. Alex’s pen and Marcus’s cufflink turn familiar gestures into emotional tells.</a:t>
            </a:r>
            <a:endParaRPr lang="en-US" sz="1200"/>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earl’s death is the emotional hinge of the film. Rose grounds the political arg"/>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Pearl’s death is the emotional hinge of the film. Rose grounds the political argument in lived labor experience. Calvin is a father who confuses control with love. Vivian sees the personal cost. Dana and Gil see numbers. Priya is caught in the machinery she is learning to operate.</a:t>
            </a:r>
            <a:endParaRPr lang="en-US" sz="1200"/>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tory overview with spoilers, appropriate for a development pitch. Alex makes he"/>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Story overview with spoilers, appropriate for a development pitch. Alex makes her own public confession before knowing what Marcus will do. Marcus then refuses to scapegoat her and withdraws his candidacy. Each pays independently for honesty.</a:t>
            </a:r>
            <a:endParaRPr lang="en-US" sz="1200"/>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he film moves from verbal velocity to emotional stillness. The opening hot mic "/>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The film moves from verbal velocity to emotional stillness. The opening hot mic is the hook; the Georgetown donor dinner exposes money and family power; the funeral is the private turning point; the televised pause is the public reckoning.</a:t>
            </a:r>
            <a:endParaRPr lang="en-US" sz="1200"/>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one is drawn from the supplied one-pager. Use the comps as creative references,"/>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Tone is drawn from the supplied one-pager. Use the comps as creative references, not as revenue or audience guarantees. Formal staging and polished media surfaces give way to intimate, unmediated spaces. Concept art is illustrative.</a:t>
            </a:r>
            <a:endParaRPr lang="en-US" sz="1200"/>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tory settings, not a finalized production plan. Washington embodies image and c"/>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Story settings, not a finalized production plan. Washington embodies image and control; Dayton brings labor, family, and accountability; Atlanta carries inheritance, status, and the pressure of a political dynasty. Interiors and landmark sequences require location and schedule planning.</a:t>
            </a:r>
            <a:endParaRPr lang="en-US" sz="1200"/>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he symbols carry the story without exposition. The ring is borrowed belonging, "/>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The symbols carry the story without exposition. The ring is borrowed belonging, the union pin is a trust placed in Marcus, the cufflink is the habit of performance. The painted Fox Theatre sky contrasts with the actual dawn at the Lincoln Memorial.</a:t>
            </a:r>
            <a:endParaRPr lang="en-US" sz="1200"/>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Creative positioning from the studio one-pager. These are tone references, not f"/>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Creative positioning from the studio one-pager. These are tone references, not financial comparables. Intended audience: adult romantic-comedy viewers, viewers of sharp ensemble comedy, and audiences interested in contemporary Black family stories. No quantified audience or performance claims are made.</a:t>
            </a:r>
            <a:endParaRPr lang="en-US" sz="1200"/>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All names are a casting wish list from the supplied NCCA cast suggestions. No av"/>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All names are a casting wish list from the supplied NCCA cast suggestions. No availability, interest, attachment, or quotes are confirmed. Alternate individual options: Alex: Zazie Beetz. Marcus: Corey Hawkins. Final casting should serve chemistry and the emotional range of the film.</a:t>
            </a:r>
            <a:endParaRPr lang="en-US"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rimary suggestions selected from the supplied casting document. Alternatives ar"/>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Primary suggestions selected from the supplied casting document. Alternatives are preserved here in notes: Calvin: Laurence Fishburne, Giancarlo Esposito. Vivian: Lorraine Toussaint, Regina King. Rose: Aunjanue Ellis-Taylor, Tichina Arnold. Pearl: Margaret Avery, CCH Pounder. Dana: Edie Falco, Julianne Nicholson. Gil: Sam Rockwell, Bill Camp. Priya: Geraldine Viswanathan, Avantika. Featured roles: Lena Park: Sandra Oh or Greta Lee; Kara Voss: Rachel Brosnahan or Merritt Wever; Grant Halloway: Patrick Wilson or Josh Lucas; Chip Whitlock: Bradley Whitford or Dylan Baker; Dez Little: Lil Rel Howery or Jerrod Carmichael. All are unconfirmed suggestions.</a:t>
            </a:r>
            <a:endParaRPr lang="en-US"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etflix is a proposed target from the supplied studio one-pager, not an affiliat"/>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Netflix is a proposed target from the supplied studio one-pager, not an affiliation or commitment. The $30M–$55M range is NCCA’s indicative budget tier, not a line-item budget or financing commitment. Scope and budget need producer validation, including cast quotes, locations, music, crowds, and schedule.</a:t>
            </a:r>
            <a:endParaRPr lang="en-US"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After Marcus owns the stunt and walks away from the Senate candidacy, the pair r"/>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After Marcus owns the stunt and walks away from the Senate candidacy, the pair return to the Lincoln Memorial at dawn. Their original bagel meet-cute is echoed. Alex will keep fighting for the jobs bill. Marcus supports Section Nine while opposing Section Twelve. Romance changes how they behave, not every belief they hold.</a:t>
            </a:r>
            <a:endParaRPr lang="en-US"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Written by Kelly R. Tenney. Contact details supplied in NCCA’s studio one-pager "/>
          <p:cNvSpPr/>
          <p:nvPr>
            <p:ph type="body" idx="1"/>
          </p:nvPr>
        </p:nvSpPr>
        <p:spPr>
          <a:xfrm>
            <a:off x="457200" y="914400"/>
            <a:ext cx="5943600" cy="731520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152438"/>
                </a:solidFill>
                <a:latin typeface="Arial"/>
              </a:rPr>
              <a:t>Written by Kelly R. Tenney. Contact details supplied in NCCA’s studio one-pager and casting PDF. Development conversation: creative partnership, packaging, and platform fit. No financing or talent attachments are represented.</a:t>
            </a:r>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poster.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poster.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pic>
        <p:nvPicPr>
          <p:cNvPr id="2" name="Concept poste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PREMISE"/>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PREMISE</a:t>
            </a:r>
            <a:endParaRPr lang="en-US" sz="1100"/>
          </a:p>
        </p:txBody>
      </p:sp>
      <p:sp>
        <p:nvSpPr>
          <p:cNvPr id="3" name="The only honest thing is the fake romance."/>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The only honest thing is the fake romance.</a:t>
            </a:r>
            <a:endParaRPr lang="en-US" sz="3700"/>
          </a:p>
        </p:txBody>
      </p:sp>
      <p:sp>
        <p:nvSpPr>
          <p:cNvPr id="4" name="When a hot mic catches two rival political strategists trashing their own candid"/>
          <p:cNvSpPr txBox="1"/>
          <p:nvPr/>
        </p:nvSpPr>
        <p:spPr>
          <a:xfrm>
            <a:off x="594360" y="2057400"/>
            <a:ext cx="6858000" cy="1828800"/>
          </a:xfrm>
          <a:prstGeom prst="rect">
            <a:avLst/>
          </a:prstGeom>
          <a:noFill/>
          <a:ln>
            <a:noFill/>
          </a:ln>
        </p:spPr>
        <p:txBody>
          <a:bodyPr wrap="none" lIns="0" tIns="0" rIns="0" bIns="0" anchor="t">
            <a:noAutofit/>
          </a:bodyPr>
          <a:lstStyle/>
          <a:p>
            <a:pPr algn="l">
              <a:lnSpc>
                <a:spcPts val="2916"/>
              </a:lnSpc>
              <a:spcAft>
                <a:spcPts val="0"/>
              </a:spcAft>
            </a:pPr>
            <a:r>
              <a:rPr lang="en-US" sz="2450" b="0">
                <a:solidFill>
                  <a:srgbClr val="FFFFFF"/>
                </a:solidFill>
                <a:latin typeface="Arial"/>
              </a:rPr>
              <a:t>When a hot mic catches two rival political</a:t>
            </a:r>
            <a:endParaRPr lang="en-US" sz="2450"/>
          </a:p>
          <a:p>
            <a:pPr algn="l">
              <a:lnSpc>
                <a:spcPts val="2916"/>
              </a:lnSpc>
              <a:spcAft>
                <a:spcPts val="0"/>
              </a:spcAft>
            </a:pPr>
            <a:r>
              <a:rPr lang="en-US" sz="2450" b="0">
                <a:solidFill>
                  <a:srgbClr val="FFFFFF"/>
                </a:solidFill>
                <a:latin typeface="Arial"/>
              </a:rPr>
              <a:t>strategists trashing their own candidates, their</a:t>
            </a:r>
            <a:endParaRPr lang="en-US" sz="2450"/>
          </a:p>
          <a:p>
            <a:pPr algn="l">
              <a:lnSpc>
                <a:spcPts val="2916"/>
              </a:lnSpc>
              <a:spcAft>
                <a:spcPts val="0"/>
              </a:spcAft>
            </a:pPr>
            <a:r>
              <a:rPr lang="en-US" sz="2450" b="0">
                <a:solidFill>
                  <a:srgbClr val="FFFFFF"/>
                </a:solidFill>
                <a:latin typeface="Arial"/>
              </a:rPr>
              <a:t>bosses rebrand the scandal as a secret romance</a:t>
            </a:r>
            <a:endParaRPr lang="en-US" sz="2450"/>
          </a:p>
          <a:p>
            <a:pPr algn="l">
              <a:lnSpc>
                <a:spcPts val="2916"/>
              </a:lnSpc>
              <a:spcAft>
                <a:spcPts val="0"/>
              </a:spcAft>
            </a:pPr>
            <a:r>
              <a:rPr lang="en-US" sz="2450" b="0">
                <a:solidFill>
                  <a:srgbClr val="FFFFFF"/>
                </a:solidFill>
                <a:latin typeface="Arial"/>
              </a:rPr>
              <a:t>and stage an engagement through Election Day.</a:t>
            </a:r>
            <a:endParaRPr lang="en-US" sz="2450"/>
          </a:p>
        </p:txBody>
      </p:sp>
      <p:sp>
        <p:nvSpPr>
          <p:cNvPr id="5" name="As their signed contract threatens to leak, the relationship they are faking bec"/>
          <p:cNvSpPr txBox="1"/>
          <p:nvPr/>
        </p:nvSpPr>
        <p:spPr>
          <a:xfrm>
            <a:off x="594360" y="4251960"/>
            <a:ext cx="6858000" cy="1280160"/>
          </a:xfrm>
          <a:prstGeom prst="rect">
            <a:avLst/>
          </a:prstGeom>
          <a:noFill/>
          <a:ln>
            <a:noFill/>
          </a:ln>
        </p:spPr>
        <p:txBody>
          <a:bodyPr wrap="none" lIns="0" tIns="0" rIns="0" bIns="0" anchor="t">
            <a:noAutofit/>
          </a:bodyPr>
          <a:lstStyle/>
          <a:p>
            <a:pPr algn="l">
              <a:lnSpc>
                <a:spcPts val="2737"/>
              </a:lnSpc>
              <a:spcAft>
                <a:spcPts val="0"/>
              </a:spcAft>
            </a:pPr>
            <a:r>
              <a:rPr lang="en-US" sz="2300" b="0">
                <a:solidFill>
                  <a:srgbClr val="DDB567"/>
                </a:solidFill>
                <a:latin typeface="Cambria"/>
              </a:rPr>
              <a:t>As their signed contract threatens to leak, the</a:t>
            </a:r>
            <a:endParaRPr lang="en-US" sz="2300"/>
          </a:p>
          <a:p>
            <a:pPr algn="l">
              <a:lnSpc>
                <a:spcPts val="2737"/>
              </a:lnSpc>
              <a:spcAft>
                <a:spcPts val="0"/>
              </a:spcAft>
            </a:pPr>
            <a:r>
              <a:rPr lang="en-US" sz="2300" b="0">
                <a:solidFill>
                  <a:srgbClr val="DDB567"/>
                </a:solidFill>
                <a:latin typeface="Cambria"/>
              </a:rPr>
              <a:t>relationship they are faking becomes the only honest</a:t>
            </a:r>
            <a:endParaRPr lang="en-US" sz="2300"/>
          </a:p>
          <a:p>
            <a:pPr algn="l">
              <a:lnSpc>
                <a:spcPts val="2737"/>
              </a:lnSpc>
              <a:spcAft>
                <a:spcPts val="0"/>
              </a:spcAft>
            </a:pPr>
            <a:r>
              <a:rPr lang="en-US" sz="2300" b="0">
                <a:solidFill>
                  <a:srgbClr val="DDB567"/>
                </a:solidFill>
                <a:latin typeface="Cambria"/>
              </a:rPr>
              <a:t>thing either has done in a decade.</a:t>
            </a:r>
            <a:endParaRPr lang="en-US" sz="2300"/>
          </a:p>
        </p:txBody>
      </p:sp>
      <p:sp>
        <p:nvSpPr>
          <p:cNvPr id="6" name="Shape"/>
          <p:cNvSpPr txBox="0"/>
          <p:nvPr/>
        </p:nvSpPr>
        <p:spPr>
          <a:xfrm>
            <a:off x="8229600" y="2011680"/>
            <a:ext cx="3337560" cy="3566160"/>
          </a:xfrm>
          <a:prstGeom prst="rect">
            <a:avLst/>
          </a:prstGeom>
          <a:solidFill>
            <a:srgbClr val="1C3048"/>
          </a:solidFill>
          <a:ln>
            <a:noFill/>
          </a:ln>
        </p:spPr>
      </p:sp>
      <p:sp>
        <p:nvSpPr>
          <p:cNvPr id="7" name="Shape"/>
          <p:cNvSpPr txBox="0"/>
          <p:nvPr/>
        </p:nvSpPr>
        <p:spPr>
          <a:xfrm>
            <a:off x="9235440" y="2331720"/>
            <a:ext cx="1234440" cy="1234440"/>
          </a:xfrm>
          <a:prstGeom prst="ellipse">
            <a:avLst/>
          </a:prstGeom>
          <a:solidFill>
            <a:srgbClr val="B93442"/>
          </a:solidFill>
          <a:ln>
            <a:noFill/>
          </a:ln>
        </p:spPr>
      </p:sp>
      <p:sp>
        <p:nvSpPr>
          <p:cNvPr id="8" name="×"/>
          <p:cNvSpPr txBox="1"/>
          <p:nvPr/>
        </p:nvSpPr>
        <p:spPr>
          <a:xfrm>
            <a:off x="9235440" y="2665019"/>
            <a:ext cx="1234440" cy="740664"/>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a:t>
            </a:r>
            <a:endParaRPr lang="en-US" sz="2600"/>
          </a:p>
        </p:txBody>
      </p:sp>
      <p:sp>
        <p:nvSpPr>
          <p:cNvPr id="9" name="RIVALS TO FIANCÉS"/>
          <p:cNvSpPr txBox="1"/>
          <p:nvPr/>
        </p:nvSpPr>
        <p:spPr>
          <a:xfrm>
            <a:off x="8549640" y="3794760"/>
            <a:ext cx="2697480" cy="1051560"/>
          </a:xfrm>
          <a:prstGeom prst="rect">
            <a:avLst/>
          </a:prstGeom>
          <a:noFill/>
          <a:ln>
            <a:noFill/>
          </a:ln>
        </p:spPr>
        <p:txBody>
          <a:bodyPr wrap="none" lIns="0" tIns="0" rIns="0" bIns="0" anchor="t">
            <a:noAutofit/>
          </a:bodyPr>
          <a:lstStyle/>
          <a:p>
            <a:pPr algn="ctr">
              <a:lnSpc>
                <a:spcPts val="3332"/>
              </a:lnSpc>
              <a:spcAft>
                <a:spcPts val="0"/>
              </a:spcAft>
            </a:pPr>
            <a:r>
              <a:rPr lang="en-US" sz="2800" b="1">
                <a:solidFill>
                  <a:srgbClr val="FFFFFF"/>
                </a:solidFill>
                <a:latin typeface="Arial"/>
              </a:rPr>
              <a:t>RIVALS</a:t>
            </a:r>
            <a:endParaRPr lang="en-US" sz="2800"/>
          </a:p>
          <a:p>
            <a:pPr algn="ctr">
              <a:lnSpc>
                <a:spcPts val="3332"/>
              </a:lnSpc>
              <a:spcAft>
                <a:spcPts val="0"/>
              </a:spcAft>
            </a:pPr>
            <a:r>
              <a:rPr lang="en-US" sz="2800" b="1">
                <a:solidFill>
                  <a:srgbClr val="FFFFFF"/>
                </a:solidFill>
                <a:latin typeface="Arial"/>
              </a:rPr>
              <a:t>TO FIANCÉS</a:t>
            </a:r>
            <a:endParaRPr lang="en-US" sz="2800"/>
          </a:p>
        </p:txBody>
      </p:sp>
      <p:sp>
        <p:nvSpPr>
          <p:cNvPr id="10" name="Original feature Political romantic comedy"/>
          <p:cNvSpPr txBox="1"/>
          <p:nvPr/>
        </p:nvSpPr>
        <p:spPr>
          <a:xfrm>
            <a:off x="8549640" y="5166360"/>
            <a:ext cx="2697480" cy="731520"/>
          </a:xfrm>
          <a:prstGeom prst="rect">
            <a:avLst/>
          </a:prstGeom>
          <a:noFill/>
          <a:ln>
            <a:noFill/>
          </a:ln>
        </p:spPr>
        <p:txBody>
          <a:bodyPr wrap="none" lIns="0" tIns="0" rIns="0" bIns="0" anchor="t">
            <a:noAutofit/>
          </a:bodyPr>
          <a:lstStyle/>
          <a:p>
            <a:pPr algn="ctr">
              <a:lnSpc>
                <a:spcPts val="1904"/>
              </a:lnSpc>
              <a:spcAft>
                <a:spcPts val="0"/>
              </a:spcAft>
            </a:pPr>
            <a:r>
              <a:rPr lang="en-US" sz="1600" b="0">
                <a:solidFill>
                  <a:srgbClr val="BBC6D3"/>
                </a:solidFill>
                <a:latin typeface="Arial"/>
              </a:rPr>
              <a:t>Original feature</a:t>
            </a:r>
            <a:endParaRPr lang="en-US" sz="1600"/>
          </a:p>
          <a:p>
            <a:pPr algn="ctr">
              <a:lnSpc>
                <a:spcPts val="1904"/>
              </a:lnSpc>
              <a:spcAft>
                <a:spcPts val="0"/>
              </a:spcAft>
            </a:pPr>
            <a:r>
              <a:rPr lang="en-US" sz="1600" b="0">
                <a:solidFill>
                  <a:srgbClr val="BBC6D3"/>
                </a:solidFill>
                <a:latin typeface="Arial"/>
              </a:rPr>
              <a:t>Political romantic comedy</a:t>
            </a:r>
            <a:endParaRPr lang="en-US" sz="1600"/>
          </a:p>
        </p:txBody>
      </p:sp>
      <p:sp>
        <p:nvSpPr>
          <p:cNvPr id="11"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2" name="02"/>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02</a:t>
            </a:r>
            <a:endParaRPr lang="en-US" sz="10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ENGINE"/>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ENGINE</a:t>
            </a:r>
            <a:endParaRPr lang="en-US" sz="1100"/>
          </a:p>
        </p:txBody>
      </p:sp>
      <p:sp>
        <p:nvSpPr>
          <p:cNvPr id="3" name="Eleven years of rivalry. One career-saving lie."/>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Eleven years of rivalry. One career-saving lie.</a:t>
            </a:r>
            <a:endParaRPr lang="en-US" sz="3700"/>
          </a:p>
        </p:txBody>
      </p:sp>
      <p:sp>
        <p:nvSpPr>
          <p:cNvPr id="4" name="Shape"/>
          <p:cNvSpPr txBox="0"/>
          <p:nvPr/>
        </p:nvSpPr>
        <p:spPr>
          <a:xfrm>
            <a:off x="594360" y="2148840"/>
            <a:ext cx="731520" cy="731520"/>
          </a:xfrm>
          <a:prstGeom prst="ellipse">
            <a:avLst/>
          </a:prstGeom>
          <a:solidFill>
            <a:srgbClr val="DDB567"/>
          </a:solidFill>
          <a:ln>
            <a:noFill/>
          </a:ln>
        </p:spPr>
      </p:sp>
      <p:sp>
        <p:nvSpPr>
          <p:cNvPr id="5" name="01"/>
          <p:cNvSpPr txBox="1"/>
          <p:nvPr/>
        </p:nvSpPr>
        <p:spPr>
          <a:xfrm>
            <a:off x="594360" y="2346350"/>
            <a:ext cx="731520" cy="438912"/>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01</a:t>
            </a:r>
            <a:endParaRPr lang="en-US" sz="2600"/>
          </a:p>
        </p:txBody>
      </p:sp>
      <p:sp>
        <p:nvSpPr>
          <p:cNvPr id="6" name="THE SCANDAL"/>
          <p:cNvSpPr txBox="1"/>
          <p:nvPr/>
        </p:nvSpPr>
        <p:spPr>
          <a:xfrm>
            <a:off x="594360" y="3200400"/>
            <a:ext cx="3383280" cy="45720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FFFFFF"/>
                </a:solidFill>
                <a:latin typeface="Arial"/>
              </a:rPr>
              <a:t>THE SCANDAL</a:t>
            </a:r>
            <a:endParaRPr lang="en-US" sz="2000"/>
          </a:p>
        </p:txBody>
      </p:sp>
      <p:sp>
        <p:nvSpPr>
          <p:cNvPr id="7" name="A green-room recording costs both strategists their jobs."/>
          <p:cNvSpPr txBox="1"/>
          <p:nvPr/>
        </p:nvSpPr>
        <p:spPr>
          <a:xfrm>
            <a:off x="594360" y="3840480"/>
            <a:ext cx="3246120" cy="1508760"/>
          </a:xfrm>
          <a:prstGeom prst="rect">
            <a:avLst/>
          </a:prstGeom>
          <a:noFill/>
          <a:ln>
            <a:noFill/>
          </a:ln>
        </p:spPr>
        <p:txBody>
          <a:bodyPr wrap="none" lIns="0" tIns="0" rIns="0" bIns="0" anchor="t">
            <a:noAutofit/>
          </a:bodyPr>
          <a:lstStyle/>
          <a:p>
            <a:pPr algn="l">
              <a:lnSpc>
                <a:spcPts val="2499"/>
              </a:lnSpc>
              <a:spcAft>
                <a:spcPts val="0"/>
              </a:spcAft>
            </a:pPr>
            <a:r>
              <a:rPr lang="en-US" sz="2100" b="0">
                <a:solidFill>
                  <a:srgbClr val="BBC6D3"/>
                </a:solidFill>
                <a:latin typeface="Arial"/>
              </a:rPr>
              <a:t>A green-room recording</a:t>
            </a:r>
            <a:endParaRPr lang="en-US" sz="2100"/>
          </a:p>
          <a:p>
            <a:pPr algn="l">
              <a:lnSpc>
                <a:spcPts val="2499"/>
              </a:lnSpc>
              <a:spcAft>
                <a:spcPts val="0"/>
              </a:spcAft>
            </a:pPr>
            <a:r>
              <a:rPr lang="en-US" sz="2100" b="0">
                <a:solidFill>
                  <a:srgbClr val="BBC6D3"/>
                </a:solidFill>
                <a:latin typeface="Arial"/>
              </a:rPr>
              <a:t>costs both strategists their</a:t>
            </a:r>
            <a:endParaRPr lang="en-US" sz="2100"/>
          </a:p>
          <a:p>
            <a:pPr algn="l">
              <a:lnSpc>
                <a:spcPts val="2499"/>
              </a:lnSpc>
              <a:spcAft>
                <a:spcPts val="0"/>
              </a:spcAft>
            </a:pPr>
            <a:r>
              <a:rPr lang="en-US" sz="2100" b="0">
                <a:solidFill>
                  <a:srgbClr val="BBC6D3"/>
                </a:solidFill>
                <a:latin typeface="Arial"/>
              </a:rPr>
              <a:t>jobs.</a:t>
            </a:r>
            <a:endParaRPr lang="en-US" sz="2100"/>
          </a:p>
        </p:txBody>
      </p:sp>
      <p:sp>
        <p:nvSpPr>
          <p:cNvPr id="8" name="Shape"/>
          <p:cNvSpPr txBox="0"/>
          <p:nvPr/>
        </p:nvSpPr>
        <p:spPr>
          <a:xfrm>
            <a:off x="4389120" y="2148840"/>
            <a:ext cx="731520" cy="731520"/>
          </a:xfrm>
          <a:prstGeom prst="ellipse">
            <a:avLst/>
          </a:prstGeom>
          <a:solidFill>
            <a:srgbClr val="DDB567"/>
          </a:solidFill>
          <a:ln>
            <a:noFill/>
          </a:ln>
        </p:spPr>
      </p:sp>
      <p:sp>
        <p:nvSpPr>
          <p:cNvPr id="9" name="02"/>
          <p:cNvSpPr txBox="1"/>
          <p:nvPr/>
        </p:nvSpPr>
        <p:spPr>
          <a:xfrm>
            <a:off x="4389120" y="2346350"/>
            <a:ext cx="731520" cy="438912"/>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02</a:t>
            </a:r>
            <a:endParaRPr lang="en-US" sz="2600"/>
          </a:p>
        </p:txBody>
      </p:sp>
      <p:sp>
        <p:nvSpPr>
          <p:cNvPr id="10" name="THE SPIN"/>
          <p:cNvSpPr txBox="1"/>
          <p:nvPr/>
        </p:nvSpPr>
        <p:spPr>
          <a:xfrm>
            <a:off x="4389120" y="3200400"/>
            <a:ext cx="3383280" cy="45720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FFFFFF"/>
                </a:solidFill>
                <a:latin typeface="Arial"/>
              </a:rPr>
              <a:t>THE SPIN</a:t>
            </a:r>
            <a:endParaRPr lang="en-US" sz="2000"/>
          </a:p>
        </p:txBody>
      </p:sp>
      <p:sp>
        <p:nvSpPr>
          <p:cNvPr id="11" name="A focus group sees chemistry. Their bosses sell America a secret couple."/>
          <p:cNvSpPr txBox="1"/>
          <p:nvPr/>
        </p:nvSpPr>
        <p:spPr>
          <a:xfrm>
            <a:off x="4389120" y="3840480"/>
            <a:ext cx="3246120" cy="1508760"/>
          </a:xfrm>
          <a:prstGeom prst="rect">
            <a:avLst/>
          </a:prstGeom>
          <a:noFill/>
          <a:ln>
            <a:noFill/>
          </a:ln>
        </p:spPr>
        <p:txBody>
          <a:bodyPr wrap="none" lIns="0" tIns="0" rIns="0" bIns="0" anchor="t">
            <a:noAutofit/>
          </a:bodyPr>
          <a:lstStyle/>
          <a:p>
            <a:pPr algn="l">
              <a:lnSpc>
                <a:spcPts val="2499"/>
              </a:lnSpc>
              <a:spcAft>
                <a:spcPts val="0"/>
              </a:spcAft>
            </a:pPr>
            <a:r>
              <a:rPr lang="en-US" sz="2100" b="0">
                <a:solidFill>
                  <a:srgbClr val="BBC6D3"/>
                </a:solidFill>
                <a:latin typeface="Arial"/>
              </a:rPr>
              <a:t>A focus group sees</a:t>
            </a:r>
            <a:endParaRPr lang="en-US" sz="2100"/>
          </a:p>
          <a:p>
            <a:pPr algn="l">
              <a:lnSpc>
                <a:spcPts val="2499"/>
              </a:lnSpc>
              <a:spcAft>
                <a:spcPts val="0"/>
              </a:spcAft>
            </a:pPr>
            <a:r>
              <a:rPr lang="en-US" sz="2100" b="0">
                <a:solidFill>
                  <a:srgbClr val="BBC6D3"/>
                </a:solidFill>
                <a:latin typeface="Arial"/>
              </a:rPr>
              <a:t>chemistry. Their bosses</a:t>
            </a:r>
            <a:endParaRPr lang="en-US" sz="2100"/>
          </a:p>
          <a:p>
            <a:pPr algn="l">
              <a:lnSpc>
                <a:spcPts val="2499"/>
              </a:lnSpc>
              <a:spcAft>
                <a:spcPts val="0"/>
              </a:spcAft>
            </a:pPr>
            <a:r>
              <a:rPr lang="en-US" sz="2100" b="0">
                <a:solidFill>
                  <a:srgbClr val="BBC6D3"/>
                </a:solidFill>
                <a:latin typeface="Arial"/>
              </a:rPr>
              <a:t>sell America a secret</a:t>
            </a:r>
            <a:endParaRPr lang="en-US" sz="2100"/>
          </a:p>
          <a:p>
            <a:pPr algn="l">
              <a:lnSpc>
                <a:spcPts val="2499"/>
              </a:lnSpc>
              <a:spcAft>
                <a:spcPts val="0"/>
              </a:spcAft>
            </a:pPr>
            <a:r>
              <a:rPr lang="en-US" sz="2100" b="0">
                <a:solidFill>
                  <a:srgbClr val="BBC6D3"/>
                </a:solidFill>
                <a:latin typeface="Arial"/>
              </a:rPr>
              <a:t>couple.</a:t>
            </a:r>
            <a:endParaRPr lang="en-US" sz="2100"/>
          </a:p>
        </p:txBody>
      </p:sp>
      <p:sp>
        <p:nvSpPr>
          <p:cNvPr id="12" name="Shape"/>
          <p:cNvSpPr txBox="0"/>
          <p:nvPr/>
        </p:nvSpPr>
        <p:spPr>
          <a:xfrm>
            <a:off x="8183880" y="2148840"/>
            <a:ext cx="731520" cy="731520"/>
          </a:xfrm>
          <a:prstGeom prst="ellipse">
            <a:avLst/>
          </a:prstGeom>
          <a:solidFill>
            <a:srgbClr val="DDB567"/>
          </a:solidFill>
          <a:ln>
            <a:noFill/>
          </a:ln>
        </p:spPr>
      </p:sp>
      <p:sp>
        <p:nvSpPr>
          <p:cNvPr id="13" name="03"/>
          <p:cNvSpPr txBox="1"/>
          <p:nvPr/>
        </p:nvSpPr>
        <p:spPr>
          <a:xfrm>
            <a:off x="8183880" y="2346350"/>
            <a:ext cx="731520" cy="438912"/>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03</a:t>
            </a:r>
            <a:endParaRPr lang="en-US" sz="2600"/>
          </a:p>
        </p:txBody>
      </p:sp>
      <p:sp>
        <p:nvSpPr>
          <p:cNvPr id="14" name="THE TRAP"/>
          <p:cNvSpPr txBox="1"/>
          <p:nvPr/>
        </p:nvSpPr>
        <p:spPr>
          <a:xfrm>
            <a:off x="8183880" y="3200400"/>
            <a:ext cx="3383280" cy="45720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FFFFFF"/>
                </a:solidFill>
                <a:latin typeface="Arial"/>
              </a:rPr>
              <a:t>THE TRAP</a:t>
            </a:r>
            <a:endParaRPr lang="en-US" sz="2000"/>
          </a:p>
        </p:txBody>
      </p:sp>
      <p:sp>
        <p:nvSpPr>
          <p:cNvPr id="15" name="The engagement restores access, then makes every private choice a public event."/>
          <p:cNvSpPr txBox="1"/>
          <p:nvPr/>
        </p:nvSpPr>
        <p:spPr>
          <a:xfrm>
            <a:off x="8183880" y="3840480"/>
            <a:ext cx="3246120" cy="1508760"/>
          </a:xfrm>
          <a:prstGeom prst="rect">
            <a:avLst/>
          </a:prstGeom>
          <a:noFill/>
          <a:ln>
            <a:noFill/>
          </a:ln>
        </p:spPr>
        <p:txBody>
          <a:bodyPr wrap="none" lIns="0" tIns="0" rIns="0" bIns="0" anchor="t">
            <a:noAutofit/>
          </a:bodyPr>
          <a:lstStyle/>
          <a:p>
            <a:pPr algn="l">
              <a:lnSpc>
                <a:spcPts val="2499"/>
              </a:lnSpc>
              <a:spcAft>
                <a:spcPts val="0"/>
              </a:spcAft>
            </a:pPr>
            <a:r>
              <a:rPr lang="en-US" sz="2100" b="0">
                <a:solidFill>
                  <a:srgbClr val="BBC6D3"/>
                </a:solidFill>
                <a:latin typeface="Arial"/>
              </a:rPr>
              <a:t>The engagement restores</a:t>
            </a:r>
            <a:endParaRPr lang="en-US" sz="2100"/>
          </a:p>
          <a:p>
            <a:pPr algn="l">
              <a:lnSpc>
                <a:spcPts val="2499"/>
              </a:lnSpc>
              <a:spcAft>
                <a:spcPts val="0"/>
              </a:spcAft>
            </a:pPr>
            <a:r>
              <a:rPr lang="en-US" sz="2100" b="0">
                <a:solidFill>
                  <a:srgbClr val="BBC6D3"/>
                </a:solidFill>
                <a:latin typeface="Arial"/>
              </a:rPr>
              <a:t>access, then makes every</a:t>
            </a:r>
            <a:endParaRPr lang="en-US" sz="2100"/>
          </a:p>
          <a:p>
            <a:pPr algn="l">
              <a:lnSpc>
                <a:spcPts val="2499"/>
              </a:lnSpc>
              <a:spcAft>
                <a:spcPts val="0"/>
              </a:spcAft>
            </a:pPr>
            <a:r>
              <a:rPr lang="en-US" sz="2100" b="0">
                <a:solidFill>
                  <a:srgbClr val="BBC6D3"/>
                </a:solidFill>
                <a:latin typeface="Arial"/>
              </a:rPr>
              <a:t>private choice a public</a:t>
            </a:r>
            <a:endParaRPr lang="en-US" sz="2100"/>
          </a:p>
          <a:p>
            <a:pPr algn="l">
              <a:lnSpc>
                <a:spcPts val="2499"/>
              </a:lnSpc>
              <a:spcAft>
                <a:spcPts val="0"/>
              </a:spcAft>
            </a:pPr>
            <a:r>
              <a:rPr lang="en-US" sz="2100" b="0">
                <a:solidFill>
                  <a:srgbClr val="BBC6D3"/>
                </a:solidFill>
                <a:latin typeface="Arial"/>
              </a:rPr>
              <a:t>event.</a:t>
            </a:r>
            <a:endParaRPr lang="en-US" sz="2100"/>
          </a:p>
        </p:txBody>
      </p:sp>
      <p:sp>
        <p:nvSpPr>
          <p:cNvPr id="16" name="The clock runs out on Election Night."/>
          <p:cNvSpPr txBox="1"/>
          <p:nvPr/>
        </p:nvSpPr>
        <p:spPr>
          <a:xfrm>
            <a:off x="594360" y="5715000"/>
            <a:ext cx="10789920" cy="502920"/>
          </a:xfrm>
          <a:prstGeom prst="rect">
            <a:avLst/>
          </a:prstGeom>
          <a:noFill/>
          <a:ln>
            <a:noFill/>
          </a:ln>
        </p:spPr>
        <p:txBody>
          <a:bodyPr wrap="none" lIns="0" tIns="0" rIns="0" bIns="0" anchor="t">
            <a:noAutofit/>
          </a:bodyPr>
          <a:lstStyle/>
          <a:p>
            <a:pPr algn="l">
              <a:lnSpc>
                <a:spcPts val="3213"/>
              </a:lnSpc>
              <a:spcAft>
                <a:spcPts val="0"/>
              </a:spcAft>
            </a:pPr>
            <a:r>
              <a:rPr lang="en-US" sz="2700" b="0">
                <a:solidFill>
                  <a:srgbClr val="DDB567"/>
                </a:solidFill>
                <a:latin typeface="Cambria"/>
              </a:rPr>
              <a:t>The clock runs out on Election Night.</a:t>
            </a:r>
            <a:endParaRPr lang="en-US" sz="2700"/>
          </a:p>
        </p:txBody>
      </p:sp>
      <p:sp>
        <p:nvSpPr>
          <p:cNvPr id="17"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8" name="03"/>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03</a:t>
            </a:r>
            <a:endParaRPr lang="en-US" sz="10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CONTRACT"/>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CONTRACT</a:t>
            </a:r>
            <a:endParaRPr lang="en-US" sz="1100"/>
          </a:p>
        </p:txBody>
      </p:sp>
      <p:sp>
        <p:nvSpPr>
          <p:cNvPr id="3" name="The terms are simple. Keeping them is impossible."/>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The terms are simple. Keeping them is impossible.</a:t>
            </a:r>
            <a:endParaRPr lang="en-US" sz="3700"/>
          </a:p>
        </p:txBody>
      </p:sp>
      <p:sp>
        <p:nvSpPr>
          <p:cNvPr id="4" name="Shape"/>
          <p:cNvSpPr txBox="0"/>
          <p:nvPr/>
        </p:nvSpPr>
        <p:spPr>
          <a:xfrm>
            <a:off x="594360" y="2011680"/>
            <a:ext cx="5486400" cy="3931920"/>
          </a:xfrm>
          <a:prstGeom prst="rect">
            <a:avLst/>
          </a:prstGeom>
          <a:solidFill>
            <a:srgbClr val="F8F0D8"/>
          </a:solidFill>
          <a:ln>
            <a:noFill/>
          </a:ln>
        </p:spPr>
      </p:sp>
      <p:sp>
        <p:nvSpPr>
          <p:cNvPr id="5" name="TERMS OF ENGAGEMENT"/>
          <p:cNvSpPr txBox="1"/>
          <p:nvPr/>
        </p:nvSpPr>
        <p:spPr>
          <a:xfrm>
            <a:off x="914400" y="2331720"/>
            <a:ext cx="4846320" cy="548640"/>
          </a:xfrm>
          <a:prstGeom prst="rect">
            <a:avLst/>
          </a:prstGeom>
          <a:noFill/>
          <a:ln>
            <a:noFill/>
          </a:ln>
        </p:spPr>
        <p:txBody>
          <a:bodyPr wrap="none" lIns="0" tIns="0" rIns="0" bIns="0" anchor="t">
            <a:noAutofit/>
          </a:bodyPr>
          <a:lstStyle/>
          <a:p>
            <a:pPr algn="l">
              <a:lnSpc>
                <a:spcPts val="2856"/>
              </a:lnSpc>
              <a:spcAft>
                <a:spcPts val="0"/>
              </a:spcAft>
            </a:pPr>
            <a:r>
              <a:rPr lang="en-US" sz="2400" b="1">
                <a:solidFill>
                  <a:srgbClr val="152438"/>
                </a:solidFill>
                <a:latin typeface="Cambria"/>
              </a:rPr>
              <a:t>TERMS OF ENGAGEMENT</a:t>
            </a:r>
            <a:endParaRPr lang="en-US" sz="2400"/>
          </a:p>
        </p:txBody>
      </p:sp>
      <p:sp>
        <p:nvSpPr>
          <p:cNvPr id="6" name="01   Public appearances only. 02   No kissing on the mouth. 03   Ends on Electio"/>
          <p:cNvSpPr txBox="1"/>
          <p:nvPr/>
        </p:nvSpPr>
        <p:spPr>
          <a:xfrm>
            <a:off x="914400" y="3246120"/>
            <a:ext cx="4800600" cy="2331720"/>
          </a:xfrm>
          <a:prstGeom prst="rect">
            <a:avLst/>
          </a:prstGeom>
          <a:noFill/>
          <a:ln>
            <a:noFill/>
          </a:ln>
        </p:spPr>
        <p:txBody>
          <a:bodyPr wrap="none" lIns="0" tIns="0" rIns="0" bIns="0" anchor="t">
            <a:noAutofit/>
          </a:bodyPr>
          <a:lstStyle/>
          <a:p>
            <a:pPr algn="l">
              <a:lnSpc>
                <a:spcPts val="2737"/>
              </a:lnSpc>
              <a:spcAft>
                <a:spcPts val="0"/>
              </a:spcAft>
            </a:pPr>
            <a:r>
              <a:rPr lang="en-US" sz="2300" b="0">
                <a:solidFill>
                  <a:srgbClr val="152438"/>
                </a:solidFill>
                <a:latin typeface="Arial"/>
              </a:rPr>
              <a:t>01 Public appearances only.</a:t>
            </a:r>
            <a:endParaRPr lang="en-US" sz="2300"/>
          </a:p>
          <a:p>
            <a:pPr algn="l">
              <a:lnSpc>
                <a:spcPts val="2737"/>
              </a:lnSpc>
              <a:spcAft>
                <a:spcPts val="0"/>
              </a:spcAft>
            </a:pPr>
            <a:r>
              <a:rPr lang="en-US" sz="2300" b="0">
                <a:solidFill>
                  <a:srgbClr val="152438"/>
                </a:solidFill>
                <a:latin typeface="Arial"/>
              </a:rPr>
              <a:t>02 No kissing on the mouth.</a:t>
            </a:r>
            <a:endParaRPr lang="en-US" sz="2300"/>
          </a:p>
          <a:p>
            <a:pPr algn="l">
              <a:lnSpc>
                <a:spcPts val="2737"/>
              </a:lnSpc>
              <a:spcAft>
                <a:spcPts val="0"/>
              </a:spcAft>
            </a:pPr>
            <a:r>
              <a:rPr lang="en-US" sz="2300" b="0">
                <a:solidFill>
                  <a:srgbClr val="152438"/>
                </a:solidFill>
                <a:latin typeface="Arial"/>
              </a:rPr>
              <a:t>03 Ends on Election Night.</a:t>
            </a:r>
            <a:endParaRPr lang="en-US" sz="2300"/>
          </a:p>
          <a:p>
            <a:pPr algn="l">
              <a:lnSpc>
                <a:spcPts val="2737"/>
              </a:lnSpc>
              <a:spcAft>
                <a:spcPts val="0"/>
              </a:spcAft>
            </a:pPr>
            <a:r>
              <a:rPr lang="en-US" sz="2300" b="0">
                <a:solidFill>
                  <a:srgbClr val="152438"/>
                </a:solidFill>
                <a:latin typeface="Arial"/>
              </a:rPr>
              <a:t>04 No falling in love.</a:t>
            </a:r>
            <a:endParaRPr lang="en-US" sz="2300"/>
          </a:p>
        </p:txBody>
      </p:sp>
      <p:sp>
        <p:nvSpPr>
          <p:cNvPr id="7" name="She writes the rules to stay in control."/>
          <p:cNvSpPr txBox="1"/>
          <p:nvPr/>
        </p:nvSpPr>
        <p:spPr>
          <a:xfrm>
            <a:off x="6629400" y="2331720"/>
            <a:ext cx="4846320" cy="1280160"/>
          </a:xfrm>
          <a:prstGeom prst="rect">
            <a:avLst/>
          </a:prstGeom>
          <a:noFill/>
          <a:ln>
            <a:noFill/>
          </a:ln>
        </p:spPr>
        <p:txBody>
          <a:bodyPr wrap="none" lIns="0" tIns="0" rIns="0" bIns="0" anchor="t">
            <a:noAutofit/>
          </a:bodyPr>
          <a:lstStyle/>
          <a:p>
            <a:pPr algn="l">
              <a:lnSpc>
                <a:spcPts val="3689"/>
              </a:lnSpc>
              <a:spcAft>
                <a:spcPts val="0"/>
              </a:spcAft>
            </a:pPr>
            <a:r>
              <a:rPr lang="en-US" sz="3100" b="0">
                <a:solidFill>
                  <a:srgbClr val="FFFFFF"/>
                </a:solidFill>
                <a:latin typeface="Cambria"/>
              </a:rPr>
              <a:t>She writes the rules</a:t>
            </a:r>
            <a:endParaRPr lang="en-US" sz="3100"/>
          </a:p>
          <a:p>
            <a:pPr algn="l">
              <a:lnSpc>
                <a:spcPts val="3689"/>
              </a:lnSpc>
              <a:spcAft>
                <a:spcPts val="0"/>
              </a:spcAft>
            </a:pPr>
            <a:r>
              <a:rPr lang="en-US" sz="3100" b="0">
                <a:solidFill>
                  <a:srgbClr val="FFFFFF"/>
                </a:solidFill>
                <a:latin typeface="Cambria"/>
              </a:rPr>
              <a:t>to stay in control.</a:t>
            </a:r>
            <a:endParaRPr lang="en-US" sz="3100"/>
          </a:p>
        </p:txBody>
      </p:sp>
      <p:sp>
        <p:nvSpPr>
          <p:cNvPr id="8" name="He signs because he always performs."/>
          <p:cNvSpPr txBox="1"/>
          <p:nvPr/>
        </p:nvSpPr>
        <p:spPr>
          <a:xfrm>
            <a:off x="6629400" y="3794760"/>
            <a:ext cx="4846320" cy="1280160"/>
          </a:xfrm>
          <a:prstGeom prst="rect">
            <a:avLst/>
          </a:prstGeom>
          <a:noFill/>
          <a:ln>
            <a:noFill/>
          </a:ln>
        </p:spPr>
        <p:txBody>
          <a:bodyPr wrap="none" lIns="0" tIns="0" rIns="0" bIns="0" anchor="t">
            <a:noAutofit/>
          </a:bodyPr>
          <a:lstStyle/>
          <a:p>
            <a:pPr algn="l">
              <a:lnSpc>
                <a:spcPts val="3689"/>
              </a:lnSpc>
              <a:spcAft>
                <a:spcPts val="0"/>
              </a:spcAft>
            </a:pPr>
            <a:r>
              <a:rPr lang="en-US" sz="3100" b="0">
                <a:solidFill>
                  <a:srgbClr val="FFFFFF"/>
                </a:solidFill>
                <a:latin typeface="Cambria"/>
              </a:rPr>
              <a:t>He signs because</a:t>
            </a:r>
            <a:endParaRPr lang="en-US" sz="3100"/>
          </a:p>
          <a:p>
            <a:pPr algn="l">
              <a:lnSpc>
                <a:spcPts val="3689"/>
              </a:lnSpc>
              <a:spcAft>
                <a:spcPts val="0"/>
              </a:spcAft>
            </a:pPr>
            <a:r>
              <a:rPr lang="en-US" sz="3100" b="0">
                <a:solidFill>
                  <a:srgbClr val="FFFFFF"/>
                </a:solidFill>
                <a:latin typeface="Cambria"/>
              </a:rPr>
              <a:t>he always performs.</a:t>
            </a:r>
            <a:endParaRPr lang="en-US" sz="3100"/>
          </a:p>
        </p:txBody>
      </p:sp>
      <p:sp>
        <p:nvSpPr>
          <p:cNvPr id="9" name="Neither knows how to stop."/>
          <p:cNvSpPr txBox="1"/>
          <p:nvPr/>
        </p:nvSpPr>
        <p:spPr>
          <a:xfrm>
            <a:off x="6629400" y="5440680"/>
            <a:ext cx="4846320" cy="457200"/>
          </a:xfrm>
          <a:prstGeom prst="rect">
            <a:avLst/>
          </a:prstGeom>
          <a:noFill/>
          <a:ln>
            <a:noFill/>
          </a:ln>
        </p:spPr>
        <p:txBody>
          <a:bodyPr wrap="none" lIns="0" tIns="0" rIns="0" bIns="0" anchor="t">
            <a:noAutofit/>
          </a:bodyPr>
          <a:lstStyle/>
          <a:p>
            <a:pPr algn="l">
              <a:lnSpc>
                <a:spcPts val="2618"/>
              </a:lnSpc>
              <a:spcAft>
                <a:spcPts val="0"/>
              </a:spcAft>
            </a:pPr>
            <a:r>
              <a:rPr lang="en-US" sz="2200" b="0">
                <a:solidFill>
                  <a:srgbClr val="DDB567"/>
                </a:solidFill>
                <a:latin typeface="Arial"/>
              </a:rPr>
              <a:t>Neither knows how to stop.</a:t>
            </a:r>
            <a:endParaRPr lang="en-US" sz="2200"/>
          </a:p>
        </p:txBody>
      </p:sp>
      <p:sp>
        <p:nvSpPr>
          <p:cNvPr id="10"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1" name="04"/>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04</a:t>
            </a:r>
            <a:endParaRPr lang="en-US" sz="10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LEADS"/>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LEADS</a:t>
            </a:r>
            <a:endParaRPr lang="en-US" sz="1100"/>
          </a:p>
        </p:txBody>
      </p:sp>
      <p:sp>
        <p:nvSpPr>
          <p:cNvPr id="3" name="Two professionals. Two kinds of armor."/>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Two professionals. Two kinds of armor.</a:t>
            </a:r>
            <a:endParaRPr lang="en-US" sz="3700"/>
          </a:p>
        </p:txBody>
      </p:sp>
      <p:sp>
        <p:nvSpPr>
          <p:cNvPr id="4" name="Shape"/>
          <p:cNvSpPr txBox="0"/>
          <p:nvPr/>
        </p:nvSpPr>
        <p:spPr>
          <a:xfrm>
            <a:off x="594360" y="2057400"/>
            <a:ext cx="5303520" cy="4023360"/>
          </a:xfrm>
          <a:prstGeom prst="rect">
            <a:avLst/>
          </a:prstGeom>
          <a:solidFill>
            <a:srgbClr val="B93442"/>
          </a:solidFill>
          <a:ln>
            <a:noFill/>
          </a:ln>
        </p:spPr>
      </p:sp>
      <p:sp>
        <p:nvSpPr>
          <p:cNvPr id="5" name="ALEX CHASE  |  33"/>
          <p:cNvSpPr txBox="1"/>
          <p:nvPr/>
        </p:nvSpPr>
        <p:spPr>
          <a:xfrm>
            <a:off x="822960" y="2267712"/>
            <a:ext cx="4846320" cy="54864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ALEX CHASE | 33</a:t>
            </a:r>
            <a:endParaRPr lang="en-US" sz="2200"/>
          </a:p>
        </p:txBody>
      </p:sp>
      <p:sp>
        <p:nvSpPr>
          <p:cNvPr id="6" name="Democratic strategist. Dayton union roots.  Wants to protect the jobs bill she w"/>
          <p:cNvSpPr txBox="1"/>
          <p:nvPr/>
        </p:nvSpPr>
        <p:spPr>
          <a:xfrm>
            <a:off x="822960" y="2971800"/>
            <a:ext cx="4846320" cy="292608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BBC6D3"/>
                </a:solidFill>
                <a:latin typeface="Arial"/>
              </a:rPr>
              <a:t>Democratic strategist. Dayton union roots.</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Wants to protect the jobs bill she wrote. Defines</a:t>
            </a:r>
            <a:endParaRPr lang="en-US" sz="1800"/>
          </a:p>
          <a:p>
            <a:pPr algn="l">
              <a:lnSpc>
                <a:spcPts val="2142"/>
              </a:lnSpc>
              <a:spcAft>
                <a:spcPts val="0"/>
              </a:spcAft>
            </a:pPr>
            <a:r>
              <a:rPr lang="en-US" sz="1800" b="0">
                <a:solidFill>
                  <a:srgbClr val="BBC6D3"/>
                </a:solidFill>
                <a:latin typeface="Arial"/>
              </a:rPr>
              <a:t>every clause so nobody can ask for too much.</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Her arc: from control to trust.</a:t>
            </a:r>
            <a:endParaRPr lang="en-US" sz="1800"/>
          </a:p>
        </p:txBody>
      </p:sp>
      <p:sp>
        <p:nvSpPr>
          <p:cNvPr id="7" name="Shape"/>
          <p:cNvSpPr txBox="0"/>
          <p:nvPr/>
        </p:nvSpPr>
        <p:spPr>
          <a:xfrm>
            <a:off x="6263640" y="2057400"/>
            <a:ext cx="5303520" cy="4023360"/>
          </a:xfrm>
          <a:prstGeom prst="rect">
            <a:avLst/>
          </a:prstGeom>
          <a:solidFill>
            <a:srgbClr val="1C3048"/>
          </a:solidFill>
          <a:ln>
            <a:noFill/>
          </a:ln>
        </p:spPr>
      </p:sp>
      <p:sp>
        <p:nvSpPr>
          <p:cNvPr id="8" name="MARCUS THORNE  |  35"/>
          <p:cNvSpPr txBox="1"/>
          <p:nvPr/>
        </p:nvSpPr>
        <p:spPr>
          <a:xfrm>
            <a:off x="6492240" y="2267712"/>
            <a:ext cx="4846320" cy="54864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MARCUS THORNE | 35</a:t>
            </a:r>
            <a:endParaRPr lang="en-US" sz="2200"/>
          </a:p>
        </p:txBody>
      </p:sp>
      <p:sp>
        <p:nvSpPr>
          <p:cNvPr id="9" name="Republican strategist. Georgia political dynasty.  Wants his father’s approval. "/>
          <p:cNvSpPr txBox="1"/>
          <p:nvPr/>
        </p:nvSpPr>
        <p:spPr>
          <a:xfrm>
            <a:off x="6492240" y="2971800"/>
            <a:ext cx="4846320" cy="292608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BBC6D3"/>
                </a:solidFill>
                <a:latin typeface="Arial"/>
              </a:rPr>
              <a:t>Republican strategist. Georgia political dynasty.</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Wants his father’s approval. Charms on cue</a:t>
            </a:r>
            <a:endParaRPr lang="en-US" sz="1800"/>
          </a:p>
          <a:p>
            <a:pPr algn="l">
              <a:lnSpc>
                <a:spcPts val="2142"/>
              </a:lnSpc>
              <a:spcAft>
                <a:spcPts val="0"/>
              </a:spcAft>
            </a:pPr>
            <a:r>
              <a:rPr lang="en-US" sz="1800" b="0">
                <a:solidFill>
                  <a:srgbClr val="BBC6D3"/>
                </a:solidFill>
                <a:latin typeface="Arial"/>
              </a:rPr>
              <a:t>and touches a cufflink when he lies.</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His arc: from performance to conviction.</a:t>
            </a:r>
            <a:endParaRPr lang="en-US" sz="1800"/>
          </a:p>
        </p:txBody>
      </p:sp>
      <p:sp>
        <p:nvSpPr>
          <p:cNvPr id="10"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1" name="05"/>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05</a:t>
            </a:r>
            <a:endParaRPr lang="en-US" sz="10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ENSEMBLE"/>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ENSEMBLE</a:t>
            </a:r>
            <a:endParaRPr lang="en-US" sz="1100"/>
          </a:p>
        </p:txBody>
      </p:sp>
      <p:sp>
        <p:nvSpPr>
          <p:cNvPr id="3" name="Love has a constituency. So does the lie."/>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Love has a constituency. So does the lie.</a:t>
            </a:r>
            <a:endParaRPr lang="en-US" sz="3700"/>
          </a:p>
        </p:txBody>
      </p:sp>
      <p:sp>
        <p:nvSpPr>
          <p:cNvPr id="4" name="Shape"/>
          <p:cNvSpPr txBox="0"/>
          <p:nvPr/>
        </p:nvSpPr>
        <p:spPr>
          <a:xfrm>
            <a:off x="594360" y="2011680"/>
            <a:ext cx="3474720" cy="4023360"/>
          </a:xfrm>
          <a:prstGeom prst="rect">
            <a:avLst/>
          </a:prstGeom>
          <a:solidFill>
            <a:srgbClr val="1C3048"/>
          </a:solidFill>
          <a:ln>
            <a:noFill/>
          </a:ln>
        </p:spPr>
      </p:sp>
      <p:sp>
        <p:nvSpPr>
          <p:cNvPr id="5" name="THE CHASE FAMILY"/>
          <p:cNvSpPr txBox="1"/>
          <p:nvPr/>
        </p:nvSpPr>
        <p:spPr>
          <a:xfrm>
            <a:off x="822960" y="2221992"/>
            <a:ext cx="3017520" cy="54864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THE CHASE FAMILY</a:t>
            </a:r>
            <a:endParaRPr lang="en-US" sz="2200"/>
          </a:p>
        </p:txBody>
      </p:sp>
      <p:sp>
        <p:nvSpPr>
          <p:cNvPr id="6" name="Rose asks the plain questions Washington avoids.  Mother Pearl lends Marcus a un"/>
          <p:cNvSpPr txBox="1"/>
          <p:nvPr/>
        </p:nvSpPr>
        <p:spPr>
          <a:xfrm>
            <a:off x="822960" y="2926080"/>
            <a:ext cx="3017520" cy="292608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BBC6D3"/>
                </a:solidFill>
                <a:latin typeface="Arial"/>
              </a:rPr>
              <a:t>Rose asks the plain</a:t>
            </a:r>
            <a:endParaRPr lang="en-US" sz="1800"/>
          </a:p>
          <a:p>
            <a:pPr algn="l">
              <a:lnSpc>
                <a:spcPts val="2142"/>
              </a:lnSpc>
              <a:spcAft>
                <a:spcPts val="0"/>
              </a:spcAft>
            </a:pPr>
            <a:r>
              <a:rPr lang="en-US" sz="1800" b="0">
                <a:solidFill>
                  <a:srgbClr val="BBC6D3"/>
                </a:solidFill>
                <a:latin typeface="Arial"/>
              </a:rPr>
              <a:t>questions Washington</a:t>
            </a:r>
            <a:endParaRPr lang="en-US" sz="1800"/>
          </a:p>
          <a:p>
            <a:pPr algn="l">
              <a:lnSpc>
                <a:spcPts val="2142"/>
              </a:lnSpc>
              <a:spcAft>
                <a:spcPts val="0"/>
              </a:spcAft>
            </a:pPr>
            <a:r>
              <a:rPr lang="en-US" sz="1800" b="0">
                <a:solidFill>
                  <a:srgbClr val="BBC6D3"/>
                </a:solidFill>
                <a:latin typeface="Arial"/>
              </a:rPr>
              <a:t>avoids.</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Mother Pearl lends Marcus a</a:t>
            </a:r>
            <a:endParaRPr lang="en-US" sz="1800"/>
          </a:p>
          <a:p>
            <a:pPr algn="l">
              <a:lnSpc>
                <a:spcPts val="2142"/>
              </a:lnSpc>
              <a:spcAft>
                <a:spcPts val="0"/>
              </a:spcAft>
            </a:pPr>
            <a:r>
              <a:rPr lang="en-US" sz="1800" b="0">
                <a:solidFill>
                  <a:srgbClr val="BBC6D3"/>
                </a:solidFill>
                <a:latin typeface="Arial"/>
              </a:rPr>
              <a:t>union pin, and leaves Alex a</a:t>
            </a:r>
            <a:endParaRPr lang="en-US" sz="1800"/>
          </a:p>
          <a:p>
            <a:pPr algn="l">
              <a:lnSpc>
                <a:spcPts val="2142"/>
              </a:lnSpc>
              <a:spcAft>
                <a:spcPts val="0"/>
              </a:spcAft>
            </a:pPr>
            <a:r>
              <a:rPr lang="en-US" sz="1800" b="0">
                <a:solidFill>
                  <a:srgbClr val="BBC6D3"/>
                </a:solidFill>
                <a:latin typeface="Arial"/>
              </a:rPr>
              <a:t>legacy of love.</a:t>
            </a:r>
            <a:endParaRPr lang="en-US" sz="1800"/>
          </a:p>
        </p:txBody>
      </p:sp>
      <p:sp>
        <p:nvSpPr>
          <p:cNvPr id="7" name="Shape"/>
          <p:cNvSpPr txBox="0"/>
          <p:nvPr/>
        </p:nvSpPr>
        <p:spPr>
          <a:xfrm>
            <a:off x="4361688" y="2011680"/>
            <a:ext cx="3474720" cy="4023360"/>
          </a:xfrm>
          <a:prstGeom prst="rect">
            <a:avLst/>
          </a:prstGeom>
          <a:solidFill>
            <a:srgbClr val="1C3048"/>
          </a:solidFill>
          <a:ln>
            <a:noFill/>
          </a:ln>
        </p:spPr>
      </p:sp>
      <p:sp>
        <p:nvSpPr>
          <p:cNvPr id="8" name="THE THORNE FAMILY"/>
          <p:cNvSpPr txBox="1"/>
          <p:nvPr/>
        </p:nvSpPr>
        <p:spPr>
          <a:xfrm>
            <a:off x="4590288" y="2221992"/>
            <a:ext cx="3017520" cy="54864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THE THORNE FAMILY</a:t>
            </a:r>
            <a:endParaRPr lang="en-US" sz="2200"/>
          </a:p>
        </p:txBody>
      </p:sp>
      <p:sp>
        <p:nvSpPr>
          <p:cNvPr id="9" name="Calvin turns his son’s future into a campaign strategy.  Vivian’s heirloom ring "/>
          <p:cNvSpPr txBox="1"/>
          <p:nvPr/>
        </p:nvSpPr>
        <p:spPr>
          <a:xfrm>
            <a:off x="4590288" y="2926080"/>
            <a:ext cx="3017520" cy="292608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BBC6D3"/>
                </a:solidFill>
                <a:latin typeface="Arial"/>
              </a:rPr>
              <a:t>Calvin turns his son’s future</a:t>
            </a:r>
            <a:endParaRPr lang="en-US" sz="1800"/>
          </a:p>
          <a:p>
            <a:pPr algn="l">
              <a:lnSpc>
                <a:spcPts val="2142"/>
              </a:lnSpc>
              <a:spcAft>
                <a:spcPts val="0"/>
              </a:spcAft>
            </a:pPr>
            <a:r>
              <a:rPr lang="en-US" sz="1800" b="0">
                <a:solidFill>
                  <a:srgbClr val="BBC6D3"/>
                </a:solidFill>
                <a:latin typeface="Arial"/>
              </a:rPr>
              <a:t>into a campaign strategy.</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Vivian’s heirloom ring quietly</a:t>
            </a:r>
            <a:endParaRPr lang="en-US" sz="1800"/>
          </a:p>
          <a:p>
            <a:pPr algn="l">
              <a:lnSpc>
                <a:spcPts val="2142"/>
              </a:lnSpc>
              <a:spcAft>
                <a:spcPts val="0"/>
              </a:spcAft>
            </a:pPr>
            <a:r>
              <a:rPr lang="en-US" sz="1800" b="0">
                <a:solidFill>
                  <a:srgbClr val="BBC6D3"/>
                </a:solidFill>
                <a:latin typeface="Arial"/>
              </a:rPr>
              <a:t>makes the engagement</a:t>
            </a:r>
            <a:endParaRPr lang="en-US" sz="1800"/>
          </a:p>
          <a:p>
            <a:pPr algn="l">
              <a:lnSpc>
                <a:spcPts val="2142"/>
              </a:lnSpc>
              <a:spcAft>
                <a:spcPts val="0"/>
              </a:spcAft>
            </a:pPr>
            <a:r>
              <a:rPr lang="en-US" sz="1800" b="0">
                <a:solidFill>
                  <a:srgbClr val="BBC6D3"/>
                </a:solidFill>
                <a:latin typeface="Arial"/>
              </a:rPr>
              <a:t>personal.</a:t>
            </a:r>
            <a:endParaRPr lang="en-US" sz="1800"/>
          </a:p>
        </p:txBody>
      </p:sp>
      <p:sp>
        <p:nvSpPr>
          <p:cNvPr id="10" name="Shape"/>
          <p:cNvSpPr txBox="0"/>
          <p:nvPr/>
        </p:nvSpPr>
        <p:spPr>
          <a:xfrm>
            <a:off x="8129016" y="2011680"/>
            <a:ext cx="3474720" cy="4023360"/>
          </a:xfrm>
          <a:prstGeom prst="rect">
            <a:avLst/>
          </a:prstGeom>
          <a:solidFill>
            <a:srgbClr val="1C3048"/>
          </a:solidFill>
          <a:ln>
            <a:noFill/>
          </a:ln>
        </p:spPr>
      </p:sp>
      <p:sp>
        <p:nvSpPr>
          <p:cNvPr id="11" name="THE MACHINE"/>
          <p:cNvSpPr txBox="1"/>
          <p:nvPr/>
        </p:nvSpPr>
        <p:spPr>
          <a:xfrm>
            <a:off x="8357616" y="2221992"/>
            <a:ext cx="3017520" cy="54864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THE MACHINE</a:t>
            </a:r>
            <a:endParaRPr lang="en-US" sz="2200"/>
          </a:p>
        </p:txBody>
      </p:sp>
      <p:sp>
        <p:nvSpPr>
          <p:cNvPr id="12" name="Dana and Gil convert intimacy into a message.  Priya’s mistake and Kara’s report"/>
          <p:cNvSpPr txBox="1"/>
          <p:nvPr/>
        </p:nvSpPr>
        <p:spPr>
          <a:xfrm>
            <a:off x="8357616" y="2926080"/>
            <a:ext cx="3017520" cy="292608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BBC6D3"/>
                </a:solidFill>
                <a:latin typeface="Arial"/>
              </a:rPr>
              <a:t>Dana and Gil convert</a:t>
            </a:r>
            <a:endParaRPr lang="en-US" sz="1800"/>
          </a:p>
          <a:p>
            <a:pPr algn="l">
              <a:lnSpc>
                <a:spcPts val="2142"/>
              </a:lnSpc>
              <a:spcAft>
                <a:spcPts val="0"/>
              </a:spcAft>
            </a:pPr>
            <a:r>
              <a:rPr lang="en-US" sz="1800" b="0">
                <a:solidFill>
                  <a:srgbClr val="BBC6D3"/>
                </a:solidFill>
                <a:latin typeface="Arial"/>
              </a:rPr>
              <a:t>intimacy into a message.</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Priya’s mistake and Kara’s</a:t>
            </a:r>
            <a:endParaRPr lang="en-US" sz="1800"/>
          </a:p>
          <a:p>
            <a:pPr algn="l">
              <a:lnSpc>
                <a:spcPts val="2142"/>
              </a:lnSpc>
              <a:spcAft>
                <a:spcPts val="0"/>
              </a:spcAft>
            </a:pPr>
            <a:r>
              <a:rPr lang="en-US" sz="1800" b="0">
                <a:solidFill>
                  <a:srgbClr val="BBC6D3"/>
                </a:solidFill>
                <a:latin typeface="Arial"/>
              </a:rPr>
              <a:t>reporting bring the signed</a:t>
            </a:r>
            <a:endParaRPr lang="en-US" sz="1800"/>
          </a:p>
          <a:p>
            <a:pPr algn="l">
              <a:lnSpc>
                <a:spcPts val="2142"/>
              </a:lnSpc>
              <a:spcAft>
                <a:spcPts val="0"/>
              </a:spcAft>
            </a:pPr>
            <a:r>
              <a:rPr lang="en-US" sz="1800" b="0">
                <a:solidFill>
                  <a:srgbClr val="BBC6D3"/>
                </a:solidFill>
                <a:latin typeface="Arial"/>
              </a:rPr>
              <a:t>terms into daylight.</a:t>
            </a:r>
            <a:endParaRPr lang="en-US" sz="1800"/>
          </a:p>
        </p:txBody>
      </p:sp>
      <p:sp>
        <p:nvSpPr>
          <p:cNvPr id="13"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4" name="06"/>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06</a:t>
            </a:r>
            <a:endParaRPr lang="en-US" sz="10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STORY"/>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STORY</a:t>
            </a:r>
            <a:endParaRPr lang="en-US" sz="1100"/>
          </a:p>
        </p:txBody>
      </p:sp>
      <p:sp>
        <p:nvSpPr>
          <p:cNvPr id="3" name="From damage control to a costly truth."/>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From damage control to a costly truth.</a:t>
            </a:r>
            <a:endParaRPr lang="en-US" sz="3700"/>
          </a:p>
        </p:txBody>
      </p:sp>
      <p:sp>
        <p:nvSpPr>
          <p:cNvPr id="4" name="Shape"/>
          <p:cNvSpPr txBox="0"/>
          <p:nvPr/>
        </p:nvSpPr>
        <p:spPr>
          <a:xfrm>
            <a:off x="594360" y="2057400"/>
            <a:ext cx="731520" cy="731520"/>
          </a:xfrm>
          <a:prstGeom prst="ellipse">
            <a:avLst/>
          </a:prstGeom>
          <a:solidFill>
            <a:srgbClr val="DDB567"/>
          </a:solidFill>
          <a:ln>
            <a:noFill/>
          </a:ln>
        </p:spPr>
      </p:sp>
      <p:sp>
        <p:nvSpPr>
          <p:cNvPr id="5" name="I"/>
          <p:cNvSpPr txBox="1"/>
          <p:nvPr/>
        </p:nvSpPr>
        <p:spPr>
          <a:xfrm>
            <a:off x="594360" y="2254910"/>
            <a:ext cx="731520" cy="438912"/>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I</a:t>
            </a:r>
            <a:endParaRPr lang="en-US" sz="2600"/>
          </a:p>
        </p:txBody>
      </p:sp>
      <p:sp>
        <p:nvSpPr>
          <p:cNvPr id="6" name="THE PERFORMANCE"/>
          <p:cNvSpPr txBox="1"/>
          <p:nvPr/>
        </p:nvSpPr>
        <p:spPr>
          <a:xfrm>
            <a:off x="594360" y="3108960"/>
            <a:ext cx="3291840" cy="45720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FFFFFF"/>
                </a:solidFill>
                <a:latin typeface="Arial"/>
              </a:rPr>
              <a:t>THE PERFORMANCE</a:t>
            </a:r>
            <a:endParaRPr lang="en-US" sz="2000"/>
          </a:p>
        </p:txBody>
      </p:sp>
      <p:sp>
        <p:nvSpPr>
          <p:cNvPr id="7" name="Fired rivals become a staged couple. A truthful meet-cute slips into their rehea"/>
          <p:cNvSpPr txBox="1"/>
          <p:nvPr/>
        </p:nvSpPr>
        <p:spPr>
          <a:xfrm>
            <a:off x="594360" y="3776472"/>
            <a:ext cx="3246120" cy="205740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BBC6D3"/>
                </a:solidFill>
                <a:latin typeface="Arial"/>
              </a:rPr>
              <a:t>Fired rivals become a staged</a:t>
            </a:r>
            <a:endParaRPr lang="en-US" sz="2000"/>
          </a:p>
          <a:p>
            <a:pPr algn="l">
              <a:lnSpc>
                <a:spcPts val="2380"/>
              </a:lnSpc>
              <a:spcAft>
                <a:spcPts val="0"/>
              </a:spcAft>
            </a:pPr>
            <a:r>
              <a:rPr lang="en-US" sz="2000" b="0">
                <a:solidFill>
                  <a:srgbClr val="BBC6D3"/>
                </a:solidFill>
                <a:latin typeface="Arial"/>
              </a:rPr>
              <a:t>couple. A truthful meet-cute</a:t>
            </a:r>
            <a:endParaRPr lang="en-US" sz="2000"/>
          </a:p>
          <a:p>
            <a:pPr algn="l">
              <a:lnSpc>
                <a:spcPts val="2380"/>
              </a:lnSpc>
              <a:spcAft>
                <a:spcPts val="0"/>
              </a:spcAft>
            </a:pPr>
            <a:r>
              <a:rPr lang="en-US" sz="2000" b="0">
                <a:solidFill>
                  <a:srgbClr val="BBC6D3"/>
                </a:solidFill>
                <a:latin typeface="Arial"/>
              </a:rPr>
              <a:t>slips into their rehearsed</a:t>
            </a:r>
            <a:endParaRPr lang="en-US" sz="2000"/>
          </a:p>
          <a:p>
            <a:pPr algn="l">
              <a:lnSpc>
                <a:spcPts val="2380"/>
              </a:lnSpc>
              <a:spcAft>
                <a:spcPts val="0"/>
              </a:spcAft>
            </a:pPr>
            <a:r>
              <a:rPr lang="en-US" sz="2000" b="0">
                <a:solidFill>
                  <a:srgbClr val="BBC6D3"/>
                </a:solidFill>
                <a:latin typeface="Arial"/>
              </a:rPr>
              <a:t>story.</a:t>
            </a:r>
            <a:endParaRPr lang="en-US" sz="2000"/>
          </a:p>
        </p:txBody>
      </p:sp>
      <p:sp>
        <p:nvSpPr>
          <p:cNvPr id="8" name="Shape"/>
          <p:cNvSpPr txBox="0"/>
          <p:nvPr/>
        </p:nvSpPr>
        <p:spPr>
          <a:xfrm>
            <a:off x="4389120" y="2057400"/>
            <a:ext cx="731520" cy="731520"/>
          </a:xfrm>
          <a:prstGeom prst="ellipse">
            <a:avLst/>
          </a:prstGeom>
          <a:solidFill>
            <a:srgbClr val="DDB567"/>
          </a:solidFill>
          <a:ln>
            <a:noFill/>
          </a:ln>
        </p:spPr>
      </p:sp>
      <p:sp>
        <p:nvSpPr>
          <p:cNvPr id="9" name="II"/>
          <p:cNvSpPr txBox="1"/>
          <p:nvPr/>
        </p:nvSpPr>
        <p:spPr>
          <a:xfrm>
            <a:off x="4389120" y="2254910"/>
            <a:ext cx="731520" cy="438912"/>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II</a:t>
            </a:r>
            <a:endParaRPr lang="en-US" sz="2600"/>
          </a:p>
        </p:txBody>
      </p:sp>
      <p:sp>
        <p:nvSpPr>
          <p:cNvPr id="10" name="THE REAL THING"/>
          <p:cNvSpPr txBox="1"/>
          <p:nvPr/>
        </p:nvSpPr>
        <p:spPr>
          <a:xfrm>
            <a:off x="4389120" y="3108960"/>
            <a:ext cx="3291840" cy="45720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FFFFFF"/>
                </a:solidFill>
                <a:latin typeface="Arial"/>
              </a:rPr>
              <a:t>THE REAL THING</a:t>
            </a:r>
            <a:endParaRPr lang="en-US" sz="2000"/>
          </a:p>
        </p:txBody>
      </p:sp>
      <p:sp>
        <p:nvSpPr>
          <p:cNvPr id="11" name="Donor dinners and family visits deepen the bond. At Pearl’s funeral, Marcus choo"/>
          <p:cNvSpPr txBox="1"/>
          <p:nvPr/>
        </p:nvSpPr>
        <p:spPr>
          <a:xfrm>
            <a:off x="4389120" y="3776472"/>
            <a:ext cx="3246120" cy="205740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BBC6D3"/>
                </a:solidFill>
                <a:latin typeface="Arial"/>
              </a:rPr>
              <a:t>Donor dinners and family</a:t>
            </a:r>
            <a:endParaRPr lang="en-US" sz="2000"/>
          </a:p>
          <a:p>
            <a:pPr algn="l">
              <a:lnSpc>
                <a:spcPts val="2380"/>
              </a:lnSpc>
              <a:spcAft>
                <a:spcPts val="0"/>
              </a:spcAft>
            </a:pPr>
            <a:r>
              <a:rPr lang="en-US" sz="2000" b="0">
                <a:solidFill>
                  <a:srgbClr val="BBC6D3"/>
                </a:solidFill>
                <a:latin typeface="Arial"/>
              </a:rPr>
              <a:t>visits deepen the bond. At</a:t>
            </a:r>
            <a:endParaRPr lang="en-US" sz="2000"/>
          </a:p>
          <a:p>
            <a:pPr algn="l">
              <a:lnSpc>
                <a:spcPts val="2380"/>
              </a:lnSpc>
              <a:spcAft>
                <a:spcPts val="0"/>
              </a:spcAft>
            </a:pPr>
            <a:r>
              <a:rPr lang="en-US" sz="2000" b="0">
                <a:solidFill>
                  <a:srgbClr val="BBC6D3"/>
                </a:solidFill>
                <a:latin typeface="Arial"/>
              </a:rPr>
              <a:t>Pearl’s funeral, Marcus</a:t>
            </a:r>
            <a:endParaRPr lang="en-US" sz="2000"/>
          </a:p>
          <a:p>
            <a:pPr algn="l">
              <a:lnSpc>
                <a:spcPts val="2380"/>
              </a:lnSpc>
              <a:spcAft>
                <a:spcPts val="0"/>
              </a:spcAft>
            </a:pPr>
            <a:r>
              <a:rPr lang="en-US" sz="2000" b="0">
                <a:solidFill>
                  <a:srgbClr val="BBC6D3"/>
                </a:solidFill>
                <a:latin typeface="Arial"/>
              </a:rPr>
              <a:t>chooses Alex over a $3M</a:t>
            </a:r>
            <a:endParaRPr lang="en-US" sz="2000"/>
          </a:p>
          <a:p>
            <a:pPr algn="l">
              <a:lnSpc>
                <a:spcPts val="2380"/>
              </a:lnSpc>
              <a:spcAft>
                <a:spcPts val="0"/>
              </a:spcAft>
            </a:pPr>
            <a:r>
              <a:rPr lang="en-US" sz="2000" b="0">
                <a:solidFill>
                  <a:srgbClr val="BBC6D3"/>
                </a:solidFill>
                <a:latin typeface="Arial"/>
              </a:rPr>
              <a:t>fundraiser.</a:t>
            </a:r>
            <a:endParaRPr lang="en-US" sz="2000"/>
          </a:p>
        </p:txBody>
      </p:sp>
      <p:sp>
        <p:nvSpPr>
          <p:cNvPr id="12" name="Shape"/>
          <p:cNvSpPr txBox="0"/>
          <p:nvPr/>
        </p:nvSpPr>
        <p:spPr>
          <a:xfrm>
            <a:off x="8183880" y="2057400"/>
            <a:ext cx="731520" cy="731520"/>
          </a:xfrm>
          <a:prstGeom prst="ellipse">
            <a:avLst/>
          </a:prstGeom>
          <a:solidFill>
            <a:srgbClr val="DDB567"/>
          </a:solidFill>
          <a:ln>
            <a:noFill/>
          </a:ln>
        </p:spPr>
      </p:sp>
      <p:sp>
        <p:nvSpPr>
          <p:cNvPr id="13" name="III"/>
          <p:cNvSpPr txBox="1"/>
          <p:nvPr/>
        </p:nvSpPr>
        <p:spPr>
          <a:xfrm>
            <a:off x="8183880" y="2254910"/>
            <a:ext cx="731520" cy="438912"/>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III</a:t>
            </a:r>
            <a:endParaRPr lang="en-US" sz="2600"/>
          </a:p>
        </p:txBody>
      </p:sp>
      <p:sp>
        <p:nvSpPr>
          <p:cNvPr id="14" name="THE RECKONING"/>
          <p:cNvSpPr txBox="1"/>
          <p:nvPr/>
        </p:nvSpPr>
        <p:spPr>
          <a:xfrm>
            <a:off x="8183880" y="3108960"/>
            <a:ext cx="3291840" cy="45720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FFFFFF"/>
                </a:solidFill>
                <a:latin typeface="Arial"/>
              </a:rPr>
              <a:t>THE RECKONING</a:t>
            </a:r>
            <a:endParaRPr lang="en-US" sz="2000"/>
          </a:p>
        </p:txBody>
      </p:sp>
      <p:sp>
        <p:nvSpPr>
          <p:cNvPr id="15" name="The contract leaks. Each is offered a comeback by blaming the other. Both choose"/>
          <p:cNvSpPr txBox="1"/>
          <p:nvPr/>
        </p:nvSpPr>
        <p:spPr>
          <a:xfrm>
            <a:off x="8183880" y="3776472"/>
            <a:ext cx="3246120" cy="205740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BBC6D3"/>
                </a:solidFill>
                <a:latin typeface="Arial"/>
              </a:rPr>
              <a:t>The contract leaks. Each is</a:t>
            </a:r>
            <a:endParaRPr lang="en-US" sz="2000"/>
          </a:p>
          <a:p>
            <a:pPr algn="l">
              <a:lnSpc>
                <a:spcPts val="2380"/>
              </a:lnSpc>
              <a:spcAft>
                <a:spcPts val="0"/>
              </a:spcAft>
            </a:pPr>
            <a:r>
              <a:rPr lang="en-US" sz="2000" b="0">
                <a:solidFill>
                  <a:srgbClr val="BBC6D3"/>
                </a:solidFill>
                <a:latin typeface="Arial"/>
              </a:rPr>
              <a:t>offered a comeback by</a:t>
            </a:r>
            <a:endParaRPr lang="en-US" sz="2000"/>
          </a:p>
          <a:p>
            <a:pPr algn="l">
              <a:lnSpc>
                <a:spcPts val="2380"/>
              </a:lnSpc>
              <a:spcAft>
                <a:spcPts val="0"/>
              </a:spcAft>
            </a:pPr>
            <a:r>
              <a:rPr lang="en-US" sz="2000" b="0">
                <a:solidFill>
                  <a:srgbClr val="BBC6D3"/>
                </a:solidFill>
                <a:latin typeface="Arial"/>
              </a:rPr>
              <a:t>blaming the other. Both</a:t>
            </a:r>
            <a:endParaRPr lang="en-US" sz="2000"/>
          </a:p>
          <a:p>
            <a:pPr algn="l">
              <a:lnSpc>
                <a:spcPts val="2380"/>
              </a:lnSpc>
              <a:spcAft>
                <a:spcPts val="0"/>
              </a:spcAft>
            </a:pPr>
            <a:r>
              <a:rPr lang="en-US" sz="2000" b="0">
                <a:solidFill>
                  <a:srgbClr val="BBC6D3"/>
                </a:solidFill>
                <a:latin typeface="Arial"/>
              </a:rPr>
              <a:t>choose the truth.</a:t>
            </a:r>
            <a:endParaRPr lang="en-US" sz="2000"/>
          </a:p>
        </p:txBody>
      </p:sp>
      <p:sp>
        <p:nvSpPr>
          <p:cNvPr id="16"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7" name="07"/>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07</a:t>
            </a:r>
            <a:endParaRPr lang="en-US" sz="10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SIGNATURE SEQUENCES"/>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SIGNATURE SEQUENCES</a:t>
            </a:r>
            <a:endParaRPr lang="en-US" sz="1100"/>
          </a:p>
        </p:txBody>
      </p:sp>
      <p:sp>
        <p:nvSpPr>
          <p:cNvPr id="3" name="The scenes audiences will remember."/>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The scenes audiences will remember.</a:t>
            </a:r>
            <a:endParaRPr lang="en-US" sz="3700"/>
          </a:p>
        </p:txBody>
      </p:sp>
      <p:sp>
        <p:nvSpPr>
          <p:cNvPr id="4" name="Shape"/>
          <p:cNvSpPr txBox="0"/>
          <p:nvPr/>
        </p:nvSpPr>
        <p:spPr>
          <a:xfrm>
            <a:off x="594360" y="2057400"/>
            <a:ext cx="5303520" cy="1737360"/>
          </a:xfrm>
          <a:prstGeom prst="rect">
            <a:avLst/>
          </a:prstGeom>
          <a:solidFill>
            <a:srgbClr val="1C3048"/>
          </a:solidFill>
          <a:ln>
            <a:noFill/>
          </a:ln>
        </p:spPr>
      </p:sp>
      <p:sp>
        <p:nvSpPr>
          <p:cNvPr id="5" name="HOT MIC"/>
          <p:cNvSpPr txBox="1"/>
          <p:nvPr/>
        </p:nvSpPr>
        <p:spPr>
          <a:xfrm>
            <a:off x="822960" y="2258568"/>
            <a:ext cx="4846320" cy="41148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DDB567"/>
                </a:solidFill>
                <a:latin typeface="Arial"/>
              </a:rPr>
              <a:t>HOT MIC</a:t>
            </a:r>
            <a:endParaRPr lang="en-US" sz="2000"/>
          </a:p>
        </p:txBody>
      </p:sp>
      <p:sp>
        <p:nvSpPr>
          <p:cNvPr id="6" name="Weaponized banter becomes a career-ending recording."/>
          <p:cNvSpPr txBox="1"/>
          <p:nvPr/>
        </p:nvSpPr>
        <p:spPr>
          <a:xfrm>
            <a:off x="822960" y="2843784"/>
            <a:ext cx="4846320" cy="82296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Weaponized banter becomes a</a:t>
            </a:r>
            <a:endParaRPr lang="en-US" sz="2000"/>
          </a:p>
          <a:p>
            <a:pPr algn="l">
              <a:lnSpc>
                <a:spcPts val="2380"/>
              </a:lnSpc>
              <a:spcAft>
                <a:spcPts val="0"/>
              </a:spcAft>
            </a:pPr>
            <a:r>
              <a:rPr lang="en-US" sz="2000" b="0">
                <a:solidFill>
                  <a:srgbClr val="FFFFFF"/>
                </a:solidFill>
                <a:latin typeface="Arial"/>
              </a:rPr>
              <a:t>career-ending recording.</a:t>
            </a:r>
            <a:endParaRPr lang="en-US" sz="2000"/>
          </a:p>
        </p:txBody>
      </p:sp>
      <p:sp>
        <p:nvSpPr>
          <p:cNvPr id="7" name="Shape"/>
          <p:cNvSpPr txBox="0"/>
          <p:nvPr/>
        </p:nvSpPr>
        <p:spPr>
          <a:xfrm>
            <a:off x="6263640" y="2057400"/>
            <a:ext cx="5303520" cy="1737360"/>
          </a:xfrm>
          <a:prstGeom prst="rect">
            <a:avLst/>
          </a:prstGeom>
          <a:solidFill>
            <a:srgbClr val="1C3048"/>
          </a:solidFill>
          <a:ln>
            <a:noFill/>
          </a:ln>
        </p:spPr>
      </p:sp>
      <p:sp>
        <p:nvSpPr>
          <p:cNvPr id="8" name="THE DINNER"/>
          <p:cNvSpPr txBox="1"/>
          <p:nvPr/>
        </p:nvSpPr>
        <p:spPr>
          <a:xfrm>
            <a:off x="6492240" y="2258568"/>
            <a:ext cx="4846320" cy="41148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DDB567"/>
                </a:solidFill>
                <a:latin typeface="Arial"/>
              </a:rPr>
              <a:t>THE DINNER</a:t>
            </a:r>
            <a:endParaRPr lang="en-US" sz="2000"/>
          </a:p>
        </p:txBody>
      </p:sp>
      <p:sp>
        <p:nvSpPr>
          <p:cNvPr id="9" name="A Georgetown donor table turns into a chess match."/>
          <p:cNvSpPr txBox="1"/>
          <p:nvPr/>
        </p:nvSpPr>
        <p:spPr>
          <a:xfrm>
            <a:off x="6492240" y="2843784"/>
            <a:ext cx="4846320" cy="82296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A Georgetown donor table turns into a</a:t>
            </a:r>
            <a:endParaRPr lang="en-US" sz="2000"/>
          </a:p>
          <a:p>
            <a:pPr algn="l">
              <a:lnSpc>
                <a:spcPts val="2380"/>
              </a:lnSpc>
              <a:spcAft>
                <a:spcPts val="0"/>
              </a:spcAft>
            </a:pPr>
            <a:r>
              <a:rPr lang="en-US" sz="2000" b="0">
                <a:solidFill>
                  <a:srgbClr val="FFFFFF"/>
                </a:solidFill>
                <a:latin typeface="Arial"/>
              </a:rPr>
              <a:t>chess match.</a:t>
            </a:r>
            <a:endParaRPr lang="en-US" sz="2000"/>
          </a:p>
        </p:txBody>
      </p:sp>
      <p:sp>
        <p:nvSpPr>
          <p:cNvPr id="10" name="Shape"/>
          <p:cNvSpPr txBox="0"/>
          <p:nvPr/>
        </p:nvSpPr>
        <p:spPr>
          <a:xfrm>
            <a:off x="594360" y="4160520"/>
            <a:ext cx="5303520" cy="1737360"/>
          </a:xfrm>
          <a:prstGeom prst="rect">
            <a:avLst/>
          </a:prstGeom>
          <a:solidFill>
            <a:srgbClr val="1C3048"/>
          </a:solidFill>
          <a:ln>
            <a:noFill/>
          </a:ln>
        </p:spPr>
      </p:sp>
      <p:sp>
        <p:nvSpPr>
          <p:cNvPr id="11" name="THE FUNERAL"/>
          <p:cNvSpPr txBox="1"/>
          <p:nvPr/>
        </p:nvSpPr>
        <p:spPr>
          <a:xfrm>
            <a:off x="822960" y="4361688"/>
            <a:ext cx="4846320" cy="41148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DDB567"/>
                </a:solidFill>
                <a:latin typeface="Arial"/>
              </a:rPr>
              <a:t>THE FUNERAL</a:t>
            </a:r>
            <a:endParaRPr lang="en-US" sz="2000"/>
          </a:p>
        </p:txBody>
      </p:sp>
      <p:sp>
        <p:nvSpPr>
          <p:cNvPr id="12" name="Marcus stands beside Alex with nothing to gain."/>
          <p:cNvSpPr txBox="1"/>
          <p:nvPr/>
        </p:nvSpPr>
        <p:spPr>
          <a:xfrm>
            <a:off x="822960" y="4946904"/>
            <a:ext cx="4846320" cy="82296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Marcus stands beside Alex with nothing to</a:t>
            </a:r>
            <a:endParaRPr lang="en-US" sz="2000"/>
          </a:p>
          <a:p>
            <a:pPr algn="l">
              <a:lnSpc>
                <a:spcPts val="2380"/>
              </a:lnSpc>
              <a:spcAft>
                <a:spcPts val="0"/>
              </a:spcAft>
            </a:pPr>
            <a:r>
              <a:rPr lang="en-US" sz="2000" b="0">
                <a:solidFill>
                  <a:srgbClr val="FFFFFF"/>
                </a:solidFill>
                <a:latin typeface="Arial"/>
              </a:rPr>
              <a:t>gain.</a:t>
            </a:r>
            <a:endParaRPr lang="en-US" sz="2000"/>
          </a:p>
        </p:txBody>
      </p:sp>
      <p:sp>
        <p:nvSpPr>
          <p:cNvPr id="13" name="Shape"/>
          <p:cNvSpPr txBox="0"/>
          <p:nvPr/>
        </p:nvSpPr>
        <p:spPr>
          <a:xfrm>
            <a:off x="6263640" y="4160520"/>
            <a:ext cx="5303520" cy="1737360"/>
          </a:xfrm>
          <a:prstGeom prst="rect">
            <a:avLst/>
          </a:prstGeom>
          <a:solidFill>
            <a:srgbClr val="1C3048"/>
          </a:solidFill>
          <a:ln>
            <a:noFill/>
          </a:ln>
        </p:spPr>
      </p:sp>
      <p:sp>
        <p:nvSpPr>
          <p:cNvPr id="14" name="THE PAUSE"/>
          <p:cNvSpPr txBox="1"/>
          <p:nvPr/>
        </p:nvSpPr>
        <p:spPr>
          <a:xfrm>
            <a:off x="6492240" y="4361688"/>
            <a:ext cx="4846320" cy="411480"/>
          </a:xfrm>
          <a:prstGeom prst="rect">
            <a:avLst/>
          </a:prstGeom>
          <a:noFill/>
          <a:ln>
            <a:noFill/>
          </a:ln>
        </p:spPr>
        <p:txBody>
          <a:bodyPr wrap="none" lIns="0" tIns="0" rIns="0" bIns="0" anchor="t">
            <a:noAutofit/>
          </a:bodyPr>
          <a:lstStyle/>
          <a:p>
            <a:pPr algn="l">
              <a:lnSpc>
                <a:spcPts val="2380"/>
              </a:lnSpc>
              <a:spcAft>
                <a:spcPts val="0"/>
              </a:spcAft>
            </a:pPr>
            <a:r>
              <a:rPr lang="en-US" sz="2000" b="1">
                <a:solidFill>
                  <a:srgbClr val="DDB567"/>
                </a:solidFill>
                <a:latin typeface="Arial"/>
              </a:rPr>
              <a:t>THE PAUSE</a:t>
            </a:r>
            <a:endParaRPr lang="en-US" sz="2000"/>
          </a:p>
        </p:txBody>
      </p:sp>
      <p:sp>
        <p:nvSpPr>
          <p:cNvPr id="15" name="On live television, he stops performing and owns the lie."/>
          <p:cNvSpPr txBox="1"/>
          <p:nvPr/>
        </p:nvSpPr>
        <p:spPr>
          <a:xfrm>
            <a:off x="6492240" y="4946904"/>
            <a:ext cx="4846320" cy="82296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On live television, he stops performing and</a:t>
            </a:r>
            <a:endParaRPr lang="en-US" sz="2000"/>
          </a:p>
          <a:p>
            <a:pPr algn="l">
              <a:lnSpc>
                <a:spcPts val="2380"/>
              </a:lnSpc>
              <a:spcAft>
                <a:spcPts val="0"/>
              </a:spcAft>
            </a:pPr>
            <a:r>
              <a:rPr lang="en-US" sz="2000" b="0">
                <a:solidFill>
                  <a:srgbClr val="FFFFFF"/>
                </a:solidFill>
                <a:latin typeface="Arial"/>
              </a:rPr>
              <a:t>owns the lie.</a:t>
            </a:r>
            <a:endParaRPr lang="en-US" sz="2000"/>
          </a:p>
        </p:txBody>
      </p:sp>
      <p:sp>
        <p:nvSpPr>
          <p:cNvPr id="16"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7" name="08"/>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08</a:t>
            </a:r>
            <a:endParaRPr lang="en-US" sz="10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ONE AND VISUAL LANGUAGE"/>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TONE AND VISUAL LANGUAGE</a:t>
            </a:r>
            <a:endParaRPr lang="en-US" sz="1100"/>
          </a:p>
        </p:txBody>
      </p:sp>
      <p:sp>
        <p:nvSpPr>
          <p:cNvPr id="3" name="Fast dialogue. Quiet devastation. An earned sunrise."/>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Fast dialogue. Quiet devastation. An earned sunrise.</a:t>
            </a:r>
            <a:endParaRPr lang="en-US" sz="3700"/>
          </a:p>
        </p:txBody>
      </p:sp>
      <p:pic>
        <p:nvPicPr>
          <p:cNvPr id="4" name="Concept poster"/>
          <p:cNvPicPr>
            <a:picLocks noChangeAspect="1"/>
          </p:cNvPicPr>
          <p:nvPr/>
        </p:nvPicPr>
        <p:blipFill>
          <a:blip r:embed="rId3"/>
          <a:stretch>
            <a:fillRect/>
          </a:stretch>
        </p:blipFill>
        <p:spPr>
          <a:xfrm>
            <a:off x="594360" y="2103120"/>
            <a:ext cx="5486400" cy="3087929"/>
          </a:xfrm>
          <a:prstGeom prst="rect">
            <a:avLst/>
          </a:prstGeom>
        </p:spPr>
      </p:pic>
      <p:sp>
        <p:nvSpPr>
          <p:cNvPr id="5" name="SATIRICAL BITE"/>
          <p:cNvSpPr txBox="1"/>
          <p:nvPr/>
        </p:nvSpPr>
        <p:spPr>
          <a:xfrm>
            <a:off x="6629400" y="2103120"/>
            <a:ext cx="4937760" cy="45720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DDB567"/>
                </a:solidFill>
                <a:latin typeface="Arial"/>
              </a:rPr>
              <a:t>SATIRICAL BITE</a:t>
            </a:r>
            <a:endParaRPr lang="en-US" sz="2200"/>
          </a:p>
        </p:txBody>
      </p:sp>
      <p:sp>
        <p:nvSpPr>
          <p:cNvPr id="6" name="Quick, precise, competitive dialogue. Politics played through people and power."/>
          <p:cNvSpPr txBox="1"/>
          <p:nvPr/>
        </p:nvSpPr>
        <p:spPr>
          <a:xfrm>
            <a:off x="6629400" y="2724912"/>
            <a:ext cx="4663440" cy="100584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Quick, precise, competitive dialogue.</a:t>
            </a:r>
            <a:endParaRPr lang="en-US" sz="2000"/>
          </a:p>
          <a:p>
            <a:pPr algn="l">
              <a:lnSpc>
                <a:spcPts val="2380"/>
              </a:lnSpc>
              <a:spcAft>
                <a:spcPts val="0"/>
              </a:spcAft>
            </a:pPr>
            <a:r>
              <a:rPr lang="en-US" sz="2000" b="0">
                <a:solidFill>
                  <a:srgbClr val="FFFFFF"/>
                </a:solidFill>
                <a:latin typeface="Arial"/>
              </a:rPr>
              <a:t>Politics played through people and</a:t>
            </a:r>
            <a:endParaRPr lang="en-US" sz="2000"/>
          </a:p>
          <a:p>
            <a:pPr algn="l">
              <a:lnSpc>
                <a:spcPts val="2380"/>
              </a:lnSpc>
              <a:spcAft>
                <a:spcPts val="0"/>
              </a:spcAft>
            </a:pPr>
            <a:r>
              <a:rPr lang="en-US" sz="2000" b="0">
                <a:solidFill>
                  <a:srgbClr val="FFFFFF"/>
                </a:solidFill>
                <a:latin typeface="Arial"/>
              </a:rPr>
              <a:t>power.</a:t>
            </a:r>
            <a:endParaRPr lang="en-US" sz="2000"/>
          </a:p>
        </p:txBody>
      </p:sp>
      <p:sp>
        <p:nvSpPr>
          <p:cNvPr id="7" name="ROMANTIC INTIMACY"/>
          <p:cNvSpPr txBox="1"/>
          <p:nvPr/>
        </p:nvSpPr>
        <p:spPr>
          <a:xfrm>
            <a:off x="6629400" y="4023360"/>
            <a:ext cx="4937760" cy="45720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DDB567"/>
                </a:solidFill>
                <a:latin typeface="Arial"/>
              </a:rPr>
              <a:t>ROMANTIC INTIMACY</a:t>
            </a:r>
            <a:endParaRPr lang="en-US" sz="2200"/>
          </a:p>
        </p:txBody>
      </p:sp>
      <p:sp>
        <p:nvSpPr>
          <p:cNvPr id="8" name="Glances, tells, pauses, and the moment someone shows up without a deal."/>
          <p:cNvSpPr txBox="1"/>
          <p:nvPr/>
        </p:nvSpPr>
        <p:spPr>
          <a:xfrm>
            <a:off x="6629400" y="4645152"/>
            <a:ext cx="4663440" cy="100584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Glances, tells, pauses, and the moment</a:t>
            </a:r>
            <a:endParaRPr lang="en-US" sz="2000"/>
          </a:p>
          <a:p>
            <a:pPr algn="l">
              <a:lnSpc>
                <a:spcPts val="2380"/>
              </a:lnSpc>
              <a:spcAft>
                <a:spcPts val="0"/>
              </a:spcAft>
            </a:pPr>
            <a:r>
              <a:rPr lang="en-US" sz="2000" b="0">
                <a:solidFill>
                  <a:srgbClr val="FFFFFF"/>
                </a:solidFill>
                <a:latin typeface="Arial"/>
              </a:rPr>
              <a:t>someone shows up without a deal.</a:t>
            </a:r>
            <a:endParaRPr lang="en-US" sz="2000"/>
          </a:p>
        </p:txBody>
      </p:sp>
      <p:sp>
        <p:nvSpPr>
          <p:cNvPr id="9" name="Public polish gives way to private warmth."/>
          <p:cNvSpPr txBox="1"/>
          <p:nvPr/>
        </p:nvSpPr>
        <p:spPr>
          <a:xfrm>
            <a:off x="594360" y="5669280"/>
            <a:ext cx="10789920" cy="502920"/>
          </a:xfrm>
          <a:prstGeom prst="rect">
            <a:avLst/>
          </a:prstGeom>
          <a:noFill/>
          <a:ln>
            <a:noFill/>
          </a:ln>
        </p:spPr>
        <p:txBody>
          <a:bodyPr wrap="none" lIns="0" tIns="0" rIns="0" bIns="0" anchor="t">
            <a:noAutofit/>
          </a:bodyPr>
          <a:lstStyle/>
          <a:p>
            <a:pPr algn="l">
              <a:lnSpc>
                <a:spcPts val="2975"/>
              </a:lnSpc>
              <a:spcAft>
                <a:spcPts val="0"/>
              </a:spcAft>
            </a:pPr>
            <a:r>
              <a:rPr lang="en-US" sz="2500" b="0">
                <a:solidFill>
                  <a:srgbClr val="BBC6D3"/>
                </a:solidFill>
                <a:latin typeface="Cambria"/>
              </a:rPr>
              <a:t>Public polish gives way to private warmth.</a:t>
            </a:r>
            <a:endParaRPr lang="en-US" sz="2500"/>
          </a:p>
        </p:txBody>
      </p:sp>
      <p:sp>
        <p:nvSpPr>
          <p:cNvPr id="10"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1" name="09"/>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09</a:t>
            </a:r>
            <a:endParaRPr lang="en-US" sz="10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WORLD"/>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WORLD</a:t>
            </a:r>
            <a:endParaRPr lang="en-US" sz="1100"/>
          </a:p>
        </p:txBody>
      </p:sp>
      <p:sp>
        <p:nvSpPr>
          <p:cNvPr id="3" name="Three cities. Three versions of belonging."/>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Three cities. Three versions of belonging.</a:t>
            </a:r>
            <a:endParaRPr lang="en-US" sz="3700"/>
          </a:p>
        </p:txBody>
      </p:sp>
      <p:sp>
        <p:nvSpPr>
          <p:cNvPr id="4" name="Shape"/>
          <p:cNvSpPr txBox="0"/>
          <p:nvPr/>
        </p:nvSpPr>
        <p:spPr>
          <a:xfrm>
            <a:off x="594360" y="2057400"/>
            <a:ext cx="3383280" cy="3840480"/>
          </a:xfrm>
          <a:prstGeom prst="rect">
            <a:avLst/>
          </a:prstGeom>
          <a:solidFill>
            <a:srgbClr val="1C3048"/>
          </a:solidFill>
          <a:ln>
            <a:noFill/>
          </a:ln>
        </p:spPr>
      </p:sp>
      <p:sp>
        <p:nvSpPr>
          <p:cNvPr id="5" name="WASHINGTON, D.C."/>
          <p:cNvSpPr txBox="1"/>
          <p:nvPr/>
        </p:nvSpPr>
        <p:spPr>
          <a:xfrm>
            <a:off x="822960" y="2331720"/>
            <a:ext cx="2926080" cy="73152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WASHINGTON, D.C.</a:t>
            </a:r>
            <a:endParaRPr lang="en-US" sz="2200"/>
          </a:p>
        </p:txBody>
      </p:sp>
      <p:sp>
        <p:nvSpPr>
          <p:cNvPr id="6" name="THE IMAGE"/>
          <p:cNvSpPr txBox="1"/>
          <p:nvPr/>
        </p:nvSpPr>
        <p:spPr>
          <a:xfrm>
            <a:off x="822960" y="3383280"/>
            <a:ext cx="2926080" cy="457200"/>
          </a:xfrm>
          <a:prstGeom prst="rect">
            <a:avLst/>
          </a:prstGeom>
          <a:noFill/>
          <a:ln>
            <a:noFill/>
          </a:ln>
        </p:spPr>
        <p:txBody>
          <a:bodyPr wrap="none" lIns="0" tIns="0" rIns="0" bIns="0" anchor="t">
            <a:noAutofit/>
          </a:bodyPr>
          <a:lstStyle/>
          <a:p>
            <a:pPr algn="l">
              <a:lnSpc>
                <a:spcPts val="1785"/>
              </a:lnSpc>
              <a:spcAft>
                <a:spcPts val="0"/>
              </a:spcAft>
            </a:pPr>
            <a:r>
              <a:rPr lang="en-US" sz="1500" b="1">
                <a:solidFill>
                  <a:srgbClr val="DDB567"/>
                </a:solidFill>
                <a:latin typeface="Arial"/>
              </a:rPr>
              <a:t>THE IMAGE</a:t>
            </a:r>
            <a:endParaRPr lang="en-US" sz="1500"/>
          </a:p>
        </p:txBody>
      </p:sp>
      <p:sp>
        <p:nvSpPr>
          <p:cNvPr id="7" name="Studios, green rooms, donor tables. Every moment can become a message."/>
          <p:cNvSpPr txBox="1"/>
          <p:nvPr/>
        </p:nvSpPr>
        <p:spPr>
          <a:xfrm>
            <a:off x="822960" y="4069080"/>
            <a:ext cx="2926080" cy="141732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Studios, green rooms,</a:t>
            </a:r>
            <a:endParaRPr lang="en-US" sz="2000"/>
          </a:p>
          <a:p>
            <a:pPr algn="l">
              <a:lnSpc>
                <a:spcPts val="2380"/>
              </a:lnSpc>
              <a:spcAft>
                <a:spcPts val="0"/>
              </a:spcAft>
            </a:pPr>
            <a:r>
              <a:rPr lang="en-US" sz="2000" b="0">
                <a:solidFill>
                  <a:srgbClr val="FFFFFF"/>
                </a:solidFill>
                <a:latin typeface="Arial"/>
              </a:rPr>
              <a:t>donor tables. Every</a:t>
            </a:r>
            <a:endParaRPr lang="en-US" sz="2000"/>
          </a:p>
          <a:p>
            <a:pPr algn="l">
              <a:lnSpc>
                <a:spcPts val="2380"/>
              </a:lnSpc>
              <a:spcAft>
                <a:spcPts val="0"/>
              </a:spcAft>
            </a:pPr>
            <a:r>
              <a:rPr lang="en-US" sz="2000" b="0">
                <a:solidFill>
                  <a:srgbClr val="FFFFFF"/>
                </a:solidFill>
                <a:latin typeface="Arial"/>
              </a:rPr>
              <a:t>moment can become a</a:t>
            </a:r>
            <a:endParaRPr lang="en-US" sz="2000"/>
          </a:p>
          <a:p>
            <a:pPr algn="l">
              <a:lnSpc>
                <a:spcPts val="2380"/>
              </a:lnSpc>
              <a:spcAft>
                <a:spcPts val="0"/>
              </a:spcAft>
            </a:pPr>
            <a:r>
              <a:rPr lang="en-US" sz="2000" b="0">
                <a:solidFill>
                  <a:srgbClr val="FFFFFF"/>
                </a:solidFill>
                <a:latin typeface="Arial"/>
              </a:rPr>
              <a:t>message.</a:t>
            </a:r>
            <a:endParaRPr lang="en-US" sz="2000"/>
          </a:p>
        </p:txBody>
      </p:sp>
      <p:sp>
        <p:nvSpPr>
          <p:cNvPr id="8" name="Shape"/>
          <p:cNvSpPr txBox="0"/>
          <p:nvPr/>
        </p:nvSpPr>
        <p:spPr>
          <a:xfrm>
            <a:off x="4389120" y="2057400"/>
            <a:ext cx="3383280" cy="3840480"/>
          </a:xfrm>
          <a:prstGeom prst="rect">
            <a:avLst/>
          </a:prstGeom>
          <a:solidFill>
            <a:srgbClr val="B93442"/>
          </a:solidFill>
          <a:ln>
            <a:noFill/>
          </a:ln>
        </p:spPr>
      </p:sp>
      <p:sp>
        <p:nvSpPr>
          <p:cNvPr id="9" name="DAYTON, OHIO"/>
          <p:cNvSpPr txBox="1"/>
          <p:nvPr/>
        </p:nvSpPr>
        <p:spPr>
          <a:xfrm>
            <a:off x="4617720" y="2331720"/>
            <a:ext cx="2926080" cy="73152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DAYTON, OHIO</a:t>
            </a:r>
            <a:endParaRPr lang="en-US" sz="2200"/>
          </a:p>
        </p:txBody>
      </p:sp>
      <p:sp>
        <p:nvSpPr>
          <p:cNvPr id="10" name="THE ROOTS"/>
          <p:cNvSpPr txBox="1"/>
          <p:nvPr/>
        </p:nvSpPr>
        <p:spPr>
          <a:xfrm>
            <a:off x="4617720" y="3383280"/>
            <a:ext cx="2926080" cy="457200"/>
          </a:xfrm>
          <a:prstGeom prst="rect">
            <a:avLst/>
          </a:prstGeom>
          <a:noFill/>
          <a:ln>
            <a:noFill/>
          </a:ln>
        </p:spPr>
        <p:txBody>
          <a:bodyPr wrap="none" lIns="0" tIns="0" rIns="0" bIns="0" anchor="t">
            <a:noAutofit/>
          </a:bodyPr>
          <a:lstStyle/>
          <a:p>
            <a:pPr algn="l">
              <a:lnSpc>
                <a:spcPts val="1785"/>
              </a:lnSpc>
              <a:spcAft>
                <a:spcPts val="0"/>
              </a:spcAft>
            </a:pPr>
            <a:r>
              <a:rPr lang="en-US" sz="1500" b="1">
                <a:solidFill>
                  <a:srgbClr val="DDB567"/>
                </a:solidFill>
                <a:latin typeface="Arial"/>
              </a:rPr>
              <a:t>THE ROOTS</a:t>
            </a:r>
            <a:endParaRPr lang="en-US" sz="1500"/>
          </a:p>
        </p:txBody>
      </p:sp>
      <p:sp>
        <p:nvSpPr>
          <p:cNvPr id="11" name="A union family, a factory, a church, and a porch where nobody buys the spin."/>
          <p:cNvSpPr txBox="1"/>
          <p:nvPr/>
        </p:nvSpPr>
        <p:spPr>
          <a:xfrm>
            <a:off x="4617720" y="4069080"/>
            <a:ext cx="2926080" cy="141732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A union family, a factory,</a:t>
            </a:r>
            <a:endParaRPr lang="en-US" sz="2000"/>
          </a:p>
          <a:p>
            <a:pPr algn="l">
              <a:lnSpc>
                <a:spcPts val="2380"/>
              </a:lnSpc>
              <a:spcAft>
                <a:spcPts val="0"/>
              </a:spcAft>
            </a:pPr>
            <a:r>
              <a:rPr lang="en-US" sz="2000" b="0">
                <a:solidFill>
                  <a:srgbClr val="FFFFFF"/>
                </a:solidFill>
                <a:latin typeface="Arial"/>
              </a:rPr>
              <a:t>a church, and a porch</a:t>
            </a:r>
            <a:endParaRPr lang="en-US" sz="2000"/>
          </a:p>
          <a:p>
            <a:pPr algn="l">
              <a:lnSpc>
                <a:spcPts val="2380"/>
              </a:lnSpc>
              <a:spcAft>
                <a:spcPts val="0"/>
              </a:spcAft>
            </a:pPr>
            <a:r>
              <a:rPr lang="en-US" sz="2000" b="0">
                <a:solidFill>
                  <a:srgbClr val="FFFFFF"/>
                </a:solidFill>
                <a:latin typeface="Arial"/>
              </a:rPr>
              <a:t>where nobody buys the</a:t>
            </a:r>
            <a:endParaRPr lang="en-US" sz="2000"/>
          </a:p>
          <a:p>
            <a:pPr algn="l">
              <a:lnSpc>
                <a:spcPts val="2380"/>
              </a:lnSpc>
              <a:spcAft>
                <a:spcPts val="0"/>
              </a:spcAft>
            </a:pPr>
            <a:r>
              <a:rPr lang="en-US" sz="2000" b="0">
                <a:solidFill>
                  <a:srgbClr val="FFFFFF"/>
                </a:solidFill>
                <a:latin typeface="Arial"/>
              </a:rPr>
              <a:t>spin.</a:t>
            </a:r>
            <a:endParaRPr lang="en-US" sz="2000"/>
          </a:p>
        </p:txBody>
      </p:sp>
      <p:sp>
        <p:nvSpPr>
          <p:cNvPr id="12" name="Shape"/>
          <p:cNvSpPr txBox="0"/>
          <p:nvPr/>
        </p:nvSpPr>
        <p:spPr>
          <a:xfrm>
            <a:off x="8183880" y="2057400"/>
            <a:ext cx="3383280" cy="3840480"/>
          </a:xfrm>
          <a:prstGeom prst="rect">
            <a:avLst/>
          </a:prstGeom>
          <a:solidFill>
            <a:srgbClr val="1C3048"/>
          </a:solidFill>
          <a:ln>
            <a:noFill/>
          </a:ln>
        </p:spPr>
      </p:sp>
      <p:sp>
        <p:nvSpPr>
          <p:cNvPr id="13" name="ATLANTA, GEORGIA"/>
          <p:cNvSpPr txBox="1"/>
          <p:nvPr/>
        </p:nvSpPr>
        <p:spPr>
          <a:xfrm>
            <a:off x="8412480" y="2331720"/>
            <a:ext cx="2926080" cy="73152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ATLANTA, GEORGIA</a:t>
            </a:r>
            <a:endParaRPr lang="en-US" sz="2200"/>
          </a:p>
        </p:txBody>
      </p:sp>
      <p:sp>
        <p:nvSpPr>
          <p:cNvPr id="14" name="THE INHERITANCE"/>
          <p:cNvSpPr txBox="1"/>
          <p:nvPr/>
        </p:nvSpPr>
        <p:spPr>
          <a:xfrm>
            <a:off x="8412480" y="3383280"/>
            <a:ext cx="2926080" cy="457200"/>
          </a:xfrm>
          <a:prstGeom prst="rect">
            <a:avLst/>
          </a:prstGeom>
          <a:noFill/>
          <a:ln>
            <a:noFill/>
          </a:ln>
        </p:spPr>
        <p:txBody>
          <a:bodyPr wrap="none" lIns="0" tIns="0" rIns="0" bIns="0" anchor="t">
            <a:noAutofit/>
          </a:bodyPr>
          <a:lstStyle/>
          <a:p>
            <a:pPr algn="l">
              <a:lnSpc>
                <a:spcPts val="1785"/>
              </a:lnSpc>
              <a:spcAft>
                <a:spcPts val="0"/>
              </a:spcAft>
            </a:pPr>
            <a:r>
              <a:rPr lang="en-US" sz="1500" b="1">
                <a:solidFill>
                  <a:srgbClr val="DDB567"/>
                </a:solidFill>
                <a:latin typeface="Arial"/>
              </a:rPr>
              <a:t>THE INHERITANCE</a:t>
            </a:r>
            <a:endParaRPr lang="en-US" sz="1500"/>
          </a:p>
        </p:txBody>
      </p:sp>
      <p:sp>
        <p:nvSpPr>
          <p:cNvPr id="15" name="A political dynasty and the Fox Theatre’s painted sky. A future Marcus must choo"/>
          <p:cNvSpPr txBox="1"/>
          <p:nvPr/>
        </p:nvSpPr>
        <p:spPr>
          <a:xfrm>
            <a:off x="8412480" y="4069080"/>
            <a:ext cx="2926080" cy="141732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A political dynasty and</a:t>
            </a:r>
            <a:endParaRPr lang="en-US" sz="2000"/>
          </a:p>
          <a:p>
            <a:pPr algn="l">
              <a:lnSpc>
                <a:spcPts val="2380"/>
              </a:lnSpc>
              <a:spcAft>
                <a:spcPts val="0"/>
              </a:spcAft>
            </a:pPr>
            <a:r>
              <a:rPr lang="en-US" sz="2000" b="0">
                <a:solidFill>
                  <a:srgbClr val="FFFFFF"/>
                </a:solidFill>
                <a:latin typeface="Arial"/>
              </a:rPr>
              <a:t>the Fox Theatre’s painted</a:t>
            </a:r>
            <a:endParaRPr lang="en-US" sz="2000"/>
          </a:p>
          <a:p>
            <a:pPr algn="l">
              <a:lnSpc>
                <a:spcPts val="2380"/>
              </a:lnSpc>
              <a:spcAft>
                <a:spcPts val="0"/>
              </a:spcAft>
            </a:pPr>
            <a:r>
              <a:rPr lang="en-US" sz="2000" b="0">
                <a:solidFill>
                  <a:srgbClr val="FFFFFF"/>
                </a:solidFill>
                <a:latin typeface="Arial"/>
              </a:rPr>
              <a:t>sky. A future Marcus must</a:t>
            </a:r>
            <a:endParaRPr lang="en-US" sz="2000"/>
          </a:p>
          <a:p>
            <a:pPr algn="l">
              <a:lnSpc>
                <a:spcPts val="2380"/>
              </a:lnSpc>
              <a:spcAft>
                <a:spcPts val="0"/>
              </a:spcAft>
            </a:pPr>
            <a:r>
              <a:rPr lang="en-US" sz="2000" b="0">
                <a:solidFill>
                  <a:srgbClr val="FFFFFF"/>
                </a:solidFill>
                <a:latin typeface="Arial"/>
              </a:rPr>
              <a:t>choose.</a:t>
            </a:r>
            <a:endParaRPr lang="en-US" sz="2000"/>
          </a:p>
        </p:txBody>
      </p:sp>
      <p:sp>
        <p:nvSpPr>
          <p:cNvPr id="16"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7" name="10"/>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10</a:t>
            </a:r>
            <a:endParaRPr lang="en-US" sz="10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EMOTIONAL LANGUAGE"/>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EMOTIONAL LANGUAGE</a:t>
            </a:r>
            <a:endParaRPr lang="en-US" sz="1100"/>
          </a:p>
        </p:txBody>
      </p:sp>
      <p:sp>
        <p:nvSpPr>
          <p:cNvPr id="3" name="A ring. A pin. A tell. A real sky."/>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A ring. A pin. A tell. A real sky.</a:t>
            </a:r>
            <a:endParaRPr lang="en-US" sz="3700"/>
          </a:p>
        </p:txBody>
      </p:sp>
      <p:sp>
        <p:nvSpPr>
          <p:cNvPr id="4" name="Shape"/>
          <p:cNvSpPr txBox="0"/>
          <p:nvPr/>
        </p:nvSpPr>
        <p:spPr>
          <a:xfrm>
            <a:off x="822960" y="2331720"/>
            <a:ext cx="1005840" cy="1005840"/>
          </a:xfrm>
          <a:prstGeom prst="ellipse">
            <a:avLst/>
          </a:prstGeom>
          <a:solidFill>
            <a:srgbClr val="DDB567"/>
          </a:solidFill>
          <a:ln>
            <a:noFill/>
          </a:ln>
        </p:spPr>
      </p:sp>
      <p:sp>
        <p:nvSpPr>
          <p:cNvPr id="5" name="R"/>
          <p:cNvSpPr txBox="1"/>
          <p:nvPr/>
        </p:nvSpPr>
        <p:spPr>
          <a:xfrm>
            <a:off x="822960" y="2603297"/>
            <a:ext cx="1005840" cy="603504"/>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R</a:t>
            </a:r>
            <a:endParaRPr lang="en-US" sz="2600"/>
          </a:p>
        </p:txBody>
      </p:sp>
      <p:sp>
        <p:nvSpPr>
          <p:cNvPr id="6" name="Shape"/>
          <p:cNvSpPr txBox="0"/>
          <p:nvPr/>
        </p:nvSpPr>
        <p:spPr>
          <a:xfrm>
            <a:off x="3703320" y="2331720"/>
            <a:ext cx="1005840" cy="1005840"/>
          </a:xfrm>
          <a:prstGeom prst="ellipse">
            <a:avLst/>
          </a:prstGeom>
          <a:solidFill>
            <a:srgbClr val="DDB567"/>
          </a:solidFill>
          <a:ln>
            <a:noFill/>
          </a:ln>
        </p:spPr>
      </p:sp>
      <p:sp>
        <p:nvSpPr>
          <p:cNvPr id="7" name="P"/>
          <p:cNvSpPr txBox="1"/>
          <p:nvPr/>
        </p:nvSpPr>
        <p:spPr>
          <a:xfrm>
            <a:off x="3703320" y="2603297"/>
            <a:ext cx="1005840" cy="603504"/>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P</a:t>
            </a:r>
            <a:endParaRPr lang="en-US" sz="2600"/>
          </a:p>
        </p:txBody>
      </p:sp>
      <p:sp>
        <p:nvSpPr>
          <p:cNvPr id="8" name="Shape"/>
          <p:cNvSpPr txBox="0"/>
          <p:nvPr/>
        </p:nvSpPr>
        <p:spPr>
          <a:xfrm>
            <a:off x="6583680" y="2331720"/>
            <a:ext cx="1005840" cy="1005840"/>
          </a:xfrm>
          <a:prstGeom prst="ellipse">
            <a:avLst/>
          </a:prstGeom>
          <a:solidFill>
            <a:srgbClr val="DDB567"/>
          </a:solidFill>
          <a:ln>
            <a:noFill/>
          </a:ln>
        </p:spPr>
      </p:sp>
      <p:sp>
        <p:nvSpPr>
          <p:cNvPr id="9" name="C"/>
          <p:cNvSpPr txBox="1"/>
          <p:nvPr/>
        </p:nvSpPr>
        <p:spPr>
          <a:xfrm>
            <a:off x="6583680" y="2603297"/>
            <a:ext cx="1005840" cy="603504"/>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C</a:t>
            </a:r>
            <a:endParaRPr lang="en-US" sz="2600"/>
          </a:p>
        </p:txBody>
      </p:sp>
      <p:sp>
        <p:nvSpPr>
          <p:cNvPr id="10" name="Shape"/>
          <p:cNvSpPr txBox="0"/>
          <p:nvPr/>
        </p:nvSpPr>
        <p:spPr>
          <a:xfrm>
            <a:off x="9464040" y="2331720"/>
            <a:ext cx="1005840" cy="1005840"/>
          </a:xfrm>
          <a:prstGeom prst="ellipse">
            <a:avLst/>
          </a:prstGeom>
          <a:solidFill>
            <a:srgbClr val="DDB567"/>
          </a:solidFill>
          <a:ln>
            <a:noFill/>
          </a:ln>
        </p:spPr>
      </p:sp>
      <p:sp>
        <p:nvSpPr>
          <p:cNvPr id="11" name="S"/>
          <p:cNvSpPr txBox="1"/>
          <p:nvPr/>
        </p:nvSpPr>
        <p:spPr>
          <a:xfrm>
            <a:off x="9464040" y="2603297"/>
            <a:ext cx="1005840" cy="603504"/>
          </a:xfrm>
          <a:prstGeom prst="rect">
            <a:avLst/>
          </a:prstGeom>
          <a:noFill/>
          <a:ln>
            <a:noFill/>
          </a:ln>
        </p:spPr>
        <p:txBody>
          <a:bodyPr wrap="none" lIns="0" tIns="0" rIns="0" bIns="0" anchor="t">
            <a:noAutofit/>
          </a:bodyPr>
          <a:lstStyle/>
          <a:p>
            <a:pPr algn="ctr">
              <a:lnSpc>
                <a:spcPts val="3094"/>
              </a:lnSpc>
              <a:spcAft>
                <a:spcPts val="0"/>
              </a:spcAft>
            </a:pPr>
            <a:r>
              <a:rPr lang="en-US" sz="2600" b="1">
                <a:solidFill>
                  <a:srgbClr val="152438"/>
                </a:solidFill>
                <a:latin typeface="Arial"/>
              </a:rPr>
              <a:t>S</a:t>
            </a:r>
            <a:endParaRPr lang="en-US" sz="2600"/>
          </a:p>
        </p:txBody>
      </p:sp>
      <p:sp>
        <p:nvSpPr>
          <p:cNvPr id="12" name="THE RING"/>
          <p:cNvSpPr txBox="1"/>
          <p:nvPr/>
        </p:nvSpPr>
        <p:spPr>
          <a:xfrm>
            <a:off x="594360" y="3749040"/>
            <a:ext cx="2468880" cy="594360"/>
          </a:xfrm>
          <a:prstGeom prst="rect">
            <a:avLst/>
          </a:prstGeom>
          <a:noFill/>
          <a:ln>
            <a:noFill/>
          </a:ln>
        </p:spPr>
        <p:txBody>
          <a:bodyPr wrap="none" lIns="0" tIns="0" rIns="0" bIns="0" anchor="t">
            <a:noAutofit/>
          </a:bodyPr>
          <a:lstStyle/>
          <a:p>
            <a:pPr algn="l">
              <a:lnSpc>
                <a:spcPts val="2261"/>
              </a:lnSpc>
              <a:spcAft>
                <a:spcPts val="0"/>
              </a:spcAft>
            </a:pPr>
            <a:r>
              <a:rPr lang="en-US" sz="1900" b="1">
                <a:solidFill>
                  <a:srgbClr val="FFFFFF"/>
                </a:solidFill>
                <a:latin typeface="Arial"/>
              </a:rPr>
              <a:t>THE RING</a:t>
            </a:r>
            <a:endParaRPr lang="en-US" sz="1900"/>
          </a:p>
        </p:txBody>
      </p:sp>
      <p:sp>
        <p:nvSpPr>
          <p:cNvPr id="13" name="Family makes the lie feel real."/>
          <p:cNvSpPr txBox="1"/>
          <p:nvPr/>
        </p:nvSpPr>
        <p:spPr>
          <a:xfrm>
            <a:off x="594360" y="4599432"/>
            <a:ext cx="2377440" cy="1005840"/>
          </a:xfrm>
          <a:prstGeom prst="rect">
            <a:avLst/>
          </a:prstGeom>
          <a:noFill/>
          <a:ln>
            <a:noFill/>
          </a:ln>
        </p:spPr>
        <p:txBody>
          <a:bodyPr wrap="none" lIns="0" tIns="0" rIns="0" bIns="0" anchor="t">
            <a:noAutofit/>
          </a:bodyPr>
          <a:lstStyle/>
          <a:p>
            <a:pPr algn="l">
              <a:lnSpc>
                <a:spcPts val="2261"/>
              </a:lnSpc>
              <a:spcAft>
                <a:spcPts val="0"/>
              </a:spcAft>
            </a:pPr>
            <a:r>
              <a:rPr lang="en-US" sz="1900" b="0">
                <a:solidFill>
                  <a:srgbClr val="BBC6D3"/>
                </a:solidFill>
                <a:latin typeface="Arial"/>
              </a:rPr>
              <a:t>Family makes the lie</a:t>
            </a:r>
            <a:endParaRPr lang="en-US" sz="1900"/>
          </a:p>
          <a:p>
            <a:pPr algn="l">
              <a:lnSpc>
                <a:spcPts val="2261"/>
              </a:lnSpc>
              <a:spcAft>
                <a:spcPts val="0"/>
              </a:spcAft>
            </a:pPr>
            <a:r>
              <a:rPr lang="en-US" sz="1900" b="0">
                <a:solidFill>
                  <a:srgbClr val="BBC6D3"/>
                </a:solidFill>
                <a:latin typeface="Arial"/>
              </a:rPr>
              <a:t>feel real.</a:t>
            </a:r>
            <a:endParaRPr lang="en-US" sz="1900"/>
          </a:p>
        </p:txBody>
      </p:sp>
      <p:sp>
        <p:nvSpPr>
          <p:cNvPr id="14" name="THE UNION PIN"/>
          <p:cNvSpPr txBox="1"/>
          <p:nvPr/>
        </p:nvSpPr>
        <p:spPr>
          <a:xfrm>
            <a:off x="3474720" y="3749040"/>
            <a:ext cx="2468880" cy="594360"/>
          </a:xfrm>
          <a:prstGeom prst="rect">
            <a:avLst/>
          </a:prstGeom>
          <a:noFill/>
          <a:ln>
            <a:noFill/>
          </a:ln>
        </p:spPr>
        <p:txBody>
          <a:bodyPr wrap="none" lIns="0" tIns="0" rIns="0" bIns="0" anchor="t">
            <a:noAutofit/>
          </a:bodyPr>
          <a:lstStyle/>
          <a:p>
            <a:pPr algn="l">
              <a:lnSpc>
                <a:spcPts val="2261"/>
              </a:lnSpc>
              <a:spcAft>
                <a:spcPts val="0"/>
              </a:spcAft>
            </a:pPr>
            <a:r>
              <a:rPr lang="en-US" sz="1900" b="1">
                <a:solidFill>
                  <a:srgbClr val="FFFFFF"/>
                </a:solidFill>
                <a:latin typeface="Arial"/>
              </a:rPr>
              <a:t>THE UNION PIN</a:t>
            </a:r>
            <a:endParaRPr lang="en-US" sz="1900"/>
          </a:p>
        </p:txBody>
      </p:sp>
      <p:sp>
        <p:nvSpPr>
          <p:cNvPr id="15" name="Trust is placed in his hands."/>
          <p:cNvSpPr txBox="1"/>
          <p:nvPr/>
        </p:nvSpPr>
        <p:spPr>
          <a:xfrm>
            <a:off x="3474720" y="4599432"/>
            <a:ext cx="2377440" cy="1005840"/>
          </a:xfrm>
          <a:prstGeom prst="rect">
            <a:avLst/>
          </a:prstGeom>
          <a:noFill/>
          <a:ln>
            <a:noFill/>
          </a:ln>
        </p:spPr>
        <p:txBody>
          <a:bodyPr wrap="none" lIns="0" tIns="0" rIns="0" bIns="0" anchor="t">
            <a:noAutofit/>
          </a:bodyPr>
          <a:lstStyle/>
          <a:p>
            <a:pPr algn="l">
              <a:lnSpc>
                <a:spcPts val="2261"/>
              </a:lnSpc>
              <a:spcAft>
                <a:spcPts val="0"/>
              </a:spcAft>
            </a:pPr>
            <a:r>
              <a:rPr lang="en-US" sz="1900" b="0">
                <a:solidFill>
                  <a:srgbClr val="BBC6D3"/>
                </a:solidFill>
                <a:latin typeface="Arial"/>
              </a:rPr>
              <a:t>Trust is placed in his</a:t>
            </a:r>
            <a:endParaRPr lang="en-US" sz="1900"/>
          </a:p>
          <a:p>
            <a:pPr algn="l">
              <a:lnSpc>
                <a:spcPts val="2261"/>
              </a:lnSpc>
              <a:spcAft>
                <a:spcPts val="0"/>
              </a:spcAft>
            </a:pPr>
            <a:r>
              <a:rPr lang="en-US" sz="1900" b="0">
                <a:solidFill>
                  <a:srgbClr val="BBC6D3"/>
                </a:solidFill>
                <a:latin typeface="Arial"/>
              </a:rPr>
              <a:t>hands.</a:t>
            </a:r>
            <a:endParaRPr lang="en-US" sz="1900"/>
          </a:p>
        </p:txBody>
      </p:sp>
      <p:sp>
        <p:nvSpPr>
          <p:cNvPr id="16" name="THE CUFFLINK"/>
          <p:cNvSpPr txBox="1"/>
          <p:nvPr/>
        </p:nvSpPr>
        <p:spPr>
          <a:xfrm>
            <a:off x="6355080" y="3749040"/>
            <a:ext cx="2468880" cy="594360"/>
          </a:xfrm>
          <a:prstGeom prst="rect">
            <a:avLst/>
          </a:prstGeom>
          <a:noFill/>
          <a:ln>
            <a:noFill/>
          </a:ln>
        </p:spPr>
        <p:txBody>
          <a:bodyPr wrap="none" lIns="0" tIns="0" rIns="0" bIns="0" anchor="t">
            <a:noAutofit/>
          </a:bodyPr>
          <a:lstStyle/>
          <a:p>
            <a:pPr algn="l">
              <a:lnSpc>
                <a:spcPts val="2261"/>
              </a:lnSpc>
              <a:spcAft>
                <a:spcPts val="0"/>
              </a:spcAft>
            </a:pPr>
            <a:r>
              <a:rPr lang="en-US" sz="1900" b="1">
                <a:solidFill>
                  <a:srgbClr val="FFFFFF"/>
                </a:solidFill>
                <a:latin typeface="Arial"/>
              </a:rPr>
              <a:t>THE CUFFLINK</a:t>
            </a:r>
            <a:endParaRPr lang="en-US" sz="1900"/>
          </a:p>
        </p:txBody>
      </p:sp>
      <p:sp>
        <p:nvSpPr>
          <p:cNvPr id="17" name="Charm gives away the truth."/>
          <p:cNvSpPr txBox="1"/>
          <p:nvPr/>
        </p:nvSpPr>
        <p:spPr>
          <a:xfrm>
            <a:off x="6355080" y="4599432"/>
            <a:ext cx="2377440" cy="1005840"/>
          </a:xfrm>
          <a:prstGeom prst="rect">
            <a:avLst/>
          </a:prstGeom>
          <a:noFill/>
          <a:ln>
            <a:noFill/>
          </a:ln>
        </p:spPr>
        <p:txBody>
          <a:bodyPr wrap="none" lIns="0" tIns="0" rIns="0" bIns="0" anchor="t">
            <a:noAutofit/>
          </a:bodyPr>
          <a:lstStyle/>
          <a:p>
            <a:pPr algn="l">
              <a:lnSpc>
                <a:spcPts val="2261"/>
              </a:lnSpc>
              <a:spcAft>
                <a:spcPts val="0"/>
              </a:spcAft>
            </a:pPr>
            <a:r>
              <a:rPr lang="en-US" sz="1900" b="0">
                <a:solidFill>
                  <a:srgbClr val="BBC6D3"/>
                </a:solidFill>
                <a:latin typeface="Arial"/>
              </a:rPr>
              <a:t>Charm gives away</a:t>
            </a:r>
            <a:endParaRPr lang="en-US" sz="1900"/>
          </a:p>
          <a:p>
            <a:pPr algn="l">
              <a:lnSpc>
                <a:spcPts val="2261"/>
              </a:lnSpc>
              <a:spcAft>
                <a:spcPts val="0"/>
              </a:spcAft>
            </a:pPr>
            <a:r>
              <a:rPr lang="en-US" sz="1900" b="0">
                <a:solidFill>
                  <a:srgbClr val="BBC6D3"/>
                </a:solidFill>
                <a:latin typeface="Arial"/>
              </a:rPr>
              <a:t>the truth.</a:t>
            </a:r>
            <a:endParaRPr lang="en-US" sz="1900"/>
          </a:p>
        </p:txBody>
      </p:sp>
      <p:sp>
        <p:nvSpPr>
          <p:cNvPr id="18" name="THE SUNRISE"/>
          <p:cNvSpPr txBox="1"/>
          <p:nvPr/>
        </p:nvSpPr>
        <p:spPr>
          <a:xfrm>
            <a:off x="9235440" y="3749040"/>
            <a:ext cx="2468880" cy="594360"/>
          </a:xfrm>
          <a:prstGeom prst="rect">
            <a:avLst/>
          </a:prstGeom>
          <a:noFill/>
          <a:ln>
            <a:noFill/>
          </a:ln>
        </p:spPr>
        <p:txBody>
          <a:bodyPr wrap="none" lIns="0" tIns="0" rIns="0" bIns="0" anchor="t">
            <a:noAutofit/>
          </a:bodyPr>
          <a:lstStyle/>
          <a:p>
            <a:pPr algn="l">
              <a:lnSpc>
                <a:spcPts val="2261"/>
              </a:lnSpc>
              <a:spcAft>
                <a:spcPts val="0"/>
              </a:spcAft>
            </a:pPr>
            <a:r>
              <a:rPr lang="en-US" sz="1900" b="1">
                <a:solidFill>
                  <a:srgbClr val="FFFFFF"/>
                </a:solidFill>
                <a:latin typeface="Arial"/>
              </a:rPr>
              <a:t>THE SUNRISE</a:t>
            </a:r>
            <a:endParaRPr lang="en-US" sz="1900"/>
          </a:p>
        </p:txBody>
      </p:sp>
      <p:sp>
        <p:nvSpPr>
          <p:cNvPr id="19" name="An honest future, still unwritten."/>
          <p:cNvSpPr txBox="1"/>
          <p:nvPr/>
        </p:nvSpPr>
        <p:spPr>
          <a:xfrm>
            <a:off x="9235440" y="4599432"/>
            <a:ext cx="2377440" cy="1005840"/>
          </a:xfrm>
          <a:prstGeom prst="rect">
            <a:avLst/>
          </a:prstGeom>
          <a:noFill/>
          <a:ln>
            <a:noFill/>
          </a:ln>
        </p:spPr>
        <p:txBody>
          <a:bodyPr wrap="none" lIns="0" tIns="0" rIns="0" bIns="0" anchor="t">
            <a:noAutofit/>
          </a:bodyPr>
          <a:lstStyle/>
          <a:p>
            <a:pPr algn="l">
              <a:lnSpc>
                <a:spcPts val="2261"/>
              </a:lnSpc>
              <a:spcAft>
                <a:spcPts val="0"/>
              </a:spcAft>
            </a:pPr>
            <a:r>
              <a:rPr lang="en-US" sz="1900" b="0">
                <a:solidFill>
                  <a:srgbClr val="BBC6D3"/>
                </a:solidFill>
                <a:latin typeface="Arial"/>
              </a:rPr>
              <a:t>An honest future, still</a:t>
            </a:r>
            <a:endParaRPr lang="en-US" sz="1900"/>
          </a:p>
          <a:p>
            <a:pPr algn="l">
              <a:lnSpc>
                <a:spcPts val="2261"/>
              </a:lnSpc>
              <a:spcAft>
                <a:spcPts val="0"/>
              </a:spcAft>
            </a:pPr>
            <a:r>
              <a:rPr lang="en-US" sz="1900" b="0">
                <a:solidFill>
                  <a:srgbClr val="BBC6D3"/>
                </a:solidFill>
                <a:latin typeface="Arial"/>
              </a:rPr>
              <a:t>unwritten.</a:t>
            </a:r>
            <a:endParaRPr lang="en-US" sz="1900"/>
          </a:p>
        </p:txBody>
      </p:sp>
      <p:sp>
        <p:nvSpPr>
          <p:cNvPr id="20"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21" name="11"/>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11</a:t>
            </a:r>
            <a:endParaRPr lang="en-US" sz="10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AUDIENCE AND CREATIVE POSITIONING"/>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AUDIENCE AND CREATIVE POSITIONING</a:t>
            </a:r>
            <a:endParaRPr lang="en-US" sz="1100"/>
          </a:p>
        </p:txBody>
      </p:sp>
      <p:sp>
        <p:nvSpPr>
          <p:cNvPr id="3" name="A familiar romantic engine. A specific new world."/>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A familiar romantic engine. A specific new world.</a:t>
            </a:r>
            <a:endParaRPr lang="en-US" sz="3700"/>
          </a:p>
        </p:txBody>
      </p:sp>
      <p:sp>
        <p:nvSpPr>
          <p:cNvPr id="4" name="Shape"/>
          <p:cNvSpPr txBox="0"/>
          <p:nvPr/>
        </p:nvSpPr>
        <p:spPr>
          <a:xfrm>
            <a:off x="594360" y="2057400"/>
            <a:ext cx="5303520" cy="1645920"/>
          </a:xfrm>
          <a:prstGeom prst="rect">
            <a:avLst/>
          </a:prstGeom>
          <a:solidFill>
            <a:srgbClr val="1C3048"/>
          </a:solidFill>
          <a:ln>
            <a:noFill/>
          </a:ln>
        </p:spPr>
      </p:sp>
      <p:sp>
        <p:nvSpPr>
          <p:cNvPr id="5" name="LONG SHOT"/>
          <p:cNvSpPr txBox="1"/>
          <p:nvPr/>
        </p:nvSpPr>
        <p:spPr>
          <a:xfrm>
            <a:off x="822960" y="2240280"/>
            <a:ext cx="4846320" cy="411480"/>
          </a:xfrm>
          <a:prstGeom prst="rect">
            <a:avLst/>
          </a:prstGeom>
          <a:noFill/>
          <a:ln>
            <a:noFill/>
          </a:ln>
        </p:spPr>
        <p:txBody>
          <a:bodyPr wrap="none" lIns="0" tIns="0" rIns="0" bIns="0" anchor="t">
            <a:noAutofit/>
          </a:bodyPr>
          <a:lstStyle/>
          <a:p>
            <a:pPr algn="l">
              <a:lnSpc>
                <a:spcPts val="2261"/>
              </a:lnSpc>
              <a:spcAft>
                <a:spcPts val="0"/>
              </a:spcAft>
            </a:pPr>
            <a:r>
              <a:rPr lang="en-US" sz="1900" b="1">
                <a:solidFill>
                  <a:srgbClr val="DDB567"/>
                </a:solidFill>
                <a:latin typeface="Arial"/>
              </a:rPr>
              <a:t>LONG SHOT</a:t>
            </a:r>
            <a:endParaRPr lang="en-US" sz="1900"/>
          </a:p>
        </p:txBody>
      </p:sp>
      <p:sp>
        <p:nvSpPr>
          <p:cNvPr id="6" name="Political friction and romantic-comedy momentum."/>
          <p:cNvSpPr txBox="1"/>
          <p:nvPr/>
        </p:nvSpPr>
        <p:spPr>
          <a:xfrm>
            <a:off x="822960" y="2834640"/>
            <a:ext cx="4846320" cy="73152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FFFFFF"/>
                </a:solidFill>
                <a:latin typeface="Arial"/>
              </a:rPr>
              <a:t>Political friction and romantic-comedy</a:t>
            </a:r>
            <a:endParaRPr lang="en-US" sz="1800"/>
          </a:p>
          <a:p>
            <a:pPr algn="l">
              <a:lnSpc>
                <a:spcPts val="2142"/>
              </a:lnSpc>
              <a:spcAft>
                <a:spcPts val="0"/>
              </a:spcAft>
            </a:pPr>
            <a:r>
              <a:rPr lang="en-US" sz="1800" b="0">
                <a:solidFill>
                  <a:srgbClr val="FFFFFF"/>
                </a:solidFill>
                <a:latin typeface="Arial"/>
              </a:rPr>
              <a:t>momentum.</a:t>
            </a:r>
            <a:endParaRPr lang="en-US" sz="1800"/>
          </a:p>
        </p:txBody>
      </p:sp>
      <p:sp>
        <p:nvSpPr>
          <p:cNvPr id="7" name="Shape"/>
          <p:cNvSpPr txBox="0"/>
          <p:nvPr/>
        </p:nvSpPr>
        <p:spPr>
          <a:xfrm>
            <a:off x="6263640" y="2057400"/>
            <a:ext cx="5303520" cy="1645920"/>
          </a:xfrm>
          <a:prstGeom prst="rect">
            <a:avLst/>
          </a:prstGeom>
          <a:solidFill>
            <a:srgbClr val="1C3048"/>
          </a:solidFill>
          <a:ln>
            <a:noFill/>
          </a:ln>
        </p:spPr>
      </p:sp>
      <p:sp>
        <p:nvSpPr>
          <p:cNvPr id="8" name="RED, WHITE &amp; ROYAL BLUE"/>
          <p:cNvSpPr txBox="1"/>
          <p:nvPr/>
        </p:nvSpPr>
        <p:spPr>
          <a:xfrm>
            <a:off x="6492240" y="2240280"/>
            <a:ext cx="4846320" cy="411480"/>
          </a:xfrm>
          <a:prstGeom prst="rect">
            <a:avLst/>
          </a:prstGeom>
          <a:noFill/>
          <a:ln>
            <a:noFill/>
          </a:ln>
        </p:spPr>
        <p:txBody>
          <a:bodyPr wrap="none" lIns="0" tIns="0" rIns="0" bIns="0" anchor="t">
            <a:noAutofit/>
          </a:bodyPr>
          <a:lstStyle/>
          <a:p>
            <a:pPr algn="l">
              <a:lnSpc>
                <a:spcPts val="2261"/>
              </a:lnSpc>
              <a:spcAft>
                <a:spcPts val="0"/>
              </a:spcAft>
            </a:pPr>
            <a:r>
              <a:rPr lang="en-US" sz="1900" b="1">
                <a:solidFill>
                  <a:srgbClr val="DDB567"/>
                </a:solidFill>
                <a:latin typeface="Arial"/>
              </a:rPr>
              <a:t>RED, WHITE &amp; ROYAL BLUE</a:t>
            </a:r>
            <a:endParaRPr lang="en-US" sz="1900"/>
          </a:p>
        </p:txBody>
      </p:sp>
      <p:sp>
        <p:nvSpPr>
          <p:cNvPr id="9" name="Public duty colliding with private desire."/>
          <p:cNvSpPr txBox="1"/>
          <p:nvPr/>
        </p:nvSpPr>
        <p:spPr>
          <a:xfrm>
            <a:off x="6492240" y="2834640"/>
            <a:ext cx="4846320" cy="73152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FFFFFF"/>
                </a:solidFill>
                <a:latin typeface="Arial"/>
              </a:rPr>
              <a:t>Public duty colliding with private desire.</a:t>
            </a:r>
            <a:endParaRPr lang="en-US" sz="1800"/>
          </a:p>
        </p:txBody>
      </p:sp>
      <p:sp>
        <p:nvSpPr>
          <p:cNvPr id="10" name="Shape"/>
          <p:cNvSpPr txBox="0"/>
          <p:nvPr/>
        </p:nvSpPr>
        <p:spPr>
          <a:xfrm>
            <a:off x="594360" y="4023360"/>
            <a:ext cx="5303520" cy="1645920"/>
          </a:xfrm>
          <a:prstGeom prst="rect">
            <a:avLst/>
          </a:prstGeom>
          <a:solidFill>
            <a:srgbClr val="1C3048"/>
          </a:solidFill>
          <a:ln>
            <a:noFill/>
          </a:ln>
        </p:spPr>
      </p:sp>
      <p:sp>
        <p:nvSpPr>
          <p:cNvPr id="11" name="INSECURE"/>
          <p:cNvSpPr txBox="1"/>
          <p:nvPr/>
        </p:nvSpPr>
        <p:spPr>
          <a:xfrm>
            <a:off x="822960" y="4206240"/>
            <a:ext cx="4846320" cy="411480"/>
          </a:xfrm>
          <a:prstGeom prst="rect">
            <a:avLst/>
          </a:prstGeom>
          <a:noFill/>
          <a:ln>
            <a:noFill/>
          </a:ln>
        </p:spPr>
        <p:txBody>
          <a:bodyPr wrap="none" lIns="0" tIns="0" rIns="0" bIns="0" anchor="t">
            <a:noAutofit/>
          </a:bodyPr>
          <a:lstStyle/>
          <a:p>
            <a:pPr algn="l">
              <a:lnSpc>
                <a:spcPts val="2261"/>
              </a:lnSpc>
              <a:spcAft>
                <a:spcPts val="0"/>
              </a:spcAft>
            </a:pPr>
            <a:r>
              <a:rPr lang="en-US" sz="1900" b="1">
                <a:solidFill>
                  <a:srgbClr val="DDB567"/>
                </a:solidFill>
                <a:latin typeface="Arial"/>
              </a:rPr>
              <a:t>INSECURE</a:t>
            </a:r>
            <a:endParaRPr lang="en-US" sz="1900"/>
          </a:p>
        </p:txBody>
      </p:sp>
      <p:sp>
        <p:nvSpPr>
          <p:cNvPr id="12" name="The emotional register of Black ambition, intimacy, and vulnerability."/>
          <p:cNvSpPr txBox="1"/>
          <p:nvPr/>
        </p:nvSpPr>
        <p:spPr>
          <a:xfrm>
            <a:off x="822960" y="4800600"/>
            <a:ext cx="4846320" cy="73152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FFFFFF"/>
                </a:solidFill>
                <a:latin typeface="Arial"/>
              </a:rPr>
              <a:t>The emotional register of Black ambition,</a:t>
            </a:r>
            <a:endParaRPr lang="en-US" sz="1800"/>
          </a:p>
          <a:p>
            <a:pPr algn="l">
              <a:lnSpc>
                <a:spcPts val="2142"/>
              </a:lnSpc>
              <a:spcAft>
                <a:spcPts val="0"/>
              </a:spcAft>
            </a:pPr>
            <a:r>
              <a:rPr lang="en-US" sz="1800" b="0">
                <a:solidFill>
                  <a:srgbClr val="FFFFFF"/>
                </a:solidFill>
                <a:latin typeface="Arial"/>
              </a:rPr>
              <a:t>intimacy, and vulnerability.</a:t>
            </a:r>
            <a:endParaRPr lang="en-US" sz="1800"/>
          </a:p>
        </p:txBody>
      </p:sp>
      <p:sp>
        <p:nvSpPr>
          <p:cNvPr id="13" name="Shape"/>
          <p:cNvSpPr txBox="0"/>
          <p:nvPr/>
        </p:nvSpPr>
        <p:spPr>
          <a:xfrm>
            <a:off x="6263640" y="4023360"/>
            <a:ext cx="5303520" cy="1645920"/>
          </a:xfrm>
          <a:prstGeom prst="rect">
            <a:avLst/>
          </a:prstGeom>
          <a:solidFill>
            <a:srgbClr val="1C3048"/>
          </a:solidFill>
          <a:ln>
            <a:noFill/>
          </a:ln>
        </p:spPr>
      </p:sp>
      <p:sp>
        <p:nvSpPr>
          <p:cNvPr id="14" name="VEEP"/>
          <p:cNvSpPr txBox="1"/>
          <p:nvPr/>
        </p:nvSpPr>
        <p:spPr>
          <a:xfrm>
            <a:off x="6492240" y="4206240"/>
            <a:ext cx="4846320" cy="411480"/>
          </a:xfrm>
          <a:prstGeom prst="rect">
            <a:avLst/>
          </a:prstGeom>
          <a:noFill/>
          <a:ln>
            <a:noFill/>
          </a:ln>
        </p:spPr>
        <p:txBody>
          <a:bodyPr wrap="none" lIns="0" tIns="0" rIns="0" bIns="0" anchor="t">
            <a:noAutofit/>
          </a:bodyPr>
          <a:lstStyle/>
          <a:p>
            <a:pPr algn="l">
              <a:lnSpc>
                <a:spcPts val="2261"/>
              </a:lnSpc>
              <a:spcAft>
                <a:spcPts val="0"/>
              </a:spcAft>
            </a:pPr>
            <a:r>
              <a:rPr lang="en-US" sz="1900" b="1">
                <a:solidFill>
                  <a:srgbClr val="DDB567"/>
                </a:solidFill>
                <a:latin typeface="Arial"/>
              </a:rPr>
              <a:t>VEEP</a:t>
            </a:r>
            <a:endParaRPr lang="en-US" sz="1900"/>
          </a:p>
        </p:txBody>
      </p:sp>
      <p:sp>
        <p:nvSpPr>
          <p:cNvPr id="15" name="The language, pressure, and absurdity of the political machine."/>
          <p:cNvSpPr txBox="1"/>
          <p:nvPr/>
        </p:nvSpPr>
        <p:spPr>
          <a:xfrm>
            <a:off x="6492240" y="4800600"/>
            <a:ext cx="4846320" cy="73152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FFFFFF"/>
                </a:solidFill>
                <a:latin typeface="Arial"/>
              </a:rPr>
              <a:t>The language, pressure, and absurdity of the</a:t>
            </a:r>
            <a:endParaRPr lang="en-US" sz="1800"/>
          </a:p>
          <a:p>
            <a:pPr algn="l">
              <a:lnSpc>
                <a:spcPts val="2142"/>
              </a:lnSpc>
              <a:spcAft>
                <a:spcPts val="0"/>
              </a:spcAft>
            </a:pPr>
            <a:r>
              <a:rPr lang="en-US" sz="1800" b="0">
                <a:solidFill>
                  <a:srgbClr val="FFFFFF"/>
                </a:solidFill>
                <a:latin typeface="Arial"/>
              </a:rPr>
              <a:t>political machine.</a:t>
            </a:r>
            <a:endParaRPr lang="en-US" sz="1800"/>
          </a:p>
        </p:txBody>
      </p:sp>
      <p:sp>
        <p:nvSpPr>
          <p:cNvPr id="16" name="For viewers who want chemistry, sharp comedy, and emotional consequences."/>
          <p:cNvSpPr txBox="1"/>
          <p:nvPr/>
        </p:nvSpPr>
        <p:spPr>
          <a:xfrm>
            <a:off x="594360" y="5943600"/>
            <a:ext cx="10972800" cy="36576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FFFFFF"/>
                </a:solidFill>
                <a:latin typeface="Arial"/>
              </a:rPr>
              <a:t>For viewers who want chemistry, sharp comedy, and emotional consequences.</a:t>
            </a:r>
            <a:endParaRPr lang="en-US" sz="1800"/>
          </a:p>
        </p:txBody>
      </p:sp>
      <p:sp>
        <p:nvSpPr>
          <p:cNvPr id="17"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8" name="12"/>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12</a:t>
            </a:r>
            <a:endParaRPr lang="en-US" sz="10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CASTING VISION"/>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CASTING VISION</a:t>
            </a:r>
            <a:endParaRPr lang="en-US" sz="1100"/>
          </a:p>
        </p:txBody>
      </p:sp>
      <p:sp>
        <p:nvSpPr>
          <p:cNvPr id="3" name="Two leads who can win the argument and hold the silence."/>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106"/>
              </a:lnSpc>
              <a:spcAft>
                <a:spcPts val="0"/>
              </a:spcAft>
            </a:pPr>
            <a:r>
              <a:rPr lang="en-US" sz="3450" b="0">
                <a:solidFill>
                  <a:srgbClr val="FFFFFF"/>
                </a:solidFill>
                <a:latin typeface="Cambria"/>
              </a:rPr>
              <a:t>Two leads who can win the argument and hold the silence.</a:t>
            </a:r>
            <a:endParaRPr lang="en-US" sz="3450"/>
          </a:p>
        </p:txBody>
      </p:sp>
      <p:sp>
        <p:nvSpPr>
          <p:cNvPr id="4" name="Shape"/>
          <p:cNvSpPr txBox="0"/>
          <p:nvPr/>
        </p:nvSpPr>
        <p:spPr>
          <a:xfrm>
            <a:off x="594360" y="2103120"/>
            <a:ext cx="5303520" cy="3383280"/>
          </a:xfrm>
          <a:prstGeom prst="rect">
            <a:avLst/>
          </a:prstGeom>
          <a:solidFill>
            <a:srgbClr val="B93442"/>
          </a:solidFill>
          <a:ln>
            <a:noFill/>
          </a:ln>
        </p:spPr>
      </p:sp>
      <p:sp>
        <p:nvSpPr>
          <p:cNvPr id="5" name="DREAM PAIRING"/>
          <p:cNvSpPr txBox="1"/>
          <p:nvPr/>
        </p:nvSpPr>
        <p:spPr>
          <a:xfrm>
            <a:off x="822960" y="2313432"/>
            <a:ext cx="4846320" cy="54864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DREAM PAIRING</a:t>
            </a:r>
            <a:endParaRPr lang="en-US" sz="2200"/>
          </a:p>
        </p:txBody>
      </p:sp>
      <p:sp>
        <p:nvSpPr>
          <p:cNvPr id="6" name="Ayo Edebiri as Alex Chase Regé-Jean Page as Marcus Thorne  Precision comedy meet"/>
          <p:cNvSpPr txBox="1"/>
          <p:nvPr/>
        </p:nvSpPr>
        <p:spPr>
          <a:xfrm>
            <a:off x="822960" y="3017520"/>
            <a:ext cx="4846320" cy="228600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BBC6D3"/>
                </a:solidFill>
                <a:latin typeface="Arial"/>
              </a:rPr>
              <a:t>Ayo Edebiri as Alex Chase</a:t>
            </a:r>
            <a:endParaRPr lang="en-US" sz="1800"/>
          </a:p>
          <a:p>
            <a:pPr algn="l">
              <a:lnSpc>
                <a:spcPts val="2142"/>
              </a:lnSpc>
              <a:spcAft>
                <a:spcPts val="0"/>
              </a:spcAft>
            </a:pPr>
            <a:r>
              <a:rPr lang="en-US" sz="1800" b="0">
                <a:solidFill>
                  <a:srgbClr val="BBC6D3"/>
                </a:solidFill>
                <a:latin typeface="Arial"/>
              </a:rPr>
              <a:t>Regé-Jean Page as Marcus Thorne</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Precision comedy meets a polished romantic</a:t>
            </a:r>
            <a:endParaRPr lang="en-US" sz="1800"/>
          </a:p>
          <a:p>
            <a:pPr algn="l">
              <a:lnSpc>
                <a:spcPts val="2142"/>
              </a:lnSpc>
              <a:spcAft>
                <a:spcPts val="0"/>
              </a:spcAft>
            </a:pPr>
            <a:r>
              <a:rPr lang="en-US" sz="1800" b="0">
                <a:solidFill>
                  <a:srgbClr val="BBC6D3"/>
                </a:solidFill>
                <a:latin typeface="Arial"/>
              </a:rPr>
              <a:t>lead.</a:t>
            </a:r>
            <a:endParaRPr lang="en-US" sz="1800"/>
          </a:p>
        </p:txBody>
      </p:sp>
      <p:sp>
        <p:nvSpPr>
          <p:cNvPr id="7" name="Shape"/>
          <p:cNvSpPr txBox="0"/>
          <p:nvPr/>
        </p:nvSpPr>
        <p:spPr>
          <a:xfrm>
            <a:off x="6263640" y="2103120"/>
            <a:ext cx="5303520" cy="3383280"/>
          </a:xfrm>
          <a:prstGeom prst="rect">
            <a:avLst/>
          </a:prstGeom>
          <a:solidFill>
            <a:srgbClr val="1C3048"/>
          </a:solidFill>
          <a:ln>
            <a:noFill/>
          </a:ln>
        </p:spPr>
      </p:sp>
      <p:sp>
        <p:nvSpPr>
          <p:cNvPr id="8" name="ALTERNATE PAIRING"/>
          <p:cNvSpPr txBox="1"/>
          <p:nvPr/>
        </p:nvSpPr>
        <p:spPr>
          <a:xfrm>
            <a:off x="6492240" y="2313432"/>
            <a:ext cx="4846320" cy="548640"/>
          </a:xfrm>
          <a:prstGeom prst="rect">
            <a:avLst/>
          </a:prstGeom>
          <a:noFill/>
          <a:ln>
            <a:noFill/>
          </a:ln>
        </p:spPr>
        <p:txBody>
          <a:bodyPr wrap="none" lIns="0" tIns="0" rIns="0" bIns="0" anchor="t">
            <a:noAutofit/>
          </a:bodyPr>
          <a:lstStyle/>
          <a:p>
            <a:pPr algn="l">
              <a:lnSpc>
                <a:spcPts val="2618"/>
              </a:lnSpc>
              <a:spcAft>
                <a:spcPts val="0"/>
              </a:spcAft>
            </a:pPr>
            <a:r>
              <a:rPr lang="en-US" sz="2200" b="1">
                <a:solidFill>
                  <a:srgbClr val="FFFFFF"/>
                </a:solidFill>
                <a:latin typeface="Arial"/>
              </a:rPr>
              <a:t>ALTERNATE PAIRING</a:t>
            </a:r>
            <a:endParaRPr lang="en-US" sz="2200"/>
          </a:p>
        </p:txBody>
      </p:sp>
      <p:sp>
        <p:nvSpPr>
          <p:cNvPr id="9" name="Keke Palmer as Alex Chase Damson Idris as Marcus Thorne  Rapid-fire energy and a"/>
          <p:cNvSpPr txBox="1"/>
          <p:nvPr/>
        </p:nvSpPr>
        <p:spPr>
          <a:xfrm>
            <a:off x="6492240" y="3017520"/>
            <a:ext cx="4846320" cy="228600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BBC6D3"/>
                </a:solidFill>
                <a:latin typeface="Arial"/>
              </a:rPr>
              <a:t>Keke Palmer as Alex Chase</a:t>
            </a:r>
            <a:endParaRPr lang="en-US" sz="1800"/>
          </a:p>
          <a:p>
            <a:pPr algn="l">
              <a:lnSpc>
                <a:spcPts val="2142"/>
              </a:lnSpc>
              <a:spcAft>
                <a:spcPts val="0"/>
              </a:spcAft>
            </a:pPr>
            <a:r>
              <a:rPr lang="en-US" sz="1800" b="0">
                <a:solidFill>
                  <a:srgbClr val="BBC6D3"/>
                </a:solidFill>
                <a:latin typeface="Arial"/>
              </a:rPr>
              <a:t>Damson Idris as Marcus Thorne</a:t>
            </a:r>
            <a:endParaRPr lang="en-US" sz="1800"/>
          </a:p>
          <a:p>
            <a:pPr algn="l">
              <a:lnSpc>
                <a:spcPts val="2142"/>
              </a:lnSpc>
              <a:spcAft>
                <a:spcPts val="0"/>
              </a:spcAft>
            </a:pPr>
            <a:r>
              <a:rPr lang="en-US" sz="1800" b="0">
                <a:solidFill>
                  <a:srgbClr val="BBC6D3"/>
                </a:solidFill>
                <a:latin typeface="Arial"/>
              </a:rPr>
              <a:t/>
            </a:r>
            <a:endParaRPr lang="en-US" sz="1800"/>
          </a:p>
          <a:p>
            <a:pPr algn="l">
              <a:lnSpc>
                <a:spcPts val="2142"/>
              </a:lnSpc>
              <a:spcAft>
                <a:spcPts val="0"/>
              </a:spcAft>
            </a:pPr>
            <a:r>
              <a:rPr lang="en-US" sz="1800" b="0">
                <a:solidFill>
                  <a:srgbClr val="BBC6D3"/>
                </a:solidFill>
                <a:latin typeface="Arial"/>
              </a:rPr>
              <a:t>Rapid-fire energy and a more combustible</a:t>
            </a:r>
            <a:endParaRPr lang="en-US" sz="1800"/>
          </a:p>
          <a:p>
            <a:pPr algn="l">
              <a:lnSpc>
                <a:spcPts val="2142"/>
              </a:lnSpc>
              <a:spcAft>
                <a:spcPts val="0"/>
              </a:spcAft>
            </a:pPr>
            <a:r>
              <a:rPr lang="en-US" sz="1800" b="0">
                <a:solidFill>
                  <a:srgbClr val="BBC6D3"/>
                </a:solidFill>
                <a:latin typeface="Arial"/>
              </a:rPr>
              <a:t>rivalry.</a:t>
            </a:r>
            <a:endParaRPr lang="en-US" sz="1800"/>
          </a:p>
        </p:txBody>
      </p:sp>
      <p:sp>
        <p:nvSpPr>
          <p:cNvPr id="10" name="Additional lead options: Zazie Beetz / Corey Hawkins"/>
          <p:cNvSpPr txBox="1"/>
          <p:nvPr/>
        </p:nvSpPr>
        <p:spPr>
          <a:xfrm>
            <a:off x="594360" y="5760720"/>
            <a:ext cx="10972800" cy="365760"/>
          </a:xfrm>
          <a:prstGeom prst="rect">
            <a:avLst/>
          </a:prstGeom>
          <a:noFill/>
          <a:ln>
            <a:noFill/>
          </a:ln>
        </p:spPr>
        <p:txBody>
          <a:bodyPr wrap="none" lIns="0" tIns="0" rIns="0" bIns="0" anchor="t">
            <a:noAutofit/>
          </a:bodyPr>
          <a:lstStyle/>
          <a:p>
            <a:pPr algn="l">
              <a:lnSpc>
                <a:spcPts val="2023"/>
              </a:lnSpc>
              <a:spcAft>
                <a:spcPts val="0"/>
              </a:spcAft>
            </a:pPr>
            <a:r>
              <a:rPr lang="en-US" sz="1700" b="0">
                <a:solidFill>
                  <a:srgbClr val="BBC6D3"/>
                </a:solidFill>
                <a:latin typeface="Arial"/>
              </a:rPr>
              <a:t>Additional lead options: Zazie Beetz / Corey Hawkins</a:t>
            </a:r>
            <a:endParaRPr lang="en-US" sz="1700"/>
          </a:p>
        </p:txBody>
      </p:sp>
      <p:sp>
        <p:nvSpPr>
          <p:cNvPr id="11" name="Casting wish list only. No talent attached or availability confirmed."/>
          <p:cNvSpPr txBox="1"/>
          <p:nvPr/>
        </p:nvSpPr>
        <p:spPr>
          <a:xfrm>
            <a:off x="594360" y="6217920"/>
            <a:ext cx="10972800" cy="274320"/>
          </a:xfrm>
          <a:prstGeom prst="rect">
            <a:avLst/>
          </a:prstGeom>
          <a:noFill/>
          <a:ln>
            <a:noFill/>
          </a:ln>
        </p:spPr>
        <p:txBody>
          <a:bodyPr wrap="none" lIns="0" tIns="0" rIns="0" bIns="0" anchor="t">
            <a:noAutofit/>
          </a:bodyPr>
          <a:lstStyle/>
          <a:p>
            <a:pPr algn="l">
              <a:lnSpc>
                <a:spcPts val="1428"/>
              </a:lnSpc>
              <a:spcAft>
                <a:spcPts val="0"/>
              </a:spcAft>
            </a:pPr>
            <a:r>
              <a:rPr lang="en-US" sz="1200" b="0">
                <a:solidFill>
                  <a:srgbClr val="DDB567"/>
                </a:solidFill>
                <a:latin typeface="Arial"/>
              </a:rPr>
              <a:t>Casting wish list only. No talent attached or availability confirmed.</a:t>
            </a:r>
            <a:endParaRPr lang="en-US" sz="12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SUPPORTING CAST WISH LIST"/>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SUPPORTING CAST WISH LIST</a:t>
            </a:r>
            <a:endParaRPr lang="en-US" sz="1100"/>
          </a:p>
        </p:txBody>
      </p:sp>
      <p:sp>
        <p:nvSpPr>
          <p:cNvPr id="3" name="An ensemble with authority, wit, and warmth."/>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An ensemble with authority, wit, and warmth.</a:t>
            </a:r>
            <a:endParaRPr lang="en-US" sz="3700"/>
          </a:p>
        </p:txBody>
      </p:sp>
      <p:sp>
        <p:nvSpPr>
          <p:cNvPr id="4" name="Shape"/>
          <p:cNvSpPr txBox="0"/>
          <p:nvPr/>
        </p:nvSpPr>
        <p:spPr>
          <a:xfrm>
            <a:off x="594360" y="2011680"/>
            <a:ext cx="10972800" cy="448056"/>
          </a:xfrm>
          <a:prstGeom prst="rect">
            <a:avLst/>
          </a:prstGeom>
          <a:solidFill>
            <a:srgbClr val="1C3048"/>
          </a:solidFill>
          <a:ln>
            <a:noFill/>
          </a:ln>
        </p:spPr>
      </p:sp>
      <p:sp>
        <p:nvSpPr>
          <p:cNvPr id="5" name="Calvin Thorne"/>
          <p:cNvSpPr txBox="1"/>
          <p:nvPr/>
        </p:nvSpPr>
        <p:spPr>
          <a:xfrm>
            <a:off x="822960" y="2075688"/>
            <a:ext cx="4572000" cy="292608"/>
          </a:xfrm>
          <a:prstGeom prst="rect">
            <a:avLst/>
          </a:prstGeom>
          <a:noFill/>
          <a:ln>
            <a:noFill/>
          </a:ln>
        </p:spPr>
        <p:txBody>
          <a:bodyPr wrap="none" lIns="0" tIns="0" rIns="0" bIns="0" anchor="t">
            <a:noAutofit/>
          </a:bodyPr>
          <a:lstStyle/>
          <a:p>
            <a:pPr algn="l">
              <a:lnSpc>
                <a:spcPts val="2023"/>
              </a:lnSpc>
              <a:spcAft>
                <a:spcPts val="0"/>
              </a:spcAft>
            </a:pPr>
            <a:r>
              <a:rPr lang="en-US" sz="1700" b="0">
                <a:solidFill>
                  <a:srgbClr val="BBC6D3"/>
                </a:solidFill>
                <a:latin typeface="Arial"/>
              </a:rPr>
              <a:t>Calvin Thorne</a:t>
            </a:r>
            <a:endParaRPr lang="en-US" sz="1700"/>
          </a:p>
        </p:txBody>
      </p:sp>
      <p:sp>
        <p:nvSpPr>
          <p:cNvPr id="6" name="Courtney B. Vance"/>
          <p:cNvSpPr txBox="1"/>
          <p:nvPr/>
        </p:nvSpPr>
        <p:spPr>
          <a:xfrm>
            <a:off x="6263640" y="2075688"/>
            <a:ext cx="4937760" cy="292608"/>
          </a:xfrm>
          <a:prstGeom prst="rect">
            <a:avLst/>
          </a:prstGeom>
          <a:noFill/>
          <a:ln>
            <a:noFill/>
          </a:ln>
        </p:spPr>
        <p:txBody>
          <a:bodyPr wrap="none" lIns="0" tIns="0" rIns="0" bIns="0" anchor="t">
            <a:noAutofit/>
          </a:bodyPr>
          <a:lstStyle/>
          <a:p>
            <a:pPr algn="l">
              <a:lnSpc>
                <a:spcPts val="2023"/>
              </a:lnSpc>
              <a:spcAft>
                <a:spcPts val="0"/>
              </a:spcAft>
            </a:pPr>
            <a:r>
              <a:rPr lang="en-US" sz="1700" b="1">
                <a:solidFill>
                  <a:srgbClr val="FFFFFF"/>
                </a:solidFill>
                <a:latin typeface="Arial"/>
              </a:rPr>
              <a:t>Courtney B. Vance</a:t>
            </a:r>
            <a:endParaRPr lang="en-US" sz="1700"/>
          </a:p>
        </p:txBody>
      </p:sp>
      <p:sp>
        <p:nvSpPr>
          <p:cNvPr id="7" name="Shape"/>
          <p:cNvSpPr txBox="0"/>
          <p:nvPr/>
        </p:nvSpPr>
        <p:spPr>
          <a:xfrm>
            <a:off x="594360" y="2532888"/>
            <a:ext cx="10972800" cy="448056"/>
          </a:xfrm>
          <a:prstGeom prst="rect">
            <a:avLst/>
          </a:prstGeom>
          <a:solidFill>
            <a:srgbClr val="101F33"/>
          </a:solidFill>
          <a:ln>
            <a:noFill/>
          </a:ln>
        </p:spPr>
      </p:sp>
      <p:sp>
        <p:nvSpPr>
          <p:cNvPr id="8" name="Vivian Thorne"/>
          <p:cNvSpPr txBox="1"/>
          <p:nvPr/>
        </p:nvSpPr>
        <p:spPr>
          <a:xfrm>
            <a:off x="822960" y="2596896"/>
            <a:ext cx="4572000" cy="292608"/>
          </a:xfrm>
          <a:prstGeom prst="rect">
            <a:avLst/>
          </a:prstGeom>
          <a:noFill/>
          <a:ln>
            <a:noFill/>
          </a:ln>
        </p:spPr>
        <p:txBody>
          <a:bodyPr wrap="none" lIns="0" tIns="0" rIns="0" bIns="0" anchor="t">
            <a:noAutofit/>
          </a:bodyPr>
          <a:lstStyle/>
          <a:p>
            <a:pPr algn="l">
              <a:lnSpc>
                <a:spcPts val="2023"/>
              </a:lnSpc>
              <a:spcAft>
                <a:spcPts val="0"/>
              </a:spcAft>
            </a:pPr>
            <a:r>
              <a:rPr lang="en-US" sz="1700" b="0">
                <a:solidFill>
                  <a:srgbClr val="BBC6D3"/>
                </a:solidFill>
                <a:latin typeface="Arial"/>
              </a:rPr>
              <a:t>Vivian Thorne</a:t>
            </a:r>
            <a:endParaRPr lang="en-US" sz="1700"/>
          </a:p>
        </p:txBody>
      </p:sp>
      <p:sp>
        <p:nvSpPr>
          <p:cNvPr id="9" name="Angela Bassett"/>
          <p:cNvSpPr txBox="1"/>
          <p:nvPr/>
        </p:nvSpPr>
        <p:spPr>
          <a:xfrm>
            <a:off x="6263640" y="2596896"/>
            <a:ext cx="4937760" cy="292608"/>
          </a:xfrm>
          <a:prstGeom prst="rect">
            <a:avLst/>
          </a:prstGeom>
          <a:noFill/>
          <a:ln>
            <a:noFill/>
          </a:ln>
        </p:spPr>
        <p:txBody>
          <a:bodyPr wrap="none" lIns="0" tIns="0" rIns="0" bIns="0" anchor="t">
            <a:noAutofit/>
          </a:bodyPr>
          <a:lstStyle/>
          <a:p>
            <a:pPr algn="l">
              <a:lnSpc>
                <a:spcPts val="2023"/>
              </a:lnSpc>
              <a:spcAft>
                <a:spcPts val="0"/>
              </a:spcAft>
            </a:pPr>
            <a:r>
              <a:rPr lang="en-US" sz="1700" b="1">
                <a:solidFill>
                  <a:srgbClr val="FFFFFF"/>
                </a:solidFill>
                <a:latin typeface="Arial"/>
              </a:rPr>
              <a:t>Angela Bassett</a:t>
            </a:r>
            <a:endParaRPr lang="en-US" sz="1700"/>
          </a:p>
        </p:txBody>
      </p:sp>
      <p:sp>
        <p:nvSpPr>
          <p:cNvPr id="10" name="Shape"/>
          <p:cNvSpPr txBox="0"/>
          <p:nvPr/>
        </p:nvSpPr>
        <p:spPr>
          <a:xfrm>
            <a:off x="594360" y="3054096"/>
            <a:ext cx="10972800" cy="448056"/>
          </a:xfrm>
          <a:prstGeom prst="rect">
            <a:avLst/>
          </a:prstGeom>
          <a:solidFill>
            <a:srgbClr val="1C3048"/>
          </a:solidFill>
          <a:ln>
            <a:noFill/>
          </a:ln>
        </p:spPr>
      </p:sp>
      <p:sp>
        <p:nvSpPr>
          <p:cNvPr id="11" name="Rose Chase"/>
          <p:cNvSpPr txBox="1"/>
          <p:nvPr/>
        </p:nvSpPr>
        <p:spPr>
          <a:xfrm>
            <a:off x="822960" y="3118104"/>
            <a:ext cx="4572000" cy="292608"/>
          </a:xfrm>
          <a:prstGeom prst="rect">
            <a:avLst/>
          </a:prstGeom>
          <a:noFill/>
          <a:ln>
            <a:noFill/>
          </a:ln>
        </p:spPr>
        <p:txBody>
          <a:bodyPr wrap="none" lIns="0" tIns="0" rIns="0" bIns="0" anchor="t">
            <a:noAutofit/>
          </a:bodyPr>
          <a:lstStyle/>
          <a:p>
            <a:pPr algn="l">
              <a:lnSpc>
                <a:spcPts val="2023"/>
              </a:lnSpc>
              <a:spcAft>
                <a:spcPts val="0"/>
              </a:spcAft>
            </a:pPr>
            <a:r>
              <a:rPr lang="en-US" sz="1700" b="0">
                <a:solidFill>
                  <a:srgbClr val="BBC6D3"/>
                </a:solidFill>
                <a:latin typeface="Arial"/>
              </a:rPr>
              <a:t>Rose Chase</a:t>
            </a:r>
            <a:endParaRPr lang="en-US" sz="1700"/>
          </a:p>
        </p:txBody>
      </p:sp>
      <p:sp>
        <p:nvSpPr>
          <p:cNvPr id="12" name="Niecy Nash-Betts"/>
          <p:cNvSpPr txBox="1"/>
          <p:nvPr/>
        </p:nvSpPr>
        <p:spPr>
          <a:xfrm>
            <a:off x="6263640" y="3118104"/>
            <a:ext cx="4937760" cy="292608"/>
          </a:xfrm>
          <a:prstGeom prst="rect">
            <a:avLst/>
          </a:prstGeom>
          <a:noFill/>
          <a:ln>
            <a:noFill/>
          </a:ln>
        </p:spPr>
        <p:txBody>
          <a:bodyPr wrap="none" lIns="0" tIns="0" rIns="0" bIns="0" anchor="t">
            <a:noAutofit/>
          </a:bodyPr>
          <a:lstStyle/>
          <a:p>
            <a:pPr algn="l">
              <a:lnSpc>
                <a:spcPts val="2023"/>
              </a:lnSpc>
              <a:spcAft>
                <a:spcPts val="0"/>
              </a:spcAft>
            </a:pPr>
            <a:r>
              <a:rPr lang="en-US" sz="1700" b="1">
                <a:solidFill>
                  <a:srgbClr val="FFFFFF"/>
                </a:solidFill>
                <a:latin typeface="Arial"/>
              </a:rPr>
              <a:t>Niecy Nash-Betts</a:t>
            </a:r>
            <a:endParaRPr lang="en-US" sz="1700"/>
          </a:p>
        </p:txBody>
      </p:sp>
      <p:sp>
        <p:nvSpPr>
          <p:cNvPr id="13" name="Shape"/>
          <p:cNvSpPr txBox="0"/>
          <p:nvPr/>
        </p:nvSpPr>
        <p:spPr>
          <a:xfrm>
            <a:off x="594360" y="3575304"/>
            <a:ext cx="10972800" cy="448056"/>
          </a:xfrm>
          <a:prstGeom prst="rect">
            <a:avLst/>
          </a:prstGeom>
          <a:solidFill>
            <a:srgbClr val="101F33"/>
          </a:solidFill>
          <a:ln>
            <a:noFill/>
          </a:ln>
        </p:spPr>
      </p:sp>
      <p:sp>
        <p:nvSpPr>
          <p:cNvPr id="14" name="Mother Pearl Chase"/>
          <p:cNvSpPr txBox="1"/>
          <p:nvPr/>
        </p:nvSpPr>
        <p:spPr>
          <a:xfrm>
            <a:off x="822960" y="3639312"/>
            <a:ext cx="4572000" cy="292608"/>
          </a:xfrm>
          <a:prstGeom prst="rect">
            <a:avLst/>
          </a:prstGeom>
          <a:noFill/>
          <a:ln>
            <a:noFill/>
          </a:ln>
        </p:spPr>
        <p:txBody>
          <a:bodyPr wrap="none" lIns="0" tIns="0" rIns="0" bIns="0" anchor="t">
            <a:noAutofit/>
          </a:bodyPr>
          <a:lstStyle/>
          <a:p>
            <a:pPr algn="l">
              <a:lnSpc>
                <a:spcPts val="2023"/>
              </a:lnSpc>
              <a:spcAft>
                <a:spcPts val="0"/>
              </a:spcAft>
            </a:pPr>
            <a:r>
              <a:rPr lang="en-US" sz="1700" b="0">
                <a:solidFill>
                  <a:srgbClr val="BBC6D3"/>
                </a:solidFill>
                <a:latin typeface="Arial"/>
              </a:rPr>
              <a:t>Mother Pearl Chase</a:t>
            </a:r>
            <a:endParaRPr lang="en-US" sz="1700"/>
          </a:p>
        </p:txBody>
      </p:sp>
      <p:sp>
        <p:nvSpPr>
          <p:cNvPr id="15" name="Leslie Uggams"/>
          <p:cNvSpPr txBox="1"/>
          <p:nvPr/>
        </p:nvSpPr>
        <p:spPr>
          <a:xfrm>
            <a:off x="6263640" y="3639312"/>
            <a:ext cx="4937760" cy="292608"/>
          </a:xfrm>
          <a:prstGeom prst="rect">
            <a:avLst/>
          </a:prstGeom>
          <a:noFill/>
          <a:ln>
            <a:noFill/>
          </a:ln>
        </p:spPr>
        <p:txBody>
          <a:bodyPr wrap="none" lIns="0" tIns="0" rIns="0" bIns="0" anchor="t">
            <a:noAutofit/>
          </a:bodyPr>
          <a:lstStyle/>
          <a:p>
            <a:pPr algn="l">
              <a:lnSpc>
                <a:spcPts val="2023"/>
              </a:lnSpc>
              <a:spcAft>
                <a:spcPts val="0"/>
              </a:spcAft>
            </a:pPr>
            <a:r>
              <a:rPr lang="en-US" sz="1700" b="1">
                <a:solidFill>
                  <a:srgbClr val="FFFFFF"/>
                </a:solidFill>
                <a:latin typeface="Arial"/>
              </a:rPr>
              <a:t>Leslie Uggams</a:t>
            </a:r>
            <a:endParaRPr lang="en-US" sz="1700"/>
          </a:p>
        </p:txBody>
      </p:sp>
      <p:sp>
        <p:nvSpPr>
          <p:cNvPr id="16" name="Shape"/>
          <p:cNvSpPr txBox="0"/>
          <p:nvPr/>
        </p:nvSpPr>
        <p:spPr>
          <a:xfrm>
            <a:off x="594360" y="4096512"/>
            <a:ext cx="10972800" cy="448056"/>
          </a:xfrm>
          <a:prstGeom prst="rect">
            <a:avLst/>
          </a:prstGeom>
          <a:solidFill>
            <a:srgbClr val="1C3048"/>
          </a:solidFill>
          <a:ln>
            <a:noFill/>
          </a:ln>
        </p:spPr>
      </p:sp>
      <p:sp>
        <p:nvSpPr>
          <p:cNvPr id="17" name="Dana Whitmore"/>
          <p:cNvSpPr txBox="1"/>
          <p:nvPr/>
        </p:nvSpPr>
        <p:spPr>
          <a:xfrm>
            <a:off x="822960" y="4160520"/>
            <a:ext cx="4572000" cy="292608"/>
          </a:xfrm>
          <a:prstGeom prst="rect">
            <a:avLst/>
          </a:prstGeom>
          <a:noFill/>
          <a:ln>
            <a:noFill/>
          </a:ln>
        </p:spPr>
        <p:txBody>
          <a:bodyPr wrap="none" lIns="0" tIns="0" rIns="0" bIns="0" anchor="t">
            <a:noAutofit/>
          </a:bodyPr>
          <a:lstStyle/>
          <a:p>
            <a:pPr algn="l">
              <a:lnSpc>
                <a:spcPts val="2023"/>
              </a:lnSpc>
              <a:spcAft>
                <a:spcPts val="0"/>
              </a:spcAft>
            </a:pPr>
            <a:r>
              <a:rPr lang="en-US" sz="1700" b="0">
                <a:solidFill>
                  <a:srgbClr val="BBC6D3"/>
                </a:solidFill>
                <a:latin typeface="Arial"/>
              </a:rPr>
              <a:t>Dana Whitmore</a:t>
            </a:r>
            <a:endParaRPr lang="en-US" sz="1700"/>
          </a:p>
        </p:txBody>
      </p:sp>
      <p:sp>
        <p:nvSpPr>
          <p:cNvPr id="18" name="Allison Janney"/>
          <p:cNvSpPr txBox="1"/>
          <p:nvPr/>
        </p:nvSpPr>
        <p:spPr>
          <a:xfrm>
            <a:off x="6263640" y="4160520"/>
            <a:ext cx="4937760" cy="292608"/>
          </a:xfrm>
          <a:prstGeom prst="rect">
            <a:avLst/>
          </a:prstGeom>
          <a:noFill/>
          <a:ln>
            <a:noFill/>
          </a:ln>
        </p:spPr>
        <p:txBody>
          <a:bodyPr wrap="none" lIns="0" tIns="0" rIns="0" bIns="0" anchor="t">
            <a:noAutofit/>
          </a:bodyPr>
          <a:lstStyle/>
          <a:p>
            <a:pPr algn="l">
              <a:lnSpc>
                <a:spcPts val="2023"/>
              </a:lnSpc>
              <a:spcAft>
                <a:spcPts val="0"/>
              </a:spcAft>
            </a:pPr>
            <a:r>
              <a:rPr lang="en-US" sz="1700" b="1">
                <a:solidFill>
                  <a:srgbClr val="FFFFFF"/>
                </a:solidFill>
                <a:latin typeface="Arial"/>
              </a:rPr>
              <a:t>Allison Janney</a:t>
            </a:r>
            <a:endParaRPr lang="en-US" sz="1700"/>
          </a:p>
        </p:txBody>
      </p:sp>
      <p:sp>
        <p:nvSpPr>
          <p:cNvPr id="19" name="Shape"/>
          <p:cNvSpPr txBox="0"/>
          <p:nvPr/>
        </p:nvSpPr>
        <p:spPr>
          <a:xfrm>
            <a:off x="594360" y="4617720"/>
            <a:ext cx="10972800" cy="448056"/>
          </a:xfrm>
          <a:prstGeom prst="rect">
            <a:avLst/>
          </a:prstGeom>
          <a:solidFill>
            <a:srgbClr val="101F33"/>
          </a:solidFill>
          <a:ln>
            <a:noFill/>
          </a:ln>
        </p:spPr>
      </p:sp>
      <p:sp>
        <p:nvSpPr>
          <p:cNvPr id="20" name="Gil Brannigan"/>
          <p:cNvSpPr txBox="1"/>
          <p:nvPr/>
        </p:nvSpPr>
        <p:spPr>
          <a:xfrm>
            <a:off x="822960" y="4681728"/>
            <a:ext cx="4572000" cy="292608"/>
          </a:xfrm>
          <a:prstGeom prst="rect">
            <a:avLst/>
          </a:prstGeom>
          <a:noFill/>
          <a:ln>
            <a:noFill/>
          </a:ln>
        </p:spPr>
        <p:txBody>
          <a:bodyPr wrap="none" lIns="0" tIns="0" rIns="0" bIns="0" anchor="t">
            <a:noAutofit/>
          </a:bodyPr>
          <a:lstStyle/>
          <a:p>
            <a:pPr algn="l">
              <a:lnSpc>
                <a:spcPts val="2023"/>
              </a:lnSpc>
              <a:spcAft>
                <a:spcPts val="0"/>
              </a:spcAft>
            </a:pPr>
            <a:r>
              <a:rPr lang="en-US" sz="1700" b="0">
                <a:solidFill>
                  <a:srgbClr val="BBC6D3"/>
                </a:solidFill>
                <a:latin typeface="Arial"/>
              </a:rPr>
              <a:t>Gil Brannigan</a:t>
            </a:r>
            <a:endParaRPr lang="en-US" sz="1700"/>
          </a:p>
        </p:txBody>
      </p:sp>
      <p:sp>
        <p:nvSpPr>
          <p:cNvPr id="21" name="Walton Goggins"/>
          <p:cNvSpPr txBox="1"/>
          <p:nvPr/>
        </p:nvSpPr>
        <p:spPr>
          <a:xfrm>
            <a:off x="6263640" y="4681728"/>
            <a:ext cx="4937760" cy="292608"/>
          </a:xfrm>
          <a:prstGeom prst="rect">
            <a:avLst/>
          </a:prstGeom>
          <a:noFill/>
          <a:ln>
            <a:noFill/>
          </a:ln>
        </p:spPr>
        <p:txBody>
          <a:bodyPr wrap="none" lIns="0" tIns="0" rIns="0" bIns="0" anchor="t">
            <a:noAutofit/>
          </a:bodyPr>
          <a:lstStyle/>
          <a:p>
            <a:pPr algn="l">
              <a:lnSpc>
                <a:spcPts val="2023"/>
              </a:lnSpc>
              <a:spcAft>
                <a:spcPts val="0"/>
              </a:spcAft>
            </a:pPr>
            <a:r>
              <a:rPr lang="en-US" sz="1700" b="1">
                <a:solidFill>
                  <a:srgbClr val="FFFFFF"/>
                </a:solidFill>
                <a:latin typeface="Arial"/>
              </a:rPr>
              <a:t>Walton Goggins</a:t>
            </a:r>
            <a:endParaRPr lang="en-US" sz="1700"/>
          </a:p>
        </p:txBody>
      </p:sp>
      <p:sp>
        <p:nvSpPr>
          <p:cNvPr id="22" name="Shape"/>
          <p:cNvSpPr txBox="0"/>
          <p:nvPr/>
        </p:nvSpPr>
        <p:spPr>
          <a:xfrm>
            <a:off x="594360" y="5138928"/>
            <a:ext cx="10972800" cy="448056"/>
          </a:xfrm>
          <a:prstGeom prst="rect">
            <a:avLst/>
          </a:prstGeom>
          <a:solidFill>
            <a:srgbClr val="1C3048"/>
          </a:solidFill>
          <a:ln>
            <a:noFill/>
          </a:ln>
        </p:spPr>
      </p:sp>
      <p:sp>
        <p:nvSpPr>
          <p:cNvPr id="23" name="Priya Raman"/>
          <p:cNvSpPr txBox="1"/>
          <p:nvPr/>
        </p:nvSpPr>
        <p:spPr>
          <a:xfrm>
            <a:off x="822960" y="5202936"/>
            <a:ext cx="4572000" cy="292608"/>
          </a:xfrm>
          <a:prstGeom prst="rect">
            <a:avLst/>
          </a:prstGeom>
          <a:noFill/>
          <a:ln>
            <a:noFill/>
          </a:ln>
        </p:spPr>
        <p:txBody>
          <a:bodyPr wrap="none" lIns="0" tIns="0" rIns="0" bIns="0" anchor="t">
            <a:noAutofit/>
          </a:bodyPr>
          <a:lstStyle/>
          <a:p>
            <a:pPr algn="l">
              <a:lnSpc>
                <a:spcPts val="2023"/>
              </a:lnSpc>
              <a:spcAft>
                <a:spcPts val="0"/>
              </a:spcAft>
            </a:pPr>
            <a:r>
              <a:rPr lang="en-US" sz="1700" b="0">
                <a:solidFill>
                  <a:srgbClr val="BBC6D3"/>
                </a:solidFill>
                <a:latin typeface="Arial"/>
              </a:rPr>
              <a:t>Priya Raman</a:t>
            </a:r>
            <a:endParaRPr lang="en-US" sz="1700"/>
          </a:p>
        </p:txBody>
      </p:sp>
      <p:sp>
        <p:nvSpPr>
          <p:cNvPr id="24" name="Maitreyi Ramakrishnan"/>
          <p:cNvSpPr txBox="1"/>
          <p:nvPr/>
        </p:nvSpPr>
        <p:spPr>
          <a:xfrm>
            <a:off x="6263640" y="5202936"/>
            <a:ext cx="4937760" cy="292608"/>
          </a:xfrm>
          <a:prstGeom prst="rect">
            <a:avLst/>
          </a:prstGeom>
          <a:noFill/>
          <a:ln>
            <a:noFill/>
          </a:ln>
        </p:spPr>
        <p:txBody>
          <a:bodyPr wrap="none" lIns="0" tIns="0" rIns="0" bIns="0" anchor="t">
            <a:noAutofit/>
          </a:bodyPr>
          <a:lstStyle/>
          <a:p>
            <a:pPr algn="l">
              <a:lnSpc>
                <a:spcPts val="2023"/>
              </a:lnSpc>
              <a:spcAft>
                <a:spcPts val="0"/>
              </a:spcAft>
            </a:pPr>
            <a:r>
              <a:rPr lang="en-US" sz="1700" b="1">
                <a:solidFill>
                  <a:srgbClr val="FFFFFF"/>
                </a:solidFill>
                <a:latin typeface="Arial"/>
              </a:rPr>
              <a:t>Maitreyi Ramakrishnan</a:t>
            </a:r>
            <a:endParaRPr lang="en-US" sz="1700"/>
          </a:p>
        </p:txBody>
      </p:sp>
      <p:sp>
        <p:nvSpPr>
          <p:cNvPr id="25" name="Wish list only. Availability, interest, and quotes have not been confirmed."/>
          <p:cNvSpPr txBox="1"/>
          <p:nvPr/>
        </p:nvSpPr>
        <p:spPr>
          <a:xfrm>
            <a:off x="594360" y="5989320"/>
            <a:ext cx="10972800" cy="365760"/>
          </a:xfrm>
          <a:prstGeom prst="rect">
            <a:avLst/>
          </a:prstGeom>
          <a:noFill/>
          <a:ln>
            <a:noFill/>
          </a:ln>
        </p:spPr>
        <p:txBody>
          <a:bodyPr wrap="none" lIns="0" tIns="0" rIns="0" bIns="0" anchor="t">
            <a:noAutofit/>
          </a:bodyPr>
          <a:lstStyle/>
          <a:p>
            <a:pPr algn="l">
              <a:lnSpc>
                <a:spcPts val="1547"/>
              </a:lnSpc>
              <a:spcAft>
                <a:spcPts val="0"/>
              </a:spcAft>
            </a:pPr>
            <a:r>
              <a:rPr lang="en-US" sz="1300" b="0">
                <a:solidFill>
                  <a:srgbClr val="DDB567"/>
                </a:solidFill>
                <a:latin typeface="Arial"/>
              </a:rPr>
              <a:t>Wish list only. Availability, interest, and quotes have not been confirmed.</a:t>
            </a:r>
            <a:endParaRPr lang="en-US" sz="1300"/>
          </a:p>
        </p:txBody>
      </p:sp>
      <p:sp>
        <p:nvSpPr>
          <p:cNvPr id="26"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27" name="14"/>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14</a:t>
            </a:r>
            <a:endParaRPr lang="en-US" sz="10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PLATFORM AND PACKAGE"/>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PLATFORM AND PACKAGE</a:t>
            </a:r>
            <a:endParaRPr lang="en-US" sz="1100"/>
          </a:p>
        </p:txBody>
      </p:sp>
      <p:sp>
        <p:nvSpPr>
          <p:cNvPr id="3" name="A clear streaming pitch with a theatrical heart."/>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A clear streaming pitch with a theatrical heart.</a:t>
            </a:r>
            <a:endParaRPr lang="en-US" sz="3700"/>
          </a:p>
        </p:txBody>
      </p:sp>
      <p:sp>
        <p:nvSpPr>
          <p:cNvPr id="4" name="NETFLIX"/>
          <p:cNvSpPr txBox="1"/>
          <p:nvPr/>
        </p:nvSpPr>
        <p:spPr>
          <a:xfrm>
            <a:off x="594360" y="2103120"/>
            <a:ext cx="5486400" cy="731520"/>
          </a:xfrm>
          <a:prstGeom prst="rect">
            <a:avLst/>
          </a:prstGeom>
          <a:noFill/>
          <a:ln>
            <a:noFill/>
          </a:ln>
        </p:spPr>
        <p:txBody>
          <a:bodyPr wrap="none" lIns="0" tIns="0" rIns="0" bIns="0" anchor="t">
            <a:noAutofit/>
          </a:bodyPr>
          <a:lstStyle/>
          <a:p>
            <a:pPr algn="l">
              <a:lnSpc>
                <a:spcPts val="5474"/>
              </a:lnSpc>
              <a:spcAft>
                <a:spcPts val="0"/>
              </a:spcAft>
            </a:pPr>
            <a:r>
              <a:rPr lang="en-US" sz="4600" b="1">
                <a:solidFill>
                  <a:srgbClr val="FFFFFF"/>
                </a:solidFill>
                <a:latin typeface="Arial"/>
              </a:rPr>
              <a:t>NETFLIX</a:t>
            </a:r>
            <a:endParaRPr lang="en-US" sz="4600"/>
          </a:p>
        </p:txBody>
      </p:sp>
      <p:sp>
        <p:nvSpPr>
          <p:cNvPr id="5" name="Proposed platform target"/>
          <p:cNvSpPr txBox="1"/>
          <p:nvPr/>
        </p:nvSpPr>
        <p:spPr>
          <a:xfrm>
            <a:off x="594360" y="2971800"/>
            <a:ext cx="5486400" cy="41148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DDB567"/>
                </a:solidFill>
                <a:latin typeface="Arial"/>
              </a:rPr>
              <a:t>Proposed platform target</a:t>
            </a:r>
            <a:endParaRPr lang="en-US" sz="1800"/>
          </a:p>
        </p:txBody>
      </p:sp>
      <p:sp>
        <p:nvSpPr>
          <p:cNvPr id="6" name="A high-concept romance about public performance and private truth, centered on t"/>
          <p:cNvSpPr txBox="1"/>
          <p:nvPr/>
        </p:nvSpPr>
        <p:spPr>
          <a:xfrm>
            <a:off x="594360" y="3703320"/>
            <a:ext cx="5486400" cy="1554480"/>
          </a:xfrm>
          <a:prstGeom prst="rect">
            <a:avLst/>
          </a:prstGeom>
          <a:noFill/>
          <a:ln>
            <a:noFill/>
          </a:ln>
        </p:spPr>
        <p:txBody>
          <a:bodyPr wrap="none" lIns="0" tIns="0" rIns="0" bIns="0" anchor="t">
            <a:noAutofit/>
          </a:bodyPr>
          <a:lstStyle/>
          <a:p>
            <a:pPr algn="l">
              <a:lnSpc>
                <a:spcPts val="2737"/>
              </a:lnSpc>
              <a:spcAft>
                <a:spcPts val="0"/>
              </a:spcAft>
            </a:pPr>
            <a:r>
              <a:rPr lang="en-US" sz="2300" b="0">
                <a:solidFill>
                  <a:srgbClr val="FFFFFF"/>
                </a:solidFill>
                <a:latin typeface="Arial"/>
              </a:rPr>
              <a:t>A high-concept romance about public</a:t>
            </a:r>
            <a:endParaRPr lang="en-US" sz="2300"/>
          </a:p>
          <a:p>
            <a:pPr algn="l">
              <a:lnSpc>
                <a:spcPts val="2737"/>
              </a:lnSpc>
              <a:spcAft>
                <a:spcPts val="0"/>
              </a:spcAft>
            </a:pPr>
            <a:r>
              <a:rPr lang="en-US" sz="2300" b="0">
                <a:solidFill>
                  <a:srgbClr val="FFFFFF"/>
                </a:solidFill>
                <a:latin typeface="Arial"/>
              </a:rPr>
              <a:t>performance and private truth, centered</a:t>
            </a:r>
            <a:endParaRPr lang="en-US" sz="2300"/>
          </a:p>
          <a:p>
            <a:pPr algn="l">
              <a:lnSpc>
                <a:spcPts val="2737"/>
              </a:lnSpc>
              <a:spcAft>
                <a:spcPts val="0"/>
              </a:spcAft>
            </a:pPr>
            <a:r>
              <a:rPr lang="en-US" sz="2300" b="0">
                <a:solidFill>
                  <a:srgbClr val="FFFFFF"/>
                </a:solidFill>
                <a:latin typeface="Arial"/>
              </a:rPr>
              <a:t>on two Black professionals and two</a:t>
            </a:r>
            <a:endParaRPr lang="en-US" sz="2300"/>
          </a:p>
          <a:p>
            <a:pPr algn="l">
              <a:lnSpc>
                <a:spcPts val="2737"/>
              </a:lnSpc>
              <a:spcAft>
                <a:spcPts val="0"/>
              </a:spcAft>
            </a:pPr>
            <a:r>
              <a:rPr lang="en-US" sz="2300" b="0">
                <a:solidFill>
                  <a:srgbClr val="FFFFFF"/>
                </a:solidFill>
                <a:latin typeface="Arial"/>
              </a:rPr>
              <a:t>distinct American families.</a:t>
            </a:r>
            <a:endParaRPr lang="en-US" sz="2300"/>
          </a:p>
        </p:txBody>
      </p:sp>
      <p:sp>
        <p:nvSpPr>
          <p:cNvPr id="7" name="Shape"/>
          <p:cNvSpPr txBox="0"/>
          <p:nvPr/>
        </p:nvSpPr>
        <p:spPr>
          <a:xfrm>
            <a:off x="6629400" y="2103120"/>
            <a:ext cx="4937760" cy="3291840"/>
          </a:xfrm>
          <a:prstGeom prst="rect">
            <a:avLst/>
          </a:prstGeom>
          <a:solidFill>
            <a:srgbClr val="1C3048"/>
          </a:solidFill>
          <a:ln>
            <a:noFill/>
          </a:ln>
        </p:spPr>
      </p:sp>
      <p:sp>
        <p:nvSpPr>
          <p:cNvPr id="8" name="$30M–$55M"/>
          <p:cNvSpPr txBox="1"/>
          <p:nvPr/>
        </p:nvSpPr>
        <p:spPr>
          <a:xfrm>
            <a:off x="6949440" y="2423160"/>
            <a:ext cx="4297680" cy="731520"/>
          </a:xfrm>
          <a:prstGeom prst="rect">
            <a:avLst/>
          </a:prstGeom>
          <a:noFill/>
          <a:ln>
            <a:noFill/>
          </a:ln>
        </p:spPr>
        <p:txBody>
          <a:bodyPr wrap="none" lIns="0" tIns="0" rIns="0" bIns="0" anchor="t">
            <a:noAutofit/>
          </a:bodyPr>
          <a:lstStyle/>
          <a:p>
            <a:pPr algn="l">
              <a:lnSpc>
                <a:spcPts val="4522"/>
              </a:lnSpc>
              <a:spcAft>
                <a:spcPts val="0"/>
              </a:spcAft>
            </a:pPr>
            <a:r>
              <a:rPr lang="en-US" sz="3800" b="0">
                <a:solidFill>
                  <a:srgbClr val="FFFFFF"/>
                </a:solidFill>
                <a:latin typeface="Cambria"/>
              </a:rPr>
              <a:t>$30M–$55M</a:t>
            </a:r>
            <a:endParaRPr lang="en-US" sz="3800"/>
          </a:p>
        </p:txBody>
      </p:sp>
      <p:sp>
        <p:nvSpPr>
          <p:cNvPr id="9" name="Indicative budget tier"/>
          <p:cNvSpPr txBox="1"/>
          <p:nvPr/>
        </p:nvSpPr>
        <p:spPr>
          <a:xfrm>
            <a:off x="6949440" y="3337560"/>
            <a:ext cx="4297680" cy="411480"/>
          </a:xfrm>
          <a:prstGeom prst="rect">
            <a:avLst/>
          </a:prstGeom>
          <a:noFill/>
          <a:ln>
            <a:noFill/>
          </a:ln>
        </p:spPr>
        <p:txBody>
          <a:bodyPr wrap="none" lIns="0" tIns="0" rIns="0" bIns="0" anchor="t">
            <a:noAutofit/>
          </a:bodyPr>
          <a:lstStyle/>
          <a:p>
            <a:pPr algn="l">
              <a:lnSpc>
                <a:spcPts val="2142"/>
              </a:lnSpc>
              <a:spcAft>
                <a:spcPts val="0"/>
              </a:spcAft>
            </a:pPr>
            <a:r>
              <a:rPr lang="en-US" sz="1800" b="0">
                <a:solidFill>
                  <a:srgbClr val="DDB567"/>
                </a:solidFill>
                <a:latin typeface="Arial"/>
              </a:rPr>
              <a:t>Indicative budget tier</a:t>
            </a:r>
            <a:endParaRPr lang="en-US" sz="1800"/>
          </a:p>
        </p:txBody>
      </p:sp>
      <p:sp>
        <p:nvSpPr>
          <p:cNvPr id="10" name="Two central leads. Dialogue-driven ensemble. Three story settings."/>
          <p:cNvSpPr txBox="1"/>
          <p:nvPr/>
        </p:nvSpPr>
        <p:spPr>
          <a:xfrm>
            <a:off x="6949440" y="4114800"/>
            <a:ext cx="4251960" cy="96012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BBC6D3"/>
                </a:solidFill>
                <a:latin typeface="Arial"/>
              </a:rPr>
              <a:t>Two central leads. Dialogue-driven</a:t>
            </a:r>
            <a:endParaRPr lang="en-US" sz="2000"/>
          </a:p>
          <a:p>
            <a:pPr algn="l">
              <a:lnSpc>
                <a:spcPts val="2380"/>
              </a:lnSpc>
              <a:spcAft>
                <a:spcPts val="0"/>
              </a:spcAft>
            </a:pPr>
            <a:r>
              <a:rPr lang="en-US" sz="2000" b="0">
                <a:solidFill>
                  <a:srgbClr val="BBC6D3"/>
                </a:solidFill>
                <a:latin typeface="Arial"/>
              </a:rPr>
              <a:t>ensemble. Three story settings.</a:t>
            </a:r>
            <a:endParaRPr lang="en-US" sz="2000"/>
          </a:p>
        </p:txBody>
      </p:sp>
      <p:sp>
        <p:nvSpPr>
          <p:cNvPr id="11" name="Original feature  •  Budget and production scope subject to validation"/>
          <p:cNvSpPr txBox="1"/>
          <p:nvPr/>
        </p:nvSpPr>
        <p:spPr>
          <a:xfrm>
            <a:off x="594360" y="5852160"/>
            <a:ext cx="10972800" cy="457200"/>
          </a:xfrm>
          <a:prstGeom prst="rect">
            <a:avLst/>
          </a:prstGeom>
          <a:noFill/>
          <a:ln>
            <a:noFill/>
          </a:ln>
        </p:spPr>
        <p:txBody>
          <a:bodyPr wrap="none" lIns="0" tIns="0" rIns="0" bIns="0" anchor="t">
            <a:noAutofit/>
          </a:bodyPr>
          <a:lstStyle/>
          <a:p>
            <a:pPr algn="l">
              <a:lnSpc>
                <a:spcPts val="1904"/>
              </a:lnSpc>
              <a:spcAft>
                <a:spcPts val="0"/>
              </a:spcAft>
            </a:pPr>
            <a:r>
              <a:rPr lang="en-US" sz="1600" b="0">
                <a:solidFill>
                  <a:srgbClr val="BBC6D3"/>
                </a:solidFill>
                <a:latin typeface="Arial"/>
              </a:rPr>
              <a:t>Original feature • Budget and production scope subject to validation</a:t>
            </a:r>
            <a:endParaRPr lang="en-US" sz="1600"/>
          </a:p>
        </p:txBody>
      </p:sp>
      <p:sp>
        <p:nvSpPr>
          <p:cNvPr id="12"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3" name="15"/>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15</a:t>
            </a:r>
            <a:endParaRPr lang="en-US" sz="10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THE ENDING"/>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THE ENDING</a:t>
            </a:r>
            <a:endParaRPr lang="en-US" sz="1100"/>
          </a:p>
        </p:txBody>
      </p:sp>
      <p:sp>
        <p:nvSpPr>
          <p:cNvPr id="3" name="The promise: still disagreeing, finally honest."/>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The promise: still disagreeing, finally honest.</a:t>
            </a:r>
            <a:endParaRPr lang="en-US" sz="3700"/>
          </a:p>
        </p:txBody>
      </p:sp>
      <p:sp>
        <p:nvSpPr>
          <p:cNvPr id="4" name="Alex tells the truth before she knows whether Marcus will choose her."/>
          <p:cNvSpPr txBox="1"/>
          <p:nvPr/>
        </p:nvSpPr>
        <p:spPr>
          <a:xfrm>
            <a:off x="594360" y="2194560"/>
            <a:ext cx="6766560" cy="1234440"/>
          </a:xfrm>
          <a:prstGeom prst="rect">
            <a:avLst/>
          </a:prstGeom>
          <a:noFill/>
          <a:ln>
            <a:noFill/>
          </a:ln>
        </p:spPr>
        <p:txBody>
          <a:bodyPr wrap="none" lIns="0" tIns="0" rIns="0" bIns="0" anchor="t">
            <a:noAutofit/>
          </a:bodyPr>
          <a:lstStyle/>
          <a:p>
            <a:pPr algn="l">
              <a:lnSpc>
                <a:spcPts val="3451"/>
              </a:lnSpc>
              <a:spcAft>
                <a:spcPts val="0"/>
              </a:spcAft>
            </a:pPr>
            <a:r>
              <a:rPr lang="en-US" sz="2900" b="0">
                <a:solidFill>
                  <a:srgbClr val="FFFFFF"/>
                </a:solidFill>
                <a:latin typeface="Cambria"/>
              </a:rPr>
              <a:t>Alex tells the truth before she knows</a:t>
            </a:r>
            <a:endParaRPr lang="en-US" sz="2900"/>
          </a:p>
          <a:p>
            <a:pPr algn="l">
              <a:lnSpc>
                <a:spcPts val="3451"/>
              </a:lnSpc>
              <a:spcAft>
                <a:spcPts val="0"/>
              </a:spcAft>
            </a:pPr>
            <a:r>
              <a:rPr lang="en-US" sz="2900" b="0">
                <a:solidFill>
                  <a:srgbClr val="FFFFFF"/>
                </a:solidFill>
                <a:latin typeface="Cambria"/>
              </a:rPr>
              <a:t>whether Marcus will choose her.</a:t>
            </a:r>
            <a:endParaRPr lang="en-US" sz="2900"/>
          </a:p>
        </p:txBody>
      </p:sp>
      <p:sp>
        <p:nvSpPr>
          <p:cNvPr id="5" name="Marcus takes the pause his father taught him never to take, and walks away from "/>
          <p:cNvSpPr txBox="1"/>
          <p:nvPr/>
        </p:nvSpPr>
        <p:spPr>
          <a:xfrm>
            <a:off x="594360" y="3657600"/>
            <a:ext cx="6766560" cy="1508760"/>
          </a:xfrm>
          <a:prstGeom prst="rect">
            <a:avLst/>
          </a:prstGeom>
          <a:noFill/>
          <a:ln>
            <a:noFill/>
          </a:ln>
        </p:spPr>
        <p:txBody>
          <a:bodyPr wrap="none" lIns="0" tIns="0" rIns="0" bIns="0" anchor="t">
            <a:noAutofit/>
          </a:bodyPr>
          <a:lstStyle/>
          <a:p>
            <a:pPr algn="l">
              <a:lnSpc>
                <a:spcPts val="3213"/>
              </a:lnSpc>
              <a:spcAft>
                <a:spcPts val="0"/>
              </a:spcAft>
            </a:pPr>
            <a:r>
              <a:rPr lang="en-US" sz="2700" b="0">
                <a:solidFill>
                  <a:srgbClr val="FFFFFF"/>
                </a:solidFill>
                <a:latin typeface="Cambria"/>
              </a:rPr>
              <a:t>Marcus takes the pause his father taught him</a:t>
            </a:r>
            <a:endParaRPr lang="en-US" sz="2700"/>
          </a:p>
          <a:p>
            <a:pPr algn="l">
              <a:lnSpc>
                <a:spcPts val="3213"/>
              </a:lnSpc>
              <a:spcAft>
                <a:spcPts val="0"/>
              </a:spcAft>
            </a:pPr>
            <a:r>
              <a:rPr lang="en-US" sz="2700" b="0">
                <a:solidFill>
                  <a:srgbClr val="FFFFFF"/>
                </a:solidFill>
                <a:latin typeface="Cambria"/>
              </a:rPr>
              <a:t>never to take, and walks away from the future</a:t>
            </a:r>
            <a:endParaRPr lang="en-US" sz="2700"/>
          </a:p>
          <a:p>
            <a:pPr algn="l">
              <a:lnSpc>
                <a:spcPts val="3213"/>
              </a:lnSpc>
              <a:spcAft>
                <a:spcPts val="0"/>
              </a:spcAft>
            </a:pPr>
            <a:r>
              <a:rPr lang="en-US" sz="2700" b="0">
                <a:solidFill>
                  <a:srgbClr val="FFFFFF"/>
                </a:solidFill>
                <a:latin typeface="Cambria"/>
              </a:rPr>
              <a:t>chosen for him.</a:t>
            </a:r>
            <a:endParaRPr lang="en-US" sz="2700"/>
          </a:p>
        </p:txBody>
      </p:sp>
      <p:sp>
        <p:nvSpPr>
          <p:cNvPr id="6" name="Shape"/>
          <p:cNvSpPr txBox="0"/>
          <p:nvPr/>
        </p:nvSpPr>
        <p:spPr>
          <a:xfrm>
            <a:off x="8275320" y="2240280"/>
            <a:ext cx="2880360" cy="2880360"/>
          </a:xfrm>
          <a:prstGeom prst="ellipse">
            <a:avLst/>
          </a:prstGeom>
          <a:solidFill>
            <a:srgbClr val="DDB567"/>
          </a:solidFill>
          <a:ln>
            <a:noFill/>
          </a:ln>
        </p:spPr>
      </p:sp>
      <p:sp>
        <p:nvSpPr>
          <p:cNvPr id="7" name="Shape"/>
          <p:cNvSpPr txBox="0"/>
          <p:nvPr/>
        </p:nvSpPr>
        <p:spPr>
          <a:xfrm>
            <a:off x="8001000" y="3749040"/>
            <a:ext cx="3474720" cy="2011680"/>
          </a:xfrm>
          <a:prstGeom prst="rect">
            <a:avLst/>
          </a:prstGeom>
          <a:solidFill>
            <a:srgbClr val="101F33"/>
          </a:solidFill>
          <a:ln>
            <a:noFill/>
          </a:ln>
        </p:spPr>
      </p:sp>
      <p:sp>
        <p:nvSpPr>
          <p:cNvPr id="8" name="A REAL SUNRISE"/>
          <p:cNvSpPr txBox="1"/>
          <p:nvPr/>
        </p:nvSpPr>
        <p:spPr>
          <a:xfrm>
            <a:off x="8046720" y="4343400"/>
            <a:ext cx="3337560" cy="914400"/>
          </a:xfrm>
          <a:prstGeom prst="rect">
            <a:avLst/>
          </a:prstGeom>
          <a:noFill/>
          <a:ln>
            <a:noFill/>
          </a:ln>
        </p:spPr>
        <p:txBody>
          <a:bodyPr wrap="none" lIns="0" tIns="0" rIns="0" bIns="0" anchor="t">
            <a:noAutofit/>
          </a:bodyPr>
          <a:lstStyle/>
          <a:p>
            <a:pPr algn="ctr">
              <a:lnSpc>
                <a:spcPts val="3213"/>
              </a:lnSpc>
              <a:spcAft>
                <a:spcPts val="0"/>
              </a:spcAft>
            </a:pPr>
            <a:r>
              <a:rPr lang="en-US" sz="2700" b="1">
                <a:solidFill>
                  <a:srgbClr val="DDB567"/>
                </a:solidFill>
                <a:latin typeface="Arial"/>
              </a:rPr>
              <a:t>A REAL</a:t>
            </a:r>
            <a:endParaRPr lang="en-US" sz="2700"/>
          </a:p>
          <a:p>
            <a:pPr algn="ctr">
              <a:lnSpc>
                <a:spcPts val="3213"/>
              </a:lnSpc>
              <a:spcAft>
                <a:spcPts val="0"/>
              </a:spcAft>
            </a:pPr>
            <a:r>
              <a:rPr lang="en-US" sz="2700" b="1">
                <a:solidFill>
                  <a:srgbClr val="DDB567"/>
                </a:solidFill>
                <a:latin typeface="Arial"/>
              </a:rPr>
              <a:t>SUNRISE</a:t>
            </a:r>
            <a:endParaRPr lang="en-US" sz="2700"/>
          </a:p>
        </p:txBody>
      </p:sp>
      <p:sp>
        <p:nvSpPr>
          <p:cNvPr id="9" name="Love becomes a choice they can make without a contract."/>
          <p:cNvSpPr txBox="1"/>
          <p:nvPr/>
        </p:nvSpPr>
        <p:spPr>
          <a:xfrm>
            <a:off x="594360" y="5715000"/>
            <a:ext cx="10972800" cy="502920"/>
          </a:xfrm>
          <a:prstGeom prst="rect">
            <a:avLst/>
          </a:prstGeom>
          <a:noFill/>
          <a:ln>
            <a:noFill/>
          </a:ln>
        </p:spPr>
        <p:txBody>
          <a:bodyPr wrap="none" lIns="0" tIns="0" rIns="0" bIns="0" anchor="t">
            <a:noAutofit/>
          </a:bodyPr>
          <a:lstStyle/>
          <a:p>
            <a:pPr algn="l">
              <a:lnSpc>
                <a:spcPts val="2856"/>
              </a:lnSpc>
              <a:spcAft>
                <a:spcPts val="0"/>
              </a:spcAft>
            </a:pPr>
            <a:r>
              <a:rPr lang="en-US" sz="2400" b="0">
                <a:solidFill>
                  <a:srgbClr val="DDB567"/>
                </a:solidFill>
                <a:latin typeface="Arial"/>
              </a:rPr>
              <a:t>Love becomes a choice they can make without a contract.</a:t>
            </a:r>
            <a:endParaRPr lang="en-US" sz="2400"/>
          </a:p>
        </p:txBody>
      </p:sp>
      <p:sp>
        <p:nvSpPr>
          <p:cNvPr id="10"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1" name="16"/>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16</a:t>
            </a:r>
            <a:endParaRPr lang="en-US" sz="10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01F33"/>
        </a:solidFill>
        <a:effectLst/>
      </p:bgPr>
    </p:bg>
    <p:spTree>
      <p:nvGrpSpPr>
        <p:cNvPr id="1" name=""/>
        <p:cNvGrpSpPr/>
        <p:nvPr/>
      </p:nvGrpSpPr>
      <p:grpSpPr>
        <a:xfrm>
          <a:off x="0" y="0"/>
          <a:ext cx="0" cy="0"/>
          <a:chOff x="0" y="0"/>
          <a:chExt cx="0" cy="0"/>
        </a:xfrm>
      </p:grpSpPr>
      <p:sp>
        <p:nvSpPr>
          <p:cNvPr id="2" name="NCCA ENTERTAINMENT"/>
          <p:cNvSpPr txBox="1"/>
          <p:nvPr/>
        </p:nvSpPr>
        <p:spPr>
          <a:xfrm>
            <a:off x="594360" y="393192"/>
            <a:ext cx="10789920" cy="274320"/>
          </a:xfrm>
          <a:prstGeom prst="rect">
            <a:avLst/>
          </a:prstGeom>
          <a:noFill/>
          <a:ln>
            <a:noFill/>
          </a:ln>
        </p:spPr>
        <p:txBody>
          <a:bodyPr wrap="none" lIns="0" tIns="0" rIns="0" bIns="0" anchor="t">
            <a:noAutofit/>
          </a:bodyPr>
          <a:lstStyle/>
          <a:p>
            <a:pPr algn="l">
              <a:lnSpc>
                <a:spcPts val="1309"/>
              </a:lnSpc>
              <a:spcAft>
                <a:spcPts val="0"/>
              </a:spcAft>
            </a:pPr>
            <a:r>
              <a:rPr lang="en-US" sz="1100" b="1">
                <a:solidFill>
                  <a:srgbClr val="DDB567"/>
                </a:solidFill>
                <a:latin typeface="Arial"/>
              </a:rPr>
              <a:t>NCCA ENTERTAINMENT</a:t>
            </a:r>
            <a:endParaRPr lang="en-US" sz="1100"/>
          </a:p>
        </p:txBody>
      </p:sp>
      <p:sp>
        <p:nvSpPr>
          <p:cNvPr id="3" name="Love was never part of the deal."/>
          <p:cNvSpPr txBox="1"/>
          <p:nvPr/>
        </p:nvSpPr>
        <p:spPr>
          <a:xfrm>
            <a:off x="594360" y="914400"/>
            <a:ext cx="10972800" cy="1005840"/>
          </a:xfrm>
          <a:prstGeom prst="rect">
            <a:avLst/>
          </a:prstGeom>
          <a:noFill/>
          <a:ln>
            <a:noFill/>
          </a:ln>
        </p:spPr>
        <p:txBody>
          <a:bodyPr wrap="none" lIns="0" tIns="0" rIns="0" bIns="0" anchor="t">
            <a:noAutofit/>
          </a:bodyPr>
          <a:lstStyle/>
          <a:p>
            <a:pPr algn="l">
              <a:lnSpc>
                <a:spcPts val="4403"/>
              </a:lnSpc>
              <a:spcAft>
                <a:spcPts val="0"/>
              </a:spcAft>
            </a:pPr>
            <a:r>
              <a:rPr lang="en-US" sz="3700" b="0">
                <a:solidFill>
                  <a:srgbClr val="FFFFFF"/>
                </a:solidFill>
                <a:latin typeface="Cambria"/>
              </a:rPr>
              <a:t>Love was never part of the deal.</a:t>
            </a:r>
            <a:endParaRPr lang="en-US" sz="3700"/>
          </a:p>
        </p:txBody>
      </p:sp>
      <p:sp>
        <p:nvSpPr>
          <p:cNvPr id="4" name="THE TERMS OF ENGAGEMENT"/>
          <p:cNvSpPr txBox="1"/>
          <p:nvPr/>
        </p:nvSpPr>
        <p:spPr>
          <a:xfrm>
            <a:off x="594360" y="2057400"/>
            <a:ext cx="6492240" cy="1645920"/>
          </a:xfrm>
          <a:prstGeom prst="rect">
            <a:avLst/>
          </a:prstGeom>
          <a:noFill/>
          <a:ln>
            <a:noFill/>
          </a:ln>
        </p:spPr>
        <p:txBody>
          <a:bodyPr wrap="none" lIns="0" tIns="0" rIns="0" bIns="0" anchor="t">
            <a:noAutofit/>
          </a:bodyPr>
          <a:lstStyle/>
          <a:p>
            <a:pPr algn="l">
              <a:lnSpc>
                <a:spcPts val="5117"/>
              </a:lnSpc>
              <a:spcAft>
                <a:spcPts val="0"/>
              </a:spcAft>
            </a:pPr>
            <a:r>
              <a:rPr lang="en-US" sz="4300" b="1">
                <a:solidFill>
                  <a:srgbClr val="FFFFFF"/>
                </a:solidFill>
                <a:latin typeface="Cambria"/>
              </a:rPr>
              <a:t>THE TERMS</a:t>
            </a:r>
            <a:endParaRPr lang="en-US" sz="4300"/>
          </a:p>
          <a:p>
            <a:pPr algn="l">
              <a:lnSpc>
                <a:spcPts val="5117"/>
              </a:lnSpc>
              <a:spcAft>
                <a:spcPts val="0"/>
              </a:spcAft>
            </a:pPr>
            <a:r>
              <a:rPr lang="en-US" sz="4300" b="1">
                <a:solidFill>
                  <a:srgbClr val="FFFFFF"/>
                </a:solidFill>
                <a:latin typeface="Cambria"/>
              </a:rPr>
              <a:t>OF ENGAGEMENT</a:t>
            </a:r>
            <a:endParaRPr lang="en-US" sz="4300"/>
          </a:p>
        </p:txBody>
      </p:sp>
      <p:sp>
        <p:nvSpPr>
          <p:cNvPr id="5" name="Written by Kelly R. Tenney"/>
          <p:cNvSpPr txBox="1"/>
          <p:nvPr/>
        </p:nvSpPr>
        <p:spPr>
          <a:xfrm>
            <a:off x="594360" y="4069080"/>
            <a:ext cx="6492240" cy="457200"/>
          </a:xfrm>
          <a:prstGeom prst="rect">
            <a:avLst/>
          </a:prstGeom>
          <a:noFill/>
          <a:ln>
            <a:noFill/>
          </a:ln>
        </p:spPr>
        <p:txBody>
          <a:bodyPr wrap="none" lIns="0" tIns="0" rIns="0" bIns="0" anchor="t">
            <a:noAutofit/>
          </a:bodyPr>
          <a:lstStyle/>
          <a:p>
            <a:pPr algn="l">
              <a:lnSpc>
                <a:spcPts val="2737"/>
              </a:lnSpc>
              <a:spcAft>
                <a:spcPts val="0"/>
              </a:spcAft>
            </a:pPr>
            <a:r>
              <a:rPr lang="en-US" sz="2300" b="0">
                <a:solidFill>
                  <a:srgbClr val="DDB567"/>
                </a:solidFill>
                <a:latin typeface="Arial"/>
              </a:rPr>
              <a:t>Written by Kelly R. Tenney</a:t>
            </a:r>
            <a:endParaRPr lang="en-US" sz="2300"/>
          </a:p>
        </p:txBody>
      </p:sp>
      <p:sp>
        <p:nvSpPr>
          <p:cNvPr id="6" name="NCCA Entertainment contact@nccaentertainment.com (910) 262-9307"/>
          <p:cNvSpPr txBox="1"/>
          <p:nvPr/>
        </p:nvSpPr>
        <p:spPr>
          <a:xfrm>
            <a:off x="594360" y="4846320"/>
            <a:ext cx="6583680" cy="1005840"/>
          </a:xfrm>
          <a:prstGeom prst="rect">
            <a:avLst/>
          </a:prstGeom>
          <a:noFill/>
          <a:ln>
            <a:noFill/>
          </a:ln>
        </p:spPr>
        <p:txBody>
          <a:bodyPr wrap="none" lIns="0" tIns="0" rIns="0" bIns="0" anchor="t">
            <a:noAutofit/>
          </a:bodyPr>
          <a:lstStyle/>
          <a:p>
            <a:pPr algn="l">
              <a:lnSpc>
                <a:spcPts val="2380"/>
              </a:lnSpc>
              <a:spcAft>
                <a:spcPts val="0"/>
              </a:spcAft>
            </a:pPr>
            <a:r>
              <a:rPr lang="en-US" sz="2000" b="0">
                <a:solidFill>
                  <a:srgbClr val="FFFFFF"/>
                </a:solidFill>
                <a:latin typeface="Arial"/>
              </a:rPr>
              <a:t>NCCA Entertainment</a:t>
            </a:r>
            <a:endParaRPr lang="en-US" sz="2000"/>
          </a:p>
          <a:p>
            <a:pPr algn="l">
              <a:lnSpc>
                <a:spcPts val="2380"/>
              </a:lnSpc>
              <a:spcAft>
                <a:spcPts val="0"/>
              </a:spcAft>
            </a:pPr>
            <a:r>
              <a:rPr lang="en-US" sz="2000" b="0">
                <a:solidFill>
                  <a:srgbClr val="FFFFFF"/>
                </a:solidFill>
                <a:latin typeface="Arial"/>
              </a:rPr>
              <a:t>contact@nccaentertainment.com</a:t>
            </a:r>
            <a:endParaRPr lang="en-US" sz="2000"/>
          </a:p>
          <a:p>
            <a:pPr algn="l">
              <a:lnSpc>
                <a:spcPts val="2380"/>
              </a:lnSpc>
              <a:spcAft>
                <a:spcPts val="0"/>
              </a:spcAft>
            </a:pPr>
            <a:r>
              <a:rPr lang="en-US" sz="2000" b="0">
                <a:solidFill>
                  <a:srgbClr val="FFFFFF"/>
                </a:solidFill>
                <a:latin typeface="Arial"/>
              </a:rPr>
              <a:t>(910) 262-9307</a:t>
            </a:r>
            <a:endParaRPr lang="en-US" sz="2000"/>
          </a:p>
        </p:txBody>
      </p:sp>
      <p:sp>
        <p:nvSpPr>
          <p:cNvPr id="7" name="Shape"/>
          <p:cNvSpPr txBox="0"/>
          <p:nvPr/>
        </p:nvSpPr>
        <p:spPr>
          <a:xfrm>
            <a:off x="8229600" y="2423160"/>
            <a:ext cx="2926080" cy="2926080"/>
          </a:xfrm>
          <a:prstGeom prst="ellipse">
            <a:avLst/>
          </a:prstGeom>
          <a:solidFill>
            <a:srgbClr val="1C3048"/>
          </a:solidFill>
          <a:ln>
            <a:noFill/>
          </a:ln>
        </p:spPr>
      </p:sp>
      <p:sp>
        <p:nvSpPr>
          <p:cNvPr id="8" name="NCCA"/>
          <p:cNvSpPr txBox="1"/>
          <p:nvPr/>
        </p:nvSpPr>
        <p:spPr>
          <a:xfrm>
            <a:off x="8321040" y="3429000"/>
            <a:ext cx="2743200" cy="731520"/>
          </a:xfrm>
          <a:prstGeom prst="rect">
            <a:avLst/>
          </a:prstGeom>
          <a:noFill/>
          <a:ln>
            <a:noFill/>
          </a:ln>
        </p:spPr>
        <p:txBody>
          <a:bodyPr wrap="none" lIns="0" tIns="0" rIns="0" bIns="0" anchor="t">
            <a:noAutofit/>
          </a:bodyPr>
          <a:lstStyle/>
          <a:p>
            <a:pPr algn="ctr">
              <a:lnSpc>
                <a:spcPts val="4522"/>
              </a:lnSpc>
              <a:spcAft>
                <a:spcPts val="0"/>
              </a:spcAft>
            </a:pPr>
            <a:r>
              <a:rPr lang="en-US" sz="3800" b="1">
                <a:solidFill>
                  <a:srgbClr val="DDB567"/>
                </a:solidFill>
                <a:latin typeface="Cambria"/>
              </a:rPr>
              <a:t>NCCA</a:t>
            </a:r>
            <a:endParaRPr lang="en-US" sz="3800"/>
          </a:p>
        </p:txBody>
      </p:sp>
      <p:sp>
        <p:nvSpPr>
          <p:cNvPr id="9" name="NCCA ENTERTAINMENT  /  THE TERMS OF ENGAGEMENT"/>
          <p:cNvSpPr txBox="1"/>
          <p:nvPr/>
        </p:nvSpPr>
        <p:spPr>
          <a:xfrm>
            <a:off x="594360" y="6428232"/>
            <a:ext cx="9144000" cy="182880"/>
          </a:xfrm>
          <a:prstGeom prst="rect">
            <a:avLst/>
          </a:prstGeom>
          <a:noFill/>
          <a:ln>
            <a:noFill/>
          </a:ln>
        </p:spPr>
        <p:txBody>
          <a:bodyPr wrap="none" lIns="0" tIns="0" rIns="0" bIns="0" anchor="t">
            <a:noAutofit/>
          </a:bodyPr>
          <a:lstStyle/>
          <a:p>
            <a:pPr algn="l">
              <a:lnSpc>
                <a:spcPts val="1012"/>
              </a:lnSpc>
              <a:spcAft>
                <a:spcPts val="0"/>
              </a:spcAft>
            </a:pPr>
            <a:r>
              <a:rPr lang="en-US" sz="850" b="0">
                <a:solidFill>
                  <a:srgbClr val="BBC6D3"/>
                </a:solidFill>
                <a:latin typeface="Arial"/>
              </a:rPr>
              <a:t>NCCA ENTERTAINMENT / THE TERMS OF ENGAGEMENT</a:t>
            </a:r>
            <a:endParaRPr lang="en-US" sz="850"/>
          </a:p>
        </p:txBody>
      </p:sp>
      <p:sp>
        <p:nvSpPr>
          <p:cNvPr id="10" name="17"/>
          <p:cNvSpPr txBox="1"/>
          <p:nvPr/>
        </p:nvSpPr>
        <p:spPr>
          <a:xfrm>
            <a:off x="11018520" y="6419088"/>
            <a:ext cx="548640" cy="228600"/>
          </a:xfrm>
          <a:prstGeom prst="rect">
            <a:avLst/>
          </a:prstGeom>
          <a:noFill/>
          <a:ln>
            <a:noFill/>
          </a:ln>
        </p:spPr>
        <p:txBody>
          <a:bodyPr wrap="none" lIns="0" tIns="0" rIns="0" bIns="0" anchor="t">
            <a:noAutofit/>
          </a:bodyPr>
          <a:lstStyle/>
          <a:p>
            <a:pPr algn="r">
              <a:lnSpc>
                <a:spcPts val="1190"/>
              </a:lnSpc>
              <a:spcAft>
                <a:spcPts val="0"/>
              </a:spcAft>
            </a:pPr>
            <a:r>
              <a:rPr lang="en-US" sz="1000" b="0">
                <a:solidFill>
                  <a:srgbClr val="DDB567"/>
                </a:solidFill>
                <a:latin typeface="Arial"/>
              </a:rPr>
              <a:t>17</a:t>
            </a:r>
            <a:endParaRPr lang="en-US" sz="1000"/>
          </a:p>
        </p:txBody>
      </p:sp>
    </p:spTree>
  </p:cSld>
  <p:clrMapOvr>
    <a:masterClrMapping/>
  </p:clrMapOvr>
</p:sld>
</file>

<file path=ppt/theme/theme1.xml><?xml version="1.0" encoding="utf-8"?>
<a:theme xmlns:a="http://schemas.openxmlformats.org/drawingml/2006/main" name="Terms of Engagement">
  <a:themeElements>
    <a:clrScheme name="NCCA">
      <a:dk1>
        <a:srgbClr val="101F33"/>
      </a:dk1>
      <a:lt1>
        <a:srgbClr val="FFFFFF"/>
      </a:lt1>
      <a:dk2>
        <a:srgbClr val="152438"/>
      </a:dk2>
      <a:lt2>
        <a:srgbClr val="F8F0D8"/>
      </a:lt2>
      <a:accent1>
        <a:srgbClr val="B93442"/>
      </a:accent1>
      <a:accent2>
        <a:srgbClr val="DDB567"/>
      </a:accent2>
      <a:accent3>
        <a:srgbClr val="1C3048"/>
      </a:accent3>
      <a:accent4>
        <a:srgbClr val="BBC6D3"/>
      </a:accent4>
      <a:accent5>
        <a:srgbClr val="8499AB"/>
      </a:accent5>
      <a:accent6>
        <a:srgbClr val="702D39"/>
      </a:accent6>
      <a:hlink>
        <a:srgbClr val="DDB567"/>
      </a:hlink>
      <a:folHlink>
        <a:srgbClr val="BBC6D3"/>
      </a:folHlink>
    </a:clrScheme>
    <a:fontScheme name="NCCA">
      <a:majorFont>
        <a:latin typeface="Cambria"/>
        <a:ea typeface=""/>
        <a:cs typeface=""/>
      </a:majorFont>
      <a:minorFont>
        <a:latin typeface="Arial"/>
        <a:ea typeface=""/>
        <a:cs typeface=""/>
      </a:minorFont>
    </a:fontScheme>
    <a:fmtScheme name="NCCA">
      <a:fillStyleLst>
        <a:solidFill>
          <a:srgbClr val="FFFFFF"/>
        </a:solidFill>
        <a:solidFill>
          <a:srgbClr val="FFFFFF"/>
        </a:solidFill>
        <a:solidFill>
          <a:srgbClr val="FFFFFF"/>
        </a:solidFill>
      </a:fillStyleLst>
      <a:lnStyleLst>
        <a:ln w="9525" cap="flat" cmpd="sng" algn="ctr">
          <a:solidFill>
            <a:srgbClr val="FFFFFF"/>
          </a:solidFill>
          <a:prstDash val="solid"/>
          <a:miter lim="800000"/>
        </a:ln>
        <a:ln w="25400" cap="flat" cmpd="sng" algn="ctr">
          <a:solidFill>
            <a:srgbClr val="FFFFFF"/>
          </a:solidFill>
          <a:prstDash val="solid"/>
          <a:miter lim="800000"/>
        </a:ln>
        <a:ln w="38100" cap="flat" cmpd="sng" algn="ctr">
          <a:solidFill>
            <a:srgbClr val="FFFFFF"/>
          </a:solidFill>
          <a:prstDash val="solid"/>
          <a:miter lim="800000"/>
        </a:ln>
      </a:lnStyleLst>
      <a:effectStyleLst>
        <a:effectStyle>
          <a:effectLst/>
        </a:effectStyle>
        <a:effectStyle>
          <a:effectLst/>
        </a:effectStyle>
        <a:effectStyle>
          <a:effectLst/>
        </a:effectStyle>
      </a:effectStyleLst>
      <a:bgFillStyleLst>
        <a:solidFill>
          <a:srgbClr val="101F33"/>
        </a:solidFill>
        <a:solidFill>
          <a:srgbClr val="101F33"/>
        </a:solidFill>
        <a:solidFill>
          <a:srgbClr val="101F33"/>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NCCA Entertainment</Application>
  <PresentationFormat>On-screen Show (16:9)</PresentationFormat>
  <Slides>17</Slides>
  <Notes>17</Notes>
</Properties>
</file>

<file path=docProps/core.xml><?xml version="1.0" encoding="utf-8"?>
<cp:coreProperties xmlns:cp="http://schemas.openxmlformats.org/package/2006/metadata/core-properties" xmlns:dc="http://purl.org/dc/elements/1.1/">
  <dc:title>The Terms of Engagement | Pitch Deck</dc:title>
  <dc:creator>Kelly R. Tenney | NCCA Entertainment</dc:creator>
  <dc:description>Political romantic comedy. Editable 16:9 pitch presentation.</dc:description>
</cp:coreProperties>
</file>