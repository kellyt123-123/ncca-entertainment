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8076a7e93145f8" /><Relationship Type="http://schemas.openxmlformats.org/officeDocument/2006/relationships/extended-properties" Target="/docProps/app.xml" Id="Rb7c0802b80cd4e86" /><Relationship Type="http://schemas.openxmlformats.org/officeDocument/2006/relationships/officeDocument" Target="/ppt/presentation.xml" Id="R9f67c717618442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b95c2366684971"/>
  </p:sldMasterIdLst>
  <p:notesMasterIdLst>
    <p:notesMasterId xmlns:r="http://schemas.openxmlformats.org/officeDocument/2006/relationships" r:id="R290e3caf8f6f402e"/>
  </p:notesMasterIdLst>
  <p:sldIdLst>
    <p:sldId xmlns:r="http://schemas.openxmlformats.org/officeDocument/2006/relationships" id="256" r:id="R6c8075d1027547fc"/>
    <p:sldId xmlns:r="http://schemas.openxmlformats.org/officeDocument/2006/relationships" id="257" r:id="Re088768dd6ef4228"/>
    <p:sldId xmlns:r="http://schemas.openxmlformats.org/officeDocument/2006/relationships" id="258" r:id="Rc8857a1c2fce43b2"/>
    <p:sldId xmlns:r="http://schemas.openxmlformats.org/officeDocument/2006/relationships" id="259" r:id="Rd1050bede94f4b58"/>
    <p:sldId xmlns:r="http://schemas.openxmlformats.org/officeDocument/2006/relationships" id="260" r:id="R321f3040fbde4c27"/>
    <p:sldId xmlns:r="http://schemas.openxmlformats.org/officeDocument/2006/relationships" id="261" r:id="R8facf26fcde540fa"/>
    <p:sldId xmlns:r="http://schemas.openxmlformats.org/officeDocument/2006/relationships" id="262" r:id="R5c4d96bbb1c04b1f"/>
    <p:sldId xmlns:r="http://schemas.openxmlformats.org/officeDocument/2006/relationships" id="263" r:id="Rc657a424ecfa49ab"/>
    <p:sldId xmlns:r="http://schemas.openxmlformats.org/officeDocument/2006/relationships" id="264" r:id="R00b1438221b2420b"/>
    <p:sldId xmlns:r="http://schemas.openxmlformats.org/officeDocument/2006/relationships" id="265" r:id="R9c7addb6b45c48ef"/>
    <p:sldId xmlns:r="http://schemas.openxmlformats.org/officeDocument/2006/relationships" id="266" r:id="Rcd46b0d9502f4da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ebc09db5544f87" /><Relationship Type="http://schemas.openxmlformats.org/officeDocument/2006/relationships/slideMaster" Target="/ppt/slideMasters/slideMaster1.xml" Id="Rdbb95c2366684971" /><Relationship Type="http://schemas.openxmlformats.org/officeDocument/2006/relationships/notesMaster" Target="/ppt/notesMasters/notesMaster1.xml" Id="R290e3caf8f6f402e" /><Relationship Type="http://schemas.openxmlformats.org/officeDocument/2006/relationships/presProps" Target="/ppt/presProps.xml" Id="R009bd81480154e58" /><Relationship Type="http://schemas.openxmlformats.org/officeDocument/2006/relationships/tableStyles" Target="/ppt/tableStyles.xml" Id="Rb927a5ec602e4dae" /><Relationship Type="http://schemas.openxmlformats.org/officeDocument/2006/relationships/slide" Target="/ppt/slides/slide1.xml" Id="R6c8075d1027547fc" /><Relationship Type="http://schemas.openxmlformats.org/officeDocument/2006/relationships/slide" Target="/ppt/slides/slide2.xml" Id="Re088768dd6ef4228" /><Relationship Type="http://schemas.openxmlformats.org/officeDocument/2006/relationships/slide" Target="/ppt/slides/slide3.xml" Id="Rc8857a1c2fce43b2" /><Relationship Type="http://schemas.openxmlformats.org/officeDocument/2006/relationships/slide" Target="/ppt/slides/slide4.xml" Id="Rd1050bede94f4b58" /><Relationship Type="http://schemas.openxmlformats.org/officeDocument/2006/relationships/slide" Target="/ppt/slides/slide5.xml" Id="R321f3040fbde4c27" /><Relationship Type="http://schemas.openxmlformats.org/officeDocument/2006/relationships/slide" Target="/ppt/slides/slide6.xml" Id="R8facf26fcde540fa" /><Relationship Type="http://schemas.openxmlformats.org/officeDocument/2006/relationships/slide" Target="/ppt/slides/slide7.xml" Id="R5c4d96bbb1c04b1f" /><Relationship Type="http://schemas.openxmlformats.org/officeDocument/2006/relationships/slide" Target="/ppt/slides/slide8.xml" Id="Rc657a424ecfa49ab" /><Relationship Type="http://schemas.openxmlformats.org/officeDocument/2006/relationships/slide" Target="/ppt/slides/slide9.xml" Id="R00b1438221b2420b" /><Relationship Type="http://schemas.openxmlformats.org/officeDocument/2006/relationships/slide" Target="/ppt/slides/slide10.xml" Id="R9c7addb6b45c48ef" /><Relationship Type="http://schemas.openxmlformats.org/officeDocument/2006/relationships/slide" Target="/ppt/slides/slide11.xml" Id="Rcd46b0d9502f4d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dd5cb790394e9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60eb96f5804a02" /><Relationship Type="http://schemas.openxmlformats.org/officeDocument/2006/relationships/notesMaster" Target="/ppt/notesMasters/notesMaster1.xml" Id="R84c2ed8dc577465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edc280036934229" /><Relationship Type="http://schemas.openxmlformats.org/officeDocument/2006/relationships/notesMaster" Target="/ppt/notesMasters/notesMaster1.xml" Id="Rf596e2ac4c47447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3a4152c6a0d499a" /><Relationship Type="http://schemas.openxmlformats.org/officeDocument/2006/relationships/notesMaster" Target="/ppt/notesMasters/notesMaster1.xml" Id="R51ee9a3498e345f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d1a4bd066234deb" /><Relationship Type="http://schemas.openxmlformats.org/officeDocument/2006/relationships/notesMaster" Target="/ppt/notesMasters/notesMaster1.xml" Id="Rd992f212447a4b5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9f9cc00b72f4c1d" /><Relationship Type="http://schemas.openxmlformats.org/officeDocument/2006/relationships/notesMaster" Target="/ppt/notesMasters/notesMaster1.xml" Id="R2316d62141c4462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7a81912128345a4" /><Relationship Type="http://schemas.openxmlformats.org/officeDocument/2006/relationships/notesMaster" Target="/ppt/notesMasters/notesMaster1.xml" Id="Re72ceb7135d347d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2949eb5fa5c4d3f" /><Relationship Type="http://schemas.openxmlformats.org/officeDocument/2006/relationships/notesMaster" Target="/ppt/notesMasters/notesMaster1.xml" Id="R49c00ec0e43a46f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be5317105d842dc" /><Relationship Type="http://schemas.openxmlformats.org/officeDocument/2006/relationships/notesMaster" Target="/ppt/notesMasters/notesMaster1.xml" Id="R9f0bdc82c61c473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5cc9dc78f144397" /><Relationship Type="http://schemas.openxmlformats.org/officeDocument/2006/relationships/notesMaster" Target="/ppt/notesMasters/notesMaster1.xml" Id="R1a0f7340d52144a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a13f60ae59b49cd" /><Relationship Type="http://schemas.openxmlformats.org/officeDocument/2006/relationships/notesMaster" Target="/ppt/notesMasters/notesMaster1.xml" Id="R144f719048c3409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d6f878108a646db" /><Relationship Type="http://schemas.openxmlformats.org/officeDocument/2006/relationships/notesMaster" Target="/ppt/notesMasters/notesMaster1.xml" Id="R4c241f1ea4c845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6e52f60d9a49a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b6295a5e5444c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d2b2f7b60d48a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a46e1d495a483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afb942bc71471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3fae6127ce4d4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192EAB9-08E6-4519-BDF8-85EA3C584E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D827C53-AE19-49E9-8B89-149CC85EB94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78FC1E8-6A96-440C-AA3E-567337B6E5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4C0DE36-43A5-459A-AE6C-B614387C39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F5D29C1-3459-4E24-9E5E-F7E2790B599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7EBA007-BA2B-494E-8759-A3D01FCA93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AF730D7-68ED-4D81-9552-521AB19B22E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999C49C-93D2-4ABC-9204-68796108A35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7D7032B-D738-4BAF-A63B-0F5ADB6D63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725A6EA-4E6B-4620-9715-DFAD8457A7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5e1f27b80549f2" /><Relationship Type="http://schemas.openxmlformats.org/officeDocument/2006/relationships/slideLayout" Target="/ppt/slideLayouts/slideLayout1.xml" Id="R736806afffca4cc1" /><Relationship Type="http://schemas.openxmlformats.org/officeDocument/2006/relationships/slideLayout" Target="/ppt/slideLayouts/slideLayout2.xml" Id="R5ea4c0ed31584204" /><Relationship Type="http://schemas.openxmlformats.org/officeDocument/2006/relationships/slideLayout" Target="/ppt/slideLayouts/slideLayout3.xml" Id="Re527a8d227754b23" /><Relationship Type="http://schemas.openxmlformats.org/officeDocument/2006/relationships/slideLayout" Target="/ppt/slideLayouts/slideLayout4.xml" Id="Rcf00b7c9b55c4a68" /><Relationship Type="http://schemas.openxmlformats.org/officeDocument/2006/relationships/slideLayout" Target="/ppt/slideLayouts/slideLayout5.xml" Id="R6b7d3dbf600740ff" /><Relationship Type="http://schemas.openxmlformats.org/officeDocument/2006/relationships/slideLayout" Target="/ppt/slideLayouts/slideLayout6.xml" Id="R686acc3fce1a42c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6806afffca4cc1"/>
    <p:sldLayoutId xmlns:r="http://schemas.openxmlformats.org/officeDocument/2006/relationships" id="2147483650" r:id="R5ea4c0ed31584204"/>
    <p:sldLayoutId xmlns:r="http://schemas.openxmlformats.org/officeDocument/2006/relationships" id="2147483651" r:id="Re527a8d227754b23"/>
    <p:sldLayoutId xmlns:r="http://schemas.openxmlformats.org/officeDocument/2006/relationships" id="2147483652" r:id="Rcf00b7c9b55c4a68"/>
    <p:sldLayoutId xmlns:r="http://schemas.openxmlformats.org/officeDocument/2006/relationships" id="2147483653" r:id="R6b7d3dbf600740ff"/>
    <p:sldLayoutId xmlns:r="http://schemas.openxmlformats.org/officeDocument/2006/relationships" id="2147483654" r:id="R686acc3fce1a42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9b04aa2aa94794" /><Relationship Type="http://schemas.openxmlformats.org/officeDocument/2006/relationships/notesSlide" Target="/ppt/notesSlides/notesSlide1.xml" Id="Rb73b01a2c1d74bb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963c27279a4e02" /><Relationship Type="http://schemas.openxmlformats.org/officeDocument/2006/relationships/notesSlide" Target="/ppt/notesSlides/notesSlide2.xml" Id="R471d0915799e4ce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649221d6154756" /><Relationship Type="http://schemas.openxmlformats.org/officeDocument/2006/relationships/notesSlide" Target="/ppt/notesSlides/notesSlide3.xml" Id="Ra12595774c714d8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14f48b9bf84e71" /><Relationship Type="http://schemas.openxmlformats.org/officeDocument/2006/relationships/notesSlide" Target="/ppt/notesSlides/notesSlide4.xml" Id="Ra674719bc57f462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f1df67deb74ce4" /><Relationship Type="http://schemas.openxmlformats.org/officeDocument/2006/relationships/notesSlide" Target="/ppt/notesSlides/notesSlide5.xml" Id="R534f998d209c47f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b7bb88d1b24711" /><Relationship Type="http://schemas.openxmlformats.org/officeDocument/2006/relationships/notesSlide" Target="/ppt/notesSlides/notesSlide6.xml" Id="R663bbc28bf16466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4c8a7ccda14278" /><Relationship Type="http://schemas.openxmlformats.org/officeDocument/2006/relationships/notesSlide" Target="/ppt/notesSlides/notesSlide7.xml" Id="R19cd48cc74e7473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717e11bdf342a4" /><Relationship Type="http://schemas.openxmlformats.org/officeDocument/2006/relationships/notesSlide" Target="/ppt/notesSlides/notesSlide8.xml" Id="R05db25da6a23434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90d49dc6244db8" /><Relationship Type="http://schemas.openxmlformats.org/officeDocument/2006/relationships/notesSlide" Target="/ppt/notesSlides/notesSlide9.xml" Id="R1f78a54defae4bb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93fbd4b7d345c0" /><Relationship Type="http://schemas.openxmlformats.org/officeDocument/2006/relationships/notesSlide" Target="/ppt/notesSlides/notesSlide10.xml" Id="Rb25235bc0bd0403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8217731fb14a52" /><Relationship Type="http://schemas.openxmlformats.org/officeDocument/2006/relationships/notesSlide" Target="/ppt/notesSlides/notesSlide11.xml" Id="R0d6436b202754eb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14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5DF3A6-DB4F-48D1-ACD7-18F8187E8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0"/>
            <a:ext cx="4762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2B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2872FF-97C0-442E-8362-35CA5A16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952500"/>
            <a:ext cx="2762250" cy="2762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38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0822E0-6050-4775-A0CB-8873405C6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514475"/>
            <a:ext cx="1638300" cy="1638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14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7EAF79-3DB5-477E-9534-236DB71B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7048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54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5400" b="1">
                <a:solidFill>
                  <a:srgbClr val="FFFFFF"/>
                </a:solidFill>
              </a:defRPr>
            </a:pPr>
            <a:r>
              <a:rPr sz="5400" b="1">
                <a:solidFill>
                  <a:srgbClr val="FFFFFF"/>
                </a:solidFill>
              </a:rPr>
              <a:t>THE</a:t>
            </a:r>
          </a:p>
          <a:p xmlns:a="http://schemas.openxmlformats.org/drawingml/2006/main">
            <a:pPr>
              <a:defRPr sz="5400" b="1">
                <a:solidFill>
                  <a:srgbClr val="FFFFFF"/>
                </a:solidFill>
              </a:defRPr>
            </a:pPr>
            <a:r>
              <a:rPr sz="5400" b="1">
                <a:solidFill>
                  <a:srgbClr val="FFFFFF"/>
                </a:solidFill>
              </a:rPr>
              <a:t>WINGWOMAN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C30965-92F7-4D86-97EB-D46129568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0025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EFC57B"/>
                </a:solidFill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EFC57B"/>
                </a:solidFill>
              </a:defRPr>
            </a:pPr>
            <a:r>
              <a:rPr sz="2100" b="0">
                <a:solidFill>
                  <a:srgbClr val="EFC57B"/>
                </a:solidFill>
              </a:rPr>
              <a:t>She wrote the rules. He wrote them first.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058280-B820-4B5D-AD95-39A1E53D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7687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ROMANTIC COMEDY  /  FEATURE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C8FDF9-345C-4B4B-9F47-8D63FDC44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864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Written by Kelly R. Tenney</a:t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NCCA Entertainment</a:t>
            </a:r>
          </a:p>
        </p:txBody>
      </p:sp>
    </p:spTree>
    <p:extLst>
      <p:ext uri="{BB962C8B-B14F-4D97-AF65-F5344CB8AC3E}">
        <p14:creationId xmlns:p14="http://schemas.microsoft.com/office/powerpoint/2010/main" val="21356142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6E301E-2BC4-4FA7-BDF1-0925DD6F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38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97488B-A385-48BB-8D3F-D6538A45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442B51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442B51"/>
                </a:solidFill>
              </a:defRPr>
            </a:pPr>
            <a:r>
              <a:rPr sz="975" b="1">
                <a:solidFill>
                  <a:srgbClr val="442B51"/>
                </a:solidFill>
              </a:rPr>
              <a:t>THE WINGWOMAN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757BDB-ECBB-4D33-841E-B8B9B08E3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300" b="1">
                <a:solidFill>
                  <a:srgbClr val="18142B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142B"/>
                </a:solidFill>
              </a:defRPr>
            </a:pPr>
            <a:r>
              <a:rPr sz="3300" b="1">
                <a:solidFill>
                  <a:srgbClr val="18142B"/>
                </a:solidFill>
              </a:rPr>
              <a:t>A love expert with one impossible proof.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DD72DD-D5B0-4798-A9C1-A5422E64E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38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0280D7-E830-4AC8-A007-57501F089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361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6F6775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6F6775"/>
                </a:solidFill>
              </a:defRPr>
            </a:pPr>
            <a:r>
              <a:rPr sz="900" b="1">
                <a:solidFill>
                  <a:srgbClr val="6F6775"/>
                </a:solidFill>
              </a:rPr>
              <a:t>NCCA ENTERTAINMENT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B50CDA-DE5F-4350-83EC-FD785C770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6270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6F6775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6F6775"/>
                </a:solidFill>
              </a:defRPr>
            </a:pPr>
            <a:r>
              <a:rPr sz="900" b="1">
                <a:solidFill>
                  <a:srgbClr val="6F6775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62E62E-C8E0-48A8-8131-2AF53E6C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19300"/>
            <a:ext cx="70485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1">
                <a:solidFill>
                  <a:srgbClr val="18142B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8142B"/>
                </a:solidFill>
              </a:defRPr>
            </a:pPr>
            <a:r>
              <a:rPr sz="2700" b="1">
                <a:solidFill>
                  <a:srgbClr val="18142B"/>
                </a:solidFill>
              </a:rPr>
              <a:t>A dating guru who sells love as a system has thirty days to prove it works in public or lose her company.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13C36C-A279-4BCB-937F-C37E91AE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81200"/>
            <a:ext cx="295275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2B5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852612-C6DF-4A8E-BAFB-620654502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90750"/>
            <a:ext cx="23336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72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7200" b="1">
                <a:solidFill>
                  <a:srgbClr val="FFFFFF"/>
                </a:solidFill>
              </a:defRPr>
            </a:pPr>
            <a:r>
              <a:rPr sz="7200" b="1">
                <a:solidFill>
                  <a:srgbClr val="FFFFFF"/>
                </a:solidFill>
              </a:rPr>
              <a:t>30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141FFD-9FE9-4340-B157-D7EFB9284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514725"/>
            <a:ext cx="2047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1">
                <a:solidFill>
                  <a:srgbClr val="EFC57B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EFC57B"/>
                </a:solidFill>
              </a:defRPr>
            </a:pPr>
            <a:r>
              <a:rPr sz="2250" b="1">
                <a:solidFill>
                  <a:srgbClr val="EFC57B"/>
                </a:solidFill>
              </a:rPr>
              <a:t>DAYS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DEE4E1-C75E-4961-8E43-21A26B34A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229100"/>
            <a:ext cx="685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442B51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442B51"/>
                </a:solidFill>
              </a:defRPr>
            </a:pPr>
            <a:r>
              <a:rPr sz="2025" b="0">
                <a:solidFill>
                  <a:srgbClr val="442B51"/>
                </a:solidFill>
              </a:rPr>
              <a:t>Her test subject is her best friend’s divorced brother. Her rulebook began in his college notebook.</a:t>
            </a:r>
          </a:p>
        </p:txBody>
      </p:sp>
    </p:spTree>
    <p:extLst>
      <p:ext uri="{BB962C8B-B14F-4D97-AF65-F5344CB8AC3E}">
        <p14:creationId xmlns:p14="http://schemas.microsoft.com/office/powerpoint/2010/main" val="1804690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CFC1B4-1A2F-4112-AC6A-6E16160CC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38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6997D3-12BA-4F00-8B67-90E311524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442B51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442B51"/>
                </a:solidFill>
              </a:defRPr>
            </a:pPr>
            <a:r>
              <a:rPr sz="975" b="1">
                <a:solidFill>
                  <a:srgbClr val="442B51"/>
                </a:solidFill>
              </a:rPr>
              <a:t>THE WINGWOMAN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38D31B-2F90-4672-BFD4-7AD8FF86D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300" b="1">
                <a:solidFill>
                  <a:srgbClr val="18142B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142B"/>
                </a:solidFill>
              </a:defRPr>
            </a:pPr>
            <a:r>
              <a:rPr sz="3300" b="1">
                <a:solidFill>
                  <a:srgbClr val="18142B"/>
                </a:solidFill>
              </a:rPr>
              <a:t>The story engine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DCDB9D-4DA4-4FE6-AF18-C70BFD62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38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54BCFF-C1DE-4923-8F49-F29292B2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361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6F6775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6F6775"/>
                </a:solidFill>
              </a:defRPr>
            </a:pPr>
            <a:r>
              <a:rPr sz="900" b="1">
                <a:solidFill>
                  <a:srgbClr val="6F6775"/>
                </a:solidFill>
              </a:rPr>
              <a:t>NCCA ENTERTAINMENT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4F3C1E-C7EE-420D-88AF-FC5E3FF06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6270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6F6775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6F6775"/>
                </a:solidFill>
              </a:defRPr>
            </a:pPr>
            <a:r>
              <a:rPr sz="900" b="1">
                <a:solidFill>
                  <a:srgbClr val="6F6775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649A84-67BA-458E-99B3-63F7A1EF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0250"/>
            <a:ext cx="85725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38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52CE37-B07A-4143-9138-222BA5022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00250"/>
            <a:ext cx="2667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442B51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442B51"/>
                </a:solidFill>
              </a:defRPr>
            </a:pPr>
            <a:r>
              <a:rPr sz="1500" b="1">
                <a:solidFill>
                  <a:srgbClr val="442B51"/>
                </a:solidFill>
              </a:rPr>
              <a:t>THE DEAL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C729B9-7702-4583-A031-7A972EB2A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971675"/>
            <a:ext cx="7429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8142B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8142B"/>
                </a:solidFill>
              </a:defRPr>
            </a:pPr>
            <a:r>
              <a:rPr sz="1875" b="0">
                <a:solidFill>
                  <a:srgbClr val="18142B"/>
                </a:solidFill>
              </a:rPr>
              <a:t>$14 million for Bekah’s company, if her method creates a public love story in thirty days.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CDE2D4-B887-4356-9B0A-00EAF1F5E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86125"/>
            <a:ext cx="85725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38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D34B48-FBCD-4DB9-BE31-8AE4EB0F1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86125"/>
            <a:ext cx="2667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442B51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442B51"/>
                </a:solidFill>
              </a:defRPr>
            </a:pPr>
            <a:r>
              <a:rPr sz="1500" b="1">
                <a:solidFill>
                  <a:srgbClr val="442B51"/>
                </a:solidFill>
              </a:rPr>
              <a:t>THE SUBJECT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F93903-054C-4B81-AD57-090F396C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257550"/>
            <a:ext cx="7429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8142B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8142B"/>
                </a:solidFill>
              </a:defRPr>
            </a:pPr>
            <a:r>
              <a:rPr sz="1875" b="0">
                <a:solidFill>
                  <a:srgbClr val="18142B"/>
                </a:solidFill>
              </a:rPr>
              <a:t>Eli Cohen, a history teacher and single dad who has stayed out of dating for two years.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59F914-969B-4E3A-B882-2B208608D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85725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38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1CE3BA-7E6F-4C28-B21C-A30167E78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72000"/>
            <a:ext cx="2667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442B51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442B51"/>
                </a:solidFill>
              </a:defRPr>
            </a:pPr>
            <a:r>
              <a:rPr sz="1500" b="1">
                <a:solidFill>
                  <a:srgbClr val="442B51"/>
                </a:solidFill>
              </a:rPr>
              <a:t>THE SECRET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599827-1EDF-40FC-92CB-CBDA8281C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543425"/>
            <a:ext cx="7429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8142B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8142B"/>
                </a:solidFill>
              </a:defRPr>
            </a:pPr>
            <a:r>
              <a:rPr sz="1875" b="0">
                <a:solidFill>
                  <a:srgbClr val="18142B"/>
                </a:solidFill>
              </a:rPr>
              <a:t>Bekah loved Eli in college and built her system from ideas he wrote down in a UCLA library.</a:t>
            </a:r>
          </a:p>
        </p:txBody>
      </p:sp>
    </p:spTree>
    <p:extLst>
      <p:ext uri="{BB962C8B-B14F-4D97-AF65-F5344CB8AC3E}">
        <p14:creationId xmlns:p14="http://schemas.microsoft.com/office/powerpoint/2010/main" val="17808092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FCDDEE-9CA1-4DAD-9B99-9BB86D8F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38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6CF9B0-AE5C-4BAA-AA10-0E53B2D82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442B51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442B51"/>
                </a:solidFill>
              </a:defRPr>
            </a:pPr>
            <a:r>
              <a:rPr sz="975" b="1">
                <a:solidFill>
                  <a:srgbClr val="442B51"/>
                </a:solidFill>
              </a:rPr>
              <a:t>THE WINGWOMAN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4AF23D-42F1-4823-9B53-F93BB196E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300" b="1">
                <a:solidFill>
                  <a:srgbClr val="18142B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142B"/>
                </a:solidFill>
              </a:defRPr>
            </a:pPr>
            <a:r>
              <a:rPr sz="3300" b="1">
                <a:solidFill>
                  <a:srgbClr val="18142B"/>
                </a:solidFill>
              </a:rPr>
              <a:t>Bekah Hargan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37320F-03D6-4232-A1C4-E4D0FFA35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38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A45C7A-FC85-4A0C-A967-7891AFE64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361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6F6775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6F6775"/>
                </a:solidFill>
              </a:defRPr>
            </a:pPr>
            <a:r>
              <a:rPr sz="900" b="1">
                <a:solidFill>
                  <a:srgbClr val="6F6775"/>
                </a:solidFill>
              </a:rPr>
              <a:t>NCCA ENTERTAINMENT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B6DED7-891F-4AB7-9085-73845AC1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6270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6F6775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6F6775"/>
                </a:solidFill>
              </a:defRPr>
            </a:pPr>
            <a:r>
              <a:rPr sz="900" b="1">
                <a:solidFill>
                  <a:srgbClr val="6F6775"/>
                </a:solidFill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B245E9-E421-4EDC-B0B2-C2DD6442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71675"/>
            <a:ext cx="9525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75" b="1">
                <a:solidFill>
                  <a:srgbClr val="18142B"/>
                </a:solidFill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18142B"/>
                </a:solidFill>
              </a:defRPr>
            </a:pPr>
            <a:r>
              <a:rPr sz="2475" b="1">
                <a:solidFill>
                  <a:srgbClr val="18142B"/>
                </a:solidFill>
              </a:rPr>
              <a:t>She can sell certainty to a theater full of strangers. She cannot risk one honest sentence with Eli.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563012-5844-45B4-BD5F-F2433E499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623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38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3F6270-2F2E-4FAA-882F-615308CA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4810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E76386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E76386"/>
                </a:solidFill>
              </a:defRPr>
            </a:pPr>
            <a:r>
              <a:rPr sz="1275" b="1">
                <a:solidFill>
                  <a:srgbClr val="E76386"/>
                </a:solidFill>
              </a:rPr>
              <a:t>START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986590-36DC-4423-92C1-BCAB22347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14825"/>
            <a:ext cx="4476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442B51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442B51"/>
                </a:solidFill>
              </a:defRPr>
            </a:pPr>
            <a:r>
              <a:rPr sz="1950" b="0">
                <a:solidFill>
                  <a:srgbClr val="442B51"/>
                </a:solidFill>
              </a:rPr>
              <a:t>Turns fear into a profitable dating formula.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062AAC-0E74-4C74-ADC1-6C96C33BA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481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E76386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E76386"/>
                </a:solidFill>
              </a:defRPr>
            </a:pPr>
            <a:r>
              <a:rPr sz="1275" b="1">
                <a:solidFill>
                  <a:srgbClr val="E76386"/>
                </a:solidFill>
              </a:rPr>
              <a:t>CHOICE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E5470D-88D5-4F59-86FB-D6C1A7582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14825"/>
            <a:ext cx="4953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442B51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442B51"/>
                </a:solidFill>
              </a:defRPr>
            </a:pPr>
            <a:r>
              <a:rPr sz="1875" b="0">
                <a:solidFill>
                  <a:srgbClr val="442B51"/>
                </a:solidFill>
              </a:rPr>
              <a:t>At the Biltmore, she can name a couple and keep the deal, or expose what she hid.</a:t>
            </a:r>
          </a:p>
        </p:txBody>
      </p:sp>
    </p:spTree>
    <p:extLst>
      <p:ext uri="{BB962C8B-B14F-4D97-AF65-F5344CB8AC3E}">
        <p14:creationId xmlns:p14="http://schemas.microsoft.com/office/powerpoint/2010/main" val="15319327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57A02D-32B7-4CAD-BC21-97908F85E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38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DE1C1F-6573-4089-98A0-60E37A5F4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442B51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442B51"/>
                </a:solidFill>
              </a:defRPr>
            </a:pPr>
            <a:r>
              <a:rPr sz="975" b="1">
                <a:solidFill>
                  <a:srgbClr val="442B51"/>
                </a:solidFill>
              </a:rPr>
              <a:t>THE WINGWOMAN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FD0C55-84E4-406A-AF88-87A40FEC6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300" b="1">
                <a:solidFill>
                  <a:srgbClr val="18142B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142B"/>
                </a:solidFill>
              </a:defRPr>
            </a:pPr>
            <a:r>
              <a:rPr sz="3300" b="1">
                <a:solidFill>
                  <a:srgbClr val="18142B"/>
                </a:solidFill>
              </a:rPr>
              <a:t>Eli is a person, not a case study.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F53F1B-40C0-4269-B623-7D2307A55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38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1C1341-8006-4C9F-B822-94B17B1C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361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6F6775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6F6775"/>
                </a:solidFill>
              </a:defRPr>
            </a:pPr>
            <a:r>
              <a:rPr sz="900" b="1">
                <a:solidFill>
                  <a:srgbClr val="6F6775"/>
                </a:solidFill>
              </a:rPr>
              <a:t>NCCA ENTERTAINMENT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D7AADE-1418-416A-AAEA-A027E395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6270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6F6775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6F6775"/>
                </a:solidFill>
              </a:defRPr>
            </a:pPr>
            <a:r>
              <a:rPr sz="900" b="1">
                <a:solidFill>
                  <a:srgbClr val="6F6775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2C18AC-9603-46C6-A8EB-B60FE7D94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71675"/>
            <a:ext cx="10191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18142B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8142B"/>
                </a:solidFill>
              </a:defRPr>
            </a:pPr>
            <a:r>
              <a:rPr sz="2400" b="1">
                <a:solidFill>
                  <a:srgbClr val="18142B"/>
                </a:solidFill>
              </a:rPr>
              <a:t>A rumpled teacher, a father to nine-year-old Sophie, and the unwitting author of Bekah’s rules.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A634A6-8368-4EF4-86E0-96BA8BF8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52825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E76386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E76386"/>
                </a:solidFill>
              </a:defRPr>
            </a:pPr>
            <a:r>
              <a:rPr sz="1500" b="1">
                <a:solidFill>
                  <a:srgbClr val="E76386"/>
                </a:solidFill>
              </a:rPr>
              <a:t>His boundary changes the movie: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B570FC-4CEA-4DBF-B856-420B9B2C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86225"/>
            <a:ext cx="97155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0">
                <a:solidFill>
                  <a:srgbClr val="442B51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442B51"/>
                </a:solidFill>
              </a:defRPr>
            </a:pPr>
            <a:r>
              <a:rPr sz="2175" b="0">
                <a:solidFill>
                  <a:srgbClr val="442B51"/>
                </a:solidFill>
              </a:rPr>
              <a:t>He drops her live coaching earpiece into a water glass mid-date. Her instructions keep talking while he decides for himself.</a:t>
            </a:r>
          </a:p>
        </p:txBody>
      </p:sp>
    </p:spTree>
    <p:extLst>
      <p:ext uri="{BB962C8B-B14F-4D97-AF65-F5344CB8AC3E}">
        <p14:creationId xmlns:p14="http://schemas.microsoft.com/office/powerpoint/2010/main" val="12383262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D350E9-28C1-44E7-B406-07CEC7DA8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38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F6CCCE-F72E-4C1C-9B55-FD754FEF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442B51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442B51"/>
                </a:solidFill>
              </a:defRPr>
            </a:pPr>
            <a:r>
              <a:rPr sz="975" b="1">
                <a:solidFill>
                  <a:srgbClr val="442B51"/>
                </a:solidFill>
              </a:rPr>
              <a:t>THE WINGWOMAN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2000A7-893C-422F-82CC-FE199BFA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300" b="1">
                <a:solidFill>
                  <a:srgbClr val="18142B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142B"/>
                </a:solidFill>
              </a:defRPr>
            </a:pPr>
            <a:r>
              <a:rPr sz="3300" b="1">
                <a:solidFill>
                  <a:srgbClr val="18142B"/>
                </a:solidFill>
              </a:rPr>
              <a:t>The people who raise the stakes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2E5115-90D2-4C46-8971-2E6093063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38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A3DD38-F221-4804-B74D-E8681B351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361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6F6775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6F6775"/>
                </a:solidFill>
              </a:defRPr>
            </a:pPr>
            <a:r>
              <a:rPr sz="900" b="1">
                <a:solidFill>
                  <a:srgbClr val="6F6775"/>
                </a:solidFill>
              </a:rPr>
              <a:t>NCCA ENTERTAINMENT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DC2A55-CE82-4492-BE87-DD14F45B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6270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6F6775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6F6775"/>
                </a:solidFill>
              </a:defRPr>
            </a:pPr>
            <a:r>
              <a:rPr sz="900" b="1">
                <a:solidFill>
                  <a:srgbClr val="6F6775"/>
                </a:solidFill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2AB9C9-5EF9-461A-B6CF-85BDB7EB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193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E76386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E76386"/>
                </a:solidFill>
              </a:defRPr>
            </a:pPr>
            <a:r>
              <a:rPr sz="1575" b="1">
                <a:solidFill>
                  <a:srgbClr val="E76386"/>
                </a:solidFill>
              </a:rPr>
              <a:t>NAOMI COHEN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7697E4-6652-4518-8955-929CB0022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14600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8142B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8142B"/>
                </a:solidFill>
              </a:defRPr>
            </a:pPr>
            <a:r>
              <a:rPr sz="1800" b="0">
                <a:solidFill>
                  <a:srgbClr val="18142B"/>
                </a:solidFill>
              </a:rPr>
              <a:t>Eli’s sister and Bekah’s best friend. She gives Bekah the chance, then sees the cost.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CAA9D6-CEB9-48C1-9696-8E6F8780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0193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E76386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E76386"/>
                </a:solidFill>
              </a:defRPr>
            </a:pPr>
            <a:r>
              <a:rPr sz="1575" b="1">
                <a:solidFill>
                  <a:srgbClr val="E76386"/>
                </a:solidFill>
              </a:rPr>
              <a:t>DEREK LONG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6CD3D8-FE95-408E-9ABF-587FB1BD8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514600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8142B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8142B"/>
                </a:solidFill>
              </a:defRPr>
            </a:pPr>
            <a:r>
              <a:rPr sz="1800" b="0">
                <a:solidFill>
                  <a:srgbClr val="18142B"/>
                </a:solidFill>
              </a:rPr>
              <a:t>Podcast co-host and Bekah’s conscience. He tells her the truth without a script.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694DA0-C9DE-47BE-B2FB-1405128BD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290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E76386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E76386"/>
                </a:solidFill>
              </a:defRPr>
            </a:pPr>
            <a:r>
              <a:rPr sz="1575" b="1">
                <a:solidFill>
                  <a:srgbClr val="E76386"/>
                </a:solidFill>
              </a:rPr>
              <a:t>CHLOE VANCE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5CE2D4-E8D7-465F-ADA4-4C53D13F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24350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8142B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8142B"/>
                </a:solidFill>
              </a:defRPr>
            </a:pPr>
            <a:r>
              <a:rPr sz="1800" b="0">
                <a:solidFill>
                  <a:srgbClr val="18142B"/>
                </a:solidFill>
              </a:rPr>
              <a:t>A rival coach with boundaries. She offers Eli a real alternative.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BABA64-A1B8-48FF-8E06-A1EEE2607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8290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E76386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E76386"/>
                </a:solidFill>
              </a:defRPr>
            </a:pPr>
            <a:r>
              <a:rPr sz="1575" b="1">
                <a:solidFill>
                  <a:srgbClr val="E76386"/>
                </a:solidFill>
              </a:rPr>
              <a:t>HERMAN KAPLAN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E5DBC4-7074-4DF5-A53E-D33CA78B7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324350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8142B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8142B"/>
                </a:solidFill>
              </a:defRPr>
            </a:pPr>
            <a:r>
              <a:rPr sz="1800" b="0">
                <a:solidFill>
                  <a:srgbClr val="18142B"/>
                </a:solidFill>
              </a:rPr>
              <a:t>An investor who treats private intimacy as public inventory.</a:t>
            </a:r>
          </a:p>
        </p:txBody>
      </p:sp>
    </p:spTree>
    <p:extLst>
      <p:ext uri="{BB962C8B-B14F-4D97-AF65-F5344CB8AC3E}">
        <p14:creationId xmlns:p14="http://schemas.microsoft.com/office/powerpoint/2010/main" val="13479819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3AB5F6-47C9-4DC3-9BFA-3BB41296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38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597764-586C-4D6D-9455-3F68FF9CF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442B51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442B51"/>
                </a:solidFill>
              </a:defRPr>
            </a:pPr>
            <a:r>
              <a:rPr sz="975" b="1">
                <a:solidFill>
                  <a:srgbClr val="442B51"/>
                </a:solidFill>
              </a:rPr>
              <a:t>THE WINGWOMAN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852A0A-0535-4E40-88C2-93F33D3D0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300" b="1">
                <a:solidFill>
                  <a:srgbClr val="18142B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142B"/>
                </a:solidFill>
              </a:defRPr>
            </a:pPr>
            <a:r>
              <a:rPr sz="3300" b="1">
                <a:solidFill>
                  <a:srgbClr val="18142B"/>
                </a:solidFill>
              </a:rPr>
              <a:t>Three moments for the trailer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AFD44D-BD3E-4359-AC17-F1CC39463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38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4C2DA4-07D0-4E64-A0B4-78AD0ED2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361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6F6775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6F6775"/>
                </a:solidFill>
              </a:defRPr>
            </a:pPr>
            <a:r>
              <a:rPr sz="900" b="1">
                <a:solidFill>
                  <a:srgbClr val="6F6775"/>
                </a:solidFill>
              </a:rPr>
              <a:t>NCCA ENTERTAINMENT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A3BFA7-1947-4A6D-A00E-76C7C64B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6270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6F6775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6F6775"/>
                </a:solidFill>
              </a:defRPr>
            </a:pPr>
            <a:r>
              <a:rPr sz="900" b="1">
                <a:solidFill>
                  <a:srgbClr val="6F6775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2DB29E-88E9-4034-88B3-B4BE55737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904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750" b="1">
                <a:solidFill>
                  <a:srgbClr val="E76386"/>
                </a:solidFill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E76386"/>
                </a:solidFill>
              </a:defRPr>
            </a:pPr>
            <a:r>
              <a:rPr sz="3750" b="1">
                <a:solidFill>
                  <a:srgbClr val="E76386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E1F4FD-3DA6-4DE2-8C64-9B601580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924050"/>
            <a:ext cx="895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18142B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8142B"/>
                </a:solidFill>
              </a:defRPr>
            </a:pPr>
            <a:r>
              <a:rPr sz="1875" b="1">
                <a:solidFill>
                  <a:srgbClr val="18142B"/>
                </a:solidFill>
              </a:rPr>
              <a:t>THE EARPIECE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CB91DB-D659-4737-9AA6-B3596E31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371725"/>
            <a:ext cx="9334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442B51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442B51"/>
                </a:solidFill>
              </a:defRPr>
            </a:pPr>
            <a:r>
              <a:rPr sz="1875" b="0">
                <a:solidFill>
                  <a:srgbClr val="442B51"/>
                </a:solidFill>
              </a:rPr>
              <a:t>Eli sinks Bekah’s voice in a water glass.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80E099-FAAA-4B63-A3E6-998DFBD86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05175"/>
            <a:ext cx="904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750" b="1">
                <a:solidFill>
                  <a:srgbClr val="E76386"/>
                </a:solidFill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E76386"/>
                </a:solidFill>
              </a:defRPr>
            </a:pPr>
            <a:r>
              <a:rPr sz="3750" b="1">
                <a:solidFill>
                  <a:srgbClr val="E76386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7BDB03-2AF6-4ACB-8A5E-CDC6BC88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305175"/>
            <a:ext cx="895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18142B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8142B"/>
                </a:solidFill>
              </a:defRPr>
            </a:pPr>
            <a:r>
              <a:rPr sz="1875" b="1">
                <a:solidFill>
                  <a:srgbClr val="18142B"/>
                </a:solidFill>
              </a:rPr>
              <a:t>$14 MILLION ON FIRE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CC74E5-5C6E-41CC-A153-4186809F5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52850"/>
            <a:ext cx="9334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442B51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442B51"/>
                </a:solidFill>
              </a:defRPr>
            </a:pPr>
            <a:r>
              <a:rPr sz="1875" b="0">
                <a:solidFill>
                  <a:srgbClr val="442B51"/>
                </a:solidFill>
              </a:rPr>
              <a:t>Bekah refuses to name the couple at the Biltmore and confesses.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731B02-F51C-4058-80EF-C36DD57B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6300"/>
            <a:ext cx="904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750" b="1">
                <a:solidFill>
                  <a:srgbClr val="E76386"/>
                </a:solidFill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E76386"/>
                </a:solidFill>
              </a:defRPr>
            </a:pPr>
            <a:r>
              <a:rPr sz="3750" b="1">
                <a:solidFill>
                  <a:srgbClr val="E76386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3D7882-DA28-4804-9B91-CB2F64A99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86300"/>
            <a:ext cx="895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18142B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8142B"/>
                </a:solidFill>
              </a:defRPr>
            </a:pPr>
            <a:r>
              <a:rPr sz="1875" b="1">
                <a:solidFill>
                  <a:srgbClr val="18142B"/>
                </a:solidFill>
              </a:rPr>
              <a:t>ONE SHOE IN THE RAIN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94802A-064A-492D-9142-5EB19B884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133975"/>
            <a:ext cx="9334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442B51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442B51"/>
                </a:solidFill>
              </a:defRPr>
            </a:pPr>
            <a:r>
              <a:rPr sz="1875" b="0">
                <a:solidFill>
                  <a:srgbClr val="442B51"/>
                </a:solidFill>
              </a:rPr>
              <a:t>She runs through a rare LA storm and finds Eli at her door.</a:t>
            </a:r>
          </a:p>
        </p:txBody>
      </p:sp>
    </p:spTree>
    <p:extLst>
      <p:ext uri="{BB962C8B-B14F-4D97-AF65-F5344CB8AC3E}">
        <p14:creationId xmlns:p14="http://schemas.microsoft.com/office/powerpoint/2010/main" val="5369693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BACA9E-D212-4530-9253-A407AF15D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38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1EE395-07F4-4749-8A67-C68947FBA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442B51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442B51"/>
                </a:solidFill>
              </a:defRPr>
            </a:pPr>
            <a:r>
              <a:rPr sz="975" b="1">
                <a:solidFill>
                  <a:srgbClr val="442B51"/>
                </a:solidFill>
              </a:rPr>
              <a:t>THE WINGWOMAN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22C5A1-820E-4F89-966A-7B1D6E464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300" b="1">
                <a:solidFill>
                  <a:srgbClr val="18142B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142B"/>
                </a:solidFill>
              </a:defRPr>
            </a:pPr>
            <a:r>
              <a:rPr sz="3300" b="1">
                <a:solidFill>
                  <a:srgbClr val="18142B"/>
                </a:solidFill>
              </a:rPr>
              <a:t>Tone and audience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D49728-52B2-4F63-96F3-A6F6CA846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38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80DD46-ED7A-40E4-87DB-2F2A67D53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361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6F6775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6F6775"/>
                </a:solidFill>
              </a:defRPr>
            </a:pPr>
            <a:r>
              <a:rPr sz="900" b="1">
                <a:solidFill>
                  <a:srgbClr val="6F6775"/>
                </a:solidFill>
              </a:rPr>
              <a:t>NCCA ENTERTAINMENT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059D08-14B9-4767-88D6-C0EB0D5E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6270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6F6775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6F6775"/>
                </a:solidFill>
              </a:defRPr>
            </a:pPr>
            <a:r>
              <a:rPr sz="900" b="1">
                <a:solidFill>
                  <a:srgbClr val="6F6775"/>
                </a:solidFill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E5A084-140F-4A56-A88A-71689546C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14525"/>
            <a:ext cx="10287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8142B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8142B"/>
                </a:solidFill>
              </a:defRPr>
            </a:pPr>
            <a:r>
              <a:rPr sz="2550" b="1">
                <a:solidFill>
                  <a:srgbClr val="18142B"/>
                </a:solidFill>
              </a:rPr>
              <a:t>Fast, funny adult romance with an earned apology and a warm family center.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8D5AD2-648F-4030-8D58-81B940C3B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2952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E76386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E76386"/>
                </a:solidFill>
              </a:defRPr>
            </a:pPr>
            <a:r>
              <a:rPr sz="1725" b="1">
                <a:solidFill>
                  <a:srgbClr val="E76386"/>
                </a:solidFill>
              </a:rPr>
              <a:t>Hitch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98B25D-9F02-4190-9D2B-8B9F07F6D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4480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442B51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42B51"/>
                </a:solidFill>
              </a:defRPr>
            </a:pPr>
            <a:r>
              <a:rPr sz="1650" b="0">
                <a:solidFill>
                  <a:srgbClr val="442B51"/>
                </a:solidFill>
              </a:rPr>
              <a:t>The love expert who cannot follow her own advice.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76FA19-E40C-4434-A401-1F4F1843E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29075"/>
            <a:ext cx="2952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E76386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E76386"/>
                </a:solidFill>
              </a:defRPr>
            </a:pPr>
            <a:r>
              <a:rPr sz="1725" b="1">
                <a:solidFill>
                  <a:srgbClr val="E76386"/>
                </a:solidFill>
              </a:rPr>
              <a:t>Set It Up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5D6E9A-3084-44E1-B69D-DE356FAD3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029075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442B51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42B51"/>
                </a:solidFill>
              </a:defRPr>
            </a:pPr>
            <a:r>
              <a:rPr sz="1650" b="0">
                <a:solidFill>
                  <a:srgbClr val="442B51"/>
                </a:solidFill>
              </a:rPr>
              <a:t>Engineered matchmaking under a work deadline.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E44C4A-A047-4EBF-B5D0-F7EDBD97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0100"/>
            <a:ext cx="2952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E76386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E76386"/>
                </a:solidFill>
              </a:defRPr>
            </a:pPr>
            <a:r>
              <a:rPr sz="1725" b="1">
                <a:solidFill>
                  <a:srgbClr val="E76386"/>
                </a:solidFill>
              </a:rPr>
              <a:t>Always Be My Maybe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21AE9B-1360-459C-AF6D-B51BDED7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6101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442B51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42B51"/>
                </a:solidFill>
              </a:defRPr>
            </a:pPr>
            <a:r>
              <a:rPr sz="1650" b="0">
                <a:solidFill>
                  <a:srgbClr val="442B51"/>
                </a:solidFill>
              </a:rPr>
              <a:t>Long LA history and feelings left unsaid.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60739B-89D6-4A23-A201-6DD94845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91125"/>
            <a:ext cx="2952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E76386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E76386"/>
                </a:solidFill>
              </a:defRPr>
            </a:pPr>
            <a:r>
              <a:rPr sz="1725" b="1">
                <a:solidFill>
                  <a:srgbClr val="E76386"/>
                </a:solidFill>
              </a:rPr>
              <a:t>Nobody Wants This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4B317F-3696-47FF-A165-EB3019EF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191125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442B51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42B51"/>
                </a:solidFill>
              </a:defRPr>
            </a:pPr>
            <a:r>
              <a:rPr sz="1650" b="0">
                <a:solidFill>
                  <a:srgbClr val="442B51"/>
                </a:solidFill>
              </a:rPr>
              <a:t>Warm Jewish family texture and grown-up romance.</a:t>
            </a:r>
          </a:p>
        </p:txBody>
      </p:sp>
    </p:spTree>
    <p:extLst>
      <p:ext uri="{BB962C8B-B14F-4D97-AF65-F5344CB8AC3E}">
        <p14:creationId xmlns:p14="http://schemas.microsoft.com/office/powerpoint/2010/main" val="4616836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BA016F-16B1-417B-AAC1-A2E8766F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38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DC5356-A5AD-4365-B9A9-D23F9F3AE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442B51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442B51"/>
                </a:solidFill>
              </a:defRPr>
            </a:pPr>
            <a:r>
              <a:rPr sz="975" b="1">
                <a:solidFill>
                  <a:srgbClr val="442B51"/>
                </a:solidFill>
              </a:rPr>
              <a:t>THE WINGWOMAN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9A1D26-2E31-4978-BA43-3DBE151CB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300" b="1">
                <a:solidFill>
                  <a:srgbClr val="18142B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142B"/>
                </a:solidFill>
              </a:defRPr>
            </a:pPr>
            <a:r>
              <a:rPr sz="3300" b="1">
                <a:solidFill>
                  <a:srgbClr val="18142B"/>
                </a:solidFill>
              </a:rPr>
              <a:t>A contained Los Angeles feature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3C25A6-9F84-426D-A1D2-A8FD24352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38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98D0CB-F69A-48BA-A073-50C46188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361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6F6775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6F6775"/>
                </a:solidFill>
              </a:defRPr>
            </a:pPr>
            <a:r>
              <a:rPr sz="900" b="1">
                <a:solidFill>
                  <a:srgbClr val="6F6775"/>
                </a:solidFill>
              </a:rPr>
              <a:t>NCCA ENTERTAINMENT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7D16ED-D9C9-4055-B18B-83A8A7AC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6270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6F6775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6F6775"/>
                </a:solidFill>
              </a:defRPr>
            </a:pPr>
            <a:r>
              <a:rPr sz="900" b="1">
                <a:solidFill>
                  <a:srgbClr val="6F6775"/>
                </a:solidFill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F78771-C394-49D1-B4F7-D8896F9F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952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75" b="1">
                <a:solidFill>
                  <a:srgbClr val="18142B"/>
                </a:solidFill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18142B"/>
                </a:solidFill>
              </a:defRPr>
            </a:pPr>
            <a:r>
              <a:rPr sz="2475" b="1">
                <a:solidFill>
                  <a:srgbClr val="18142B"/>
                </a:solidFill>
              </a:rPr>
              <a:t>95–100 minutes  /  R-rated romantic comedy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E7A434-8D0D-45A5-BD89-65DAFF57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0375"/>
            <a:ext cx="9525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442B51"/>
                </a:solidFill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442B51"/>
                </a:solidFill>
              </a:defRPr>
            </a:pPr>
            <a:r>
              <a:rPr sz="2100" b="0">
                <a:solidFill>
                  <a:srgbClr val="442B51"/>
                </a:solidFill>
              </a:rPr>
              <a:t>Silver Lake and Atwater give the romance lived-in texture. The Wiltern opening and Biltmore gala provide scale. The rare rainstorm pays off the ending.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0223F4-B309-416B-8C18-7C5281F5F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9620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6F6775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F6775"/>
                </a:solidFill>
              </a:defRPr>
            </a:pPr>
            <a:r>
              <a:rPr sz="1725" b="0">
                <a:solidFill>
                  <a:srgbClr val="6F6775"/>
                </a:solidFill>
              </a:rPr>
              <a:t>Anchor locations: two apartments, an office, a podcast studio, one restaurant.</a:t>
            </a:r>
          </a:p>
        </p:txBody>
      </p:sp>
    </p:spTree>
    <p:extLst>
      <p:ext uri="{BB962C8B-B14F-4D97-AF65-F5344CB8AC3E}">
        <p14:creationId xmlns:p14="http://schemas.microsoft.com/office/powerpoint/2010/main" val="115678361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A8E6CD-DB29-4A9A-9ED9-F6E21BEC1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38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B56047-5A8E-4224-8A06-75252E50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442B51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442B51"/>
                </a:solidFill>
              </a:defRPr>
            </a:pPr>
            <a:r>
              <a:rPr sz="975" b="1">
                <a:solidFill>
                  <a:srgbClr val="442B51"/>
                </a:solidFill>
              </a:rPr>
              <a:t>THE WINGWOMAN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7F2354-2CCE-4E74-8585-79E40A14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300" b="1">
                <a:solidFill>
                  <a:srgbClr val="18142B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142B"/>
                </a:solidFill>
              </a:defRPr>
            </a:pPr>
            <a:r>
              <a:rPr sz="3300" b="1">
                <a:solidFill>
                  <a:srgbClr val="18142B"/>
                </a:solidFill>
              </a:rPr>
              <a:t>Casting conversation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DC128D-1E20-468E-A427-77F2A8A1D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38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70A44E-35FD-4B8E-B4B7-81CC6DF58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361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6F6775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6F6775"/>
                </a:solidFill>
              </a:defRPr>
            </a:pPr>
            <a:r>
              <a:rPr sz="900" b="1">
                <a:solidFill>
                  <a:srgbClr val="6F6775"/>
                </a:solidFill>
              </a:rPr>
              <a:t>NCCA ENTERTAINMENT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B4E2B1-73BE-4D54-8F75-3AE74E3D5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6270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6F6775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6F6775"/>
                </a:solidFill>
              </a:defRPr>
            </a:pPr>
            <a:r>
              <a:rPr sz="900" b="1">
                <a:solidFill>
                  <a:srgbClr val="6F6775"/>
                </a:solidFill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FD31D4-B3E1-406E-B98E-53A17DE83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E76386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E76386"/>
                </a:solidFill>
              </a:defRPr>
            </a:pPr>
            <a:r>
              <a:rPr sz="1725" b="1">
                <a:solidFill>
                  <a:srgbClr val="E76386"/>
                </a:solidFill>
              </a:rPr>
              <a:t>Wish list for discussion only. No talent approaches or attachments.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4D1239-A5D1-4F43-8314-9F38A19E0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6479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E76386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E76386"/>
                </a:solidFill>
              </a:defRPr>
            </a:pPr>
            <a:r>
              <a:rPr sz="1425" b="1">
                <a:solidFill>
                  <a:srgbClr val="E76386"/>
                </a:solidFill>
              </a:rPr>
              <a:t>BEKAH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43E87F-CBF1-467B-8695-625DB5AB1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647950"/>
            <a:ext cx="852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8142B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8142B"/>
                </a:solidFill>
              </a:defRPr>
            </a:pPr>
            <a:r>
              <a:rPr sz="1575" b="0">
                <a:solidFill>
                  <a:srgbClr val="18142B"/>
                </a:solidFill>
              </a:rPr>
              <a:t>Ayo Edebiri  /  Margaret Qualley  /  Phoebe Dynevor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F82DF3-FBB0-40BB-B7CD-40213E6C3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286125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E76386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E76386"/>
                </a:solidFill>
              </a:defRPr>
            </a:pPr>
            <a:r>
              <a:rPr sz="1425" b="1">
                <a:solidFill>
                  <a:srgbClr val="E76386"/>
                </a:solidFill>
              </a:rPr>
              <a:t>ELI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092605-C801-499F-B0C1-EEAC4BEF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286125"/>
            <a:ext cx="852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8142B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8142B"/>
                </a:solidFill>
              </a:defRPr>
            </a:pPr>
            <a:r>
              <a:rPr sz="1575" b="0">
                <a:solidFill>
                  <a:srgbClr val="18142B"/>
                </a:solidFill>
              </a:rPr>
              <a:t>Logan Lerman  /  Ben Platt  /  Jeremy Allen White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BF78D5-720D-4BCE-9DE1-A010AA6B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9243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E76386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E76386"/>
                </a:solidFill>
              </a:defRPr>
            </a:pPr>
            <a:r>
              <a:rPr sz="1425" b="1">
                <a:solidFill>
                  <a:srgbClr val="E76386"/>
                </a:solidFill>
              </a:rPr>
              <a:t>NAOMI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ADF99C-5306-4C01-8A9A-F5A57BAD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924300"/>
            <a:ext cx="852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8142B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8142B"/>
                </a:solidFill>
              </a:defRPr>
            </a:pPr>
            <a:r>
              <a:rPr sz="1575" b="0">
                <a:solidFill>
                  <a:srgbClr val="18142B"/>
                </a:solidFill>
              </a:rPr>
              <a:t>Beanie Feldstein  /  Rachel Sennott  /  Alia Shawkat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D0170B-BA95-44FC-89E8-A3159780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562475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E76386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E76386"/>
                </a:solidFill>
              </a:defRPr>
            </a:pPr>
            <a:r>
              <a:rPr sz="1425" b="1">
                <a:solidFill>
                  <a:srgbClr val="E76386"/>
                </a:solidFill>
              </a:rPr>
              <a:t>DEREK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F3ED4A-708F-4053-9430-AD70DD570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562475"/>
            <a:ext cx="852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8142B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8142B"/>
                </a:solidFill>
              </a:defRPr>
            </a:pPr>
            <a:r>
              <a:rPr sz="1575" b="0">
                <a:solidFill>
                  <a:srgbClr val="18142B"/>
                </a:solidFill>
              </a:rPr>
              <a:t>Brian Tyree Henry  /  Kingsley Ben-Adir  /  Lakeith Stanfield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3FCCD0-8443-4C78-8DAA-F684650C0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2006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E76386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E76386"/>
                </a:solidFill>
              </a:defRPr>
            </a:pPr>
            <a:r>
              <a:rPr sz="1425" b="1">
                <a:solidFill>
                  <a:srgbClr val="E76386"/>
                </a:solidFill>
              </a:rPr>
              <a:t>CHLOE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C2FDAD-6471-4DE2-9E23-EFFED56B5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200650"/>
            <a:ext cx="852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8142B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8142B"/>
                </a:solidFill>
              </a:defRPr>
            </a:pPr>
            <a:r>
              <a:rPr sz="1575" b="0">
                <a:solidFill>
                  <a:srgbClr val="18142B"/>
                </a:solidFill>
              </a:rPr>
              <a:t>Zazie Beetz  /  Teyonah Parris  /  Simone Ashley</a:t>
            </a:r>
          </a:p>
        </p:txBody>
      </p:sp>
    </p:spTree>
    <p:extLst>
      <p:ext uri="{BB962C8B-B14F-4D97-AF65-F5344CB8AC3E}">
        <p14:creationId xmlns:p14="http://schemas.microsoft.com/office/powerpoint/2010/main" val="203800583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814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DAFA97-BDA6-41CB-BD77-7BA37968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352550"/>
            <a:ext cx="10287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50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5025" b="1">
                <a:solidFill>
                  <a:srgbClr val="FFFFFF"/>
                </a:solidFill>
              </a:defRPr>
            </a:pPr>
            <a:r>
              <a:rPr sz="5025" b="1">
                <a:solidFill>
                  <a:srgbClr val="FFFFFF"/>
                </a:solidFill>
              </a:rPr>
              <a:t>THE WINGWOMAN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C056D5-D6CA-4C91-9B5A-4CB1DD40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5272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0">
                <a:solidFill>
                  <a:srgbClr val="EFC57B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EFC57B"/>
                </a:solidFill>
              </a:defRPr>
            </a:pPr>
            <a:r>
              <a:rPr sz="2250" b="0">
                <a:solidFill>
                  <a:srgbClr val="EFC57B"/>
                </a:solidFill>
              </a:rPr>
              <a:t>She wrote the rules. He wrote them first.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D57BCD-5C8C-49D3-9A63-FEFA07AA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100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38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63BD97-1819-4A16-AD92-60C8B2218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62425"/>
            <a:ext cx="9715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Spec screenplay, Rev 3.1  /  October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C783A1-F480-40F2-8D07-DDC5D7893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9715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Kelly R. Tenney  /  NCCA Entertainment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72F003-275A-4E7D-BB1A-DFFCF745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981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contact@nccaentertainment.com  /  (910) 262-9307</a:t>
            </a:r>
          </a:p>
        </p:txBody>
      </p:sp>
    </p:spTree>
    <p:extLst>
      <p:ext uri="{BB962C8B-B14F-4D97-AF65-F5344CB8AC3E}">
        <p14:creationId xmlns:p14="http://schemas.microsoft.com/office/powerpoint/2010/main" val="4126052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2026-10-10T20:03:38.2460000Z</dcterms:created>
  <dcterms:modified xsi:type="dcterms:W3CDTF">2026-10-10T20:03:38.2460000Z</dcterms:modified>
</coreProperties>
</file>