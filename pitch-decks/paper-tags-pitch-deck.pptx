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baee647c74ef1" /><Relationship Type="http://schemas.openxmlformats.org/officeDocument/2006/relationships/extended-properties" Target="/docProps/app.xml" Id="Rc3535553a2ee4420" /><Relationship Type="http://schemas.openxmlformats.org/officeDocument/2006/relationships/officeDocument" Target="/ppt/presentation.xml" Id="R9dee34dfd2ff4a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4957bd094c4c5d"/>
  </p:sldMasterIdLst>
  <p:notesMasterIdLst>
    <p:notesMasterId xmlns:r="http://schemas.openxmlformats.org/officeDocument/2006/relationships" r:id="R2e14dcf951c240cf"/>
  </p:notesMasterIdLst>
  <p:sldIdLst>
    <p:sldId xmlns:r="http://schemas.openxmlformats.org/officeDocument/2006/relationships" id="256" r:id="R86ba0ef38fd840e3"/>
    <p:sldId xmlns:r="http://schemas.openxmlformats.org/officeDocument/2006/relationships" id="257" r:id="R5365138a9e0446ef"/>
    <p:sldId xmlns:r="http://schemas.openxmlformats.org/officeDocument/2006/relationships" id="258" r:id="Ra102d5c48cef40c5"/>
    <p:sldId xmlns:r="http://schemas.openxmlformats.org/officeDocument/2006/relationships" id="259" r:id="R5e38be62bb8544cf"/>
    <p:sldId xmlns:r="http://schemas.openxmlformats.org/officeDocument/2006/relationships" id="260" r:id="Reb27b6f63edf47f3"/>
    <p:sldId xmlns:r="http://schemas.openxmlformats.org/officeDocument/2006/relationships" id="261" r:id="R28c77e256d084920"/>
    <p:sldId xmlns:r="http://schemas.openxmlformats.org/officeDocument/2006/relationships" id="262" r:id="Rac6349efc2e14bea"/>
    <p:sldId xmlns:r="http://schemas.openxmlformats.org/officeDocument/2006/relationships" id="263" r:id="Rd94f4cfe005c47f1"/>
    <p:sldId xmlns:r="http://schemas.openxmlformats.org/officeDocument/2006/relationships" id="264" r:id="Rf406e9fb482b4b62"/>
    <p:sldId xmlns:r="http://schemas.openxmlformats.org/officeDocument/2006/relationships" id="265" r:id="R8d545c8010364fb4"/>
    <p:sldId xmlns:r="http://schemas.openxmlformats.org/officeDocument/2006/relationships" id="266" r:id="R143f71fe8e794acc"/>
    <p:sldId xmlns:r="http://schemas.openxmlformats.org/officeDocument/2006/relationships" id="267" r:id="R2d31a50543d74eff"/>
    <p:sldId xmlns:r="http://schemas.openxmlformats.org/officeDocument/2006/relationships" id="268" r:id="Rf6710a49d526432d"/>
    <p:sldId xmlns:r="http://schemas.openxmlformats.org/officeDocument/2006/relationships" id="269" r:id="R830145831f0942ab"/>
    <p:sldId xmlns:r="http://schemas.openxmlformats.org/officeDocument/2006/relationships" id="270" r:id="Rdc7695a3cc5849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36466cf38545e2" /><Relationship Type="http://schemas.openxmlformats.org/officeDocument/2006/relationships/slideMaster" Target="/ppt/slideMasters/slideMaster1.xml" Id="R424957bd094c4c5d" /><Relationship Type="http://schemas.openxmlformats.org/officeDocument/2006/relationships/notesMaster" Target="/ppt/notesMasters/notesMaster1.xml" Id="R2e14dcf951c240cf" /><Relationship Type="http://schemas.openxmlformats.org/officeDocument/2006/relationships/presProps" Target="/ppt/presProps.xml" Id="Rf94f724d1d574f0c" /><Relationship Type="http://schemas.openxmlformats.org/officeDocument/2006/relationships/tableStyles" Target="/ppt/tableStyles.xml" Id="Ra97eee49baf34e28" /><Relationship Type="http://schemas.openxmlformats.org/officeDocument/2006/relationships/slide" Target="/ppt/slides/slide1.xml" Id="R86ba0ef38fd840e3" /><Relationship Type="http://schemas.openxmlformats.org/officeDocument/2006/relationships/slide" Target="/ppt/slides/slide2.xml" Id="R5365138a9e0446ef" /><Relationship Type="http://schemas.openxmlformats.org/officeDocument/2006/relationships/slide" Target="/ppt/slides/slide3.xml" Id="Ra102d5c48cef40c5" /><Relationship Type="http://schemas.openxmlformats.org/officeDocument/2006/relationships/slide" Target="/ppt/slides/slide4.xml" Id="R5e38be62bb8544cf" /><Relationship Type="http://schemas.openxmlformats.org/officeDocument/2006/relationships/slide" Target="/ppt/slides/slide5.xml" Id="Reb27b6f63edf47f3" /><Relationship Type="http://schemas.openxmlformats.org/officeDocument/2006/relationships/slide" Target="/ppt/slides/slide6.xml" Id="R28c77e256d084920" /><Relationship Type="http://schemas.openxmlformats.org/officeDocument/2006/relationships/slide" Target="/ppt/slides/slide7.xml" Id="Rac6349efc2e14bea" /><Relationship Type="http://schemas.openxmlformats.org/officeDocument/2006/relationships/slide" Target="/ppt/slides/slide8.xml" Id="Rd94f4cfe005c47f1" /><Relationship Type="http://schemas.openxmlformats.org/officeDocument/2006/relationships/slide" Target="/ppt/slides/slide9.xml" Id="Rf406e9fb482b4b62" /><Relationship Type="http://schemas.openxmlformats.org/officeDocument/2006/relationships/slide" Target="/ppt/slides/slide10.xml" Id="R8d545c8010364fb4" /><Relationship Type="http://schemas.openxmlformats.org/officeDocument/2006/relationships/slide" Target="/ppt/slides/slide11.xml" Id="R143f71fe8e794acc" /><Relationship Type="http://schemas.openxmlformats.org/officeDocument/2006/relationships/slide" Target="/ppt/slides/slide12.xml" Id="R2d31a50543d74eff" /><Relationship Type="http://schemas.openxmlformats.org/officeDocument/2006/relationships/slide" Target="/ppt/slides/slide13.xml" Id="Rf6710a49d526432d" /><Relationship Type="http://schemas.openxmlformats.org/officeDocument/2006/relationships/slide" Target="/ppt/slides/slide14.xml" Id="R830145831f0942ab" /><Relationship Type="http://schemas.openxmlformats.org/officeDocument/2006/relationships/slide" Target="/ppt/slides/slide15.xml" Id="Rdc7695a3cc5849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a6bbacc9f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c8a304a894166" /><Relationship Type="http://schemas.openxmlformats.org/officeDocument/2006/relationships/notesMaster" Target="/ppt/notesMasters/notesMaster1.xml" Id="R6a2105c07567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c21b2d02948ec" /><Relationship Type="http://schemas.openxmlformats.org/officeDocument/2006/relationships/notesMaster" Target="/ppt/notesMasters/notesMaster1.xml" Id="R9f17fe8789fb42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65aa7553934e06" /><Relationship Type="http://schemas.openxmlformats.org/officeDocument/2006/relationships/notesMaster" Target="/ppt/notesMasters/notesMaster1.xml" Id="Rb99037fae9a5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e7fa174f74bf7" /><Relationship Type="http://schemas.openxmlformats.org/officeDocument/2006/relationships/notesMaster" Target="/ppt/notesMasters/notesMaster1.xml" Id="R7cffc0d3005b48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72ef8b5d984d7e" /><Relationship Type="http://schemas.openxmlformats.org/officeDocument/2006/relationships/notesMaster" Target="/ppt/notesMasters/notesMaster1.xml" Id="R889f4bd44ddd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de5ce0ad0844ef" /><Relationship Type="http://schemas.openxmlformats.org/officeDocument/2006/relationships/notesMaster" Target="/ppt/notesMasters/notesMaster1.xml" Id="Rfc36c7a3be6840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5e03ab3cff4e17" /><Relationship Type="http://schemas.openxmlformats.org/officeDocument/2006/relationships/notesMaster" Target="/ppt/notesMasters/notesMaster1.xml" Id="R3a8674e98e564d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4df1dd16f14101" /><Relationship Type="http://schemas.openxmlformats.org/officeDocument/2006/relationships/notesMaster" Target="/ppt/notesMasters/notesMaster1.xml" Id="Rced97dd251fc4b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f451dee2c049b8" /><Relationship Type="http://schemas.openxmlformats.org/officeDocument/2006/relationships/notesMaster" Target="/ppt/notesMasters/notesMaster1.xml" Id="Rea89540d55ae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9eac1be1334df9" /><Relationship Type="http://schemas.openxmlformats.org/officeDocument/2006/relationships/notesMaster" Target="/ppt/notesMasters/notesMaster1.xml" Id="Rb0d4b1da68a048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6d125b0bdb4240" /><Relationship Type="http://schemas.openxmlformats.org/officeDocument/2006/relationships/notesMaster" Target="/ppt/notesMasters/notesMaster1.xml" Id="R7a7aa2cf70be41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dc7320892a42b5" /><Relationship Type="http://schemas.openxmlformats.org/officeDocument/2006/relationships/notesMaster" Target="/ppt/notesMasters/notesMaster1.xml" Id="Ra1a63c9af6bd48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07914de82c4702" /><Relationship Type="http://schemas.openxmlformats.org/officeDocument/2006/relationships/notesMaster" Target="/ppt/notesMasters/notesMaster1.xml" Id="R2dd75e7540e245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98ec1fecee400e" /><Relationship Type="http://schemas.openxmlformats.org/officeDocument/2006/relationships/notesMaster" Target="/ppt/notesMasters/notesMaster1.xml" Id="Rbe351a161d9045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722f5d33e04165" /><Relationship Type="http://schemas.openxmlformats.org/officeDocument/2006/relationships/notesMaster" Target="/ppt/notesMasters/notesMaster1.xml" Id="R98bf3c901c2a4d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  <a:p xmlns:a="http://schemas.openxmlformats.org/drawingml/2006/main">
            <a:r>
              <a:t>Producer background supplied by NCCA one-pager, not independently verified. No budget or production schedule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paper-tags-studio-one-pager.pdf; paper-tags-cast-suggestions.pdf; screenplay paper-tags-lifetime-cut-v3.pdf. Story details follow the reviewed v3 screenplay where the package differs. Artwork: original AI-generated fictional concept image, not production photography. Buyer and audience statements describe NCCA positioning, not buyer commitments.</a:t>
            </a:r>
          </a:p>
          <a:p xmlns:a="http://schemas.openxmlformats.org/drawingml/2006/main">
            <a:r>
              <a:t>The one-pager describes a later four-pass script at approximately 88 pages and a separate 85-page spec cut. The reviewed v3 is 86 screenplay pages. This deck avoids claiming a later draft has been verified. It uses the steakhouse valet opening and Agent Keller without a first name to reconcile source differences. Confidential development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6a257e46e47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43c7e858f46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bb4ca751043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1829545cd4f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1d1484f934f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b6451c630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D86AA1-00BA-44C8-A48D-6E78E6899F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640ABA-176E-4FC0-9253-3655A91C1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E7C8C6-944A-49B4-910D-A6A139097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741925-D2F3-431D-B126-652D31F8B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CF70E9-B56F-44C7-A163-A355D39262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6B4BF2-103A-4DCB-B052-85FA1A9983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1FFE42-2CF7-491A-A3E6-FC8F012D64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77AF80-D24B-421A-BE88-28FA1CB5F1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4168E5-2184-4CAF-A3E6-62FC5359E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067631-8855-407F-B743-9D048556F9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153d52acc34d97" /><Relationship Type="http://schemas.openxmlformats.org/officeDocument/2006/relationships/slideLayout" Target="/ppt/slideLayouts/slideLayout1.xml" Id="R6202bc5252a044f1" /><Relationship Type="http://schemas.openxmlformats.org/officeDocument/2006/relationships/slideLayout" Target="/ppt/slideLayouts/slideLayout2.xml" Id="R11c559b2ef6a41b0" /><Relationship Type="http://schemas.openxmlformats.org/officeDocument/2006/relationships/slideLayout" Target="/ppt/slideLayouts/slideLayout3.xml" Id="R48aacde647344a95" /><Relationship Type="http://schemas.openxmlformats.org/officeDocument/2006/relationships/slideLayout" Target="/ppt/slideLayouts/slideLayout4.xml" Id="Re7cfbd580df74969" /><Relationship Type="http://schemas.openxmlformats.org/officeDocument/2006/relationships/slideLayout" Target="/ppt/slideLayouts/slideLayout5.xml" Id="R1241a84b41fd4b5d" /><Relationship Type="http://schemas.openxmlformats.org/officeDocument/2006/relationships/slideLayout" Target="/ppt/slideLayouts/slideLayout6.xml" Id="R481ca1b0f04147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02bc5252a044f1"/>
    <p:sldLayoutId xmlns:r="http://schemas.openxmlformats.org/officeDocument/2006/relationships" id="2147483650" r:id="R11c559b2ef6a41b0"/>
    <p:sldLayoutId xmlns:r="http://schemas.openxmlformats.org/officeDocument/2006/relationships" id="2147483651" r:id="R48aacde647344a95"/>
    <p:sldLayoutId xmlns:r="http://schemas.openxmlformats.org/officeDocument/2006/relationships" id="2147483652" r:id="Re7cfbd580df74969"/>
    <p:sldLayoutId xmlns:r="http://schemas.openxmlformats.org/officeDocument/2006/relationships" id="2147483653" r:id="R1241a84b41fd4b5d"/>
    <p:sldLayoutId xmlns:r="http://schemas.openxmlformats.org/officeDocument/2006/relationships" id="2147483654" r:id="R481ca1b0f041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78cf958804747" /><Relationship Type="http://schemas.openxmlformats.org/officeDocument/2006/relationships/image" Target="/ppt/media/image.png" Id="R65adf1b619f24f68" /><Relationship Type="http://schemas.openxmlformats.org/officeDocument/2006/relationships/notesSlide" Target="/ppt/notesSlides/notesSlide1.xml" Id="Rca2202b36c3e48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c0d6b9b4341fd" /><Relationship Type="http://schemas.openxmlformats.org/officeDocument/2006/relationships/notesSlide" Target="/ppt/notesSlides/notesSlide2.xml" Id="Rda7bcbb74090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88e687a2643b5" /><Relationship Type="http://schemas.openxmlformats.org/officeDocument/2006/relationships/notesSlide" Target="/ppt/notesSlides/notesSlide3.xml" Id="R8e92dc17da41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0053ba2cc4ba6" /><Relationship Type="http://schemas.openxmlformats.org/officeDocument/2006/relationships/notesSlide" Target="/ppt/notesSlides/notesSlide4.xml" Id="Re2840106fa614e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ef1aab38d4041" /><Relationship Type="http://schemas.openxmlformats.org/officeDocument/2006/relationships/notesSlide" Target="/ppt/notesSlides/notesSlide5.xml" Id="R033421121bf34f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91cadd52c4847" /><Relationship Type="http://schemas.openxmlformats.org/officeDocument/2006/relationships/notesSlide" Target="/ppt/notesSlides/notesSlide6.xml" Id="R740e1f585ca045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7553fea6e4550" /><Relationship Type="http://schemas.openxmlformats.org/officeDocument/2006/relationships/notesSlide" Target="/ppt/notesSlides/notesSlide7.xml" Id="R5345e39b30bf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8a1b716d447f9" /><Relationship Type="http://schemas.openxmlformats.org/officeDocument/2006/relationships/notesSlide" Target="/ppt/notesSlides/notesSlide8.xml" Id="R03a22a6f26bd44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f61b8f7f7484a" /><Relationship Type="http://schemas.openxmlformats.org/officeDocument/2006/relationships/notesSlide" Target="/ppt/notesSlides/notesSlide9.xml" Id="R3083bfa460b84f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134b5125946bd" /><Relationship Type="http://schemas.openxmlformats.org/officeDocument/2006/relationships/notesSlide" Target="/ppt/notesSlides/notesSlide10.xml" Id="Rf1cdcc36beea46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77e5fd31a4c76" /><Relationship Type="http://schemas.openxmlformats.org/officeDocument/2006/relationships/notesSlide" Target="/ppt/notesSlides/notesSlide11.xml" Id="R52acfdbbfe3341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a38dc0ce146f3" /><Relationship Type="http://schemas.openxmlformats.org/officeDocument/2006/relationships/notesSlide" Target="/ppt/notesSlides/notesSlide12.xml" Id="Rb16778e9ede0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b141fe2a842ad" /><Relationship Type="http://schemas.openxmlformats.org/officeDocument/2006/relationships/notesSlide" Target="/ppt/notesSlides/notesSlide13.xml" Id="R97ecf58cb3a446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bcec12b2445e5" /><Relationship Type="http://schemas.openxmlformats.org/officeDocument/2006/relationships/notesSlide" Target="/ppt/notesSlides/notesSlide14.xml" Id="R3eb16583069644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c7dd9b55a4eab" /><Relationship Type="http://schemas.openxmlformats.org/officeDocument/2006/relationships/notesSlide" Target="/ppt/notesSlides/notesSlide15.xml" Id="Ra9520bcba264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BA7A6-F180-402D-B48C-01173EEA0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df1b619f2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9D8CF-83A1-415D-9294-503FB183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7A65A"/>
                </a:solidFill>
              </a:defRPr>
            </a:pPr>
            <a:r>
              <a:rPr sz="1575" b="1">
                <a:solidFill>
                  <a:srgbClr val="D7A65A"/>
                </a:solidFill>
              </a:rPr>
              <a:t>NCCA ENTERTAINMENT PRESENTS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9206A-273B-4D3C-B377-EC909105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628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F5F0E6"/>
                </a:solidFill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F5F0E6"/>
                </a:solidFill>
              </a:defRPr>
            </a:pPr>
            <a:r>
              <a:rPr sz="7500" b="1">
                <a:solidFill>
                  <a:srgbClr val="F5F0E6"/>
                </a:solidFill>
              </a:rPr>
              <a:t>PAPER</a:t>
            </a:r>
          </a:p>
          <a:p xmlns:a="http://schemas.openxmlformats.org/drawingml/2006/main">
            <a:pPr>
              <a:defRPr sz="7500" b="1">
                <a:solidFill>
                  <a:srgbClr val="F5F0E6"/>
                </a:solidFill>
              </a:defRPr>
            </a:pPr>
            <a:r>
              <a:rPr sz="7500" b="1">
                <a:solidFill>
                  <a:srgbClr val="F5F0E6"/>
                </a:solidFill>
              </a:rPr>
              <a:t>TAGS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08AEC-8171-4F36-9FA0-044D3D7E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9E8E3"/>
                </a:solidFill>
              </a:defRPr>
            </a:pPr>
            <a:r>
              <a:rPr sz="2250" b="0">
                <a:solidFill>
                  <a:srgbClr val="E9E8E3"/>
                </a:solidFill>
              </a:rPr>
              <a:t>A crime thriller with a mother's heart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3B2BB-284B-4023-B78A-AB13840D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9E8E3"/>
                </a:solidFill>
              </a:defRPr>
            </a:pPr>
            <a:r>
              <a:rPr sz="1650" b="0">
                <a:solidFill>
                  <a:srgbClr val="E9E8E3"/>
                </a:solidFill>
              </a:rPr>
              <a:t>Written by Kelly R. Tenney</a:t>
            </a:r>
          </a:p>
        </p:txBody>
      </p:sp>
    </p:spTree>
    <p:extLst>
      <p:ext uri="{BB962C8B-B14F-4D97-AF65-F5344CB8AC3E}">
        <p14:creationId xmlns:p14="http://schemas.microsoft.com/office/powerpoint/2010/main" val="961137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44221-56E8-407A-BBCF-A4BE04D2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The premise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598A6-DF47-44CA-87A7-6294AB3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Original feature screenplay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21A80-EECD-4018-B6CF-52A74C7A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CC6DD-754E-458C-9E94-4651FE7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930C8-1A61-4FF6-AC7D-C4685B5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E9E8E3"/>
                </a:solidFill>
              </a:defRPr>
            </a:pPr>
            <a:r>
              <a:rPr sz="2775" b="0">
                <a:solidFill>
                  <a:srgbClr val="E9E8E3"/>
                </a:solidFill>
              </a:rPr>
              <a:t>A Black Atlanta detective investigating a young valet’s murder turns to the ex-lover she once imprisoned. When the stolen-car ring leads to her mentor and her teenage nephew, she must expose her own mistakes to save her family.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24B16-4C4E-4864-9C3B-0AF7BB1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7A65A"/>
                </a:solidFill>
              </a:defRPr>
            </a:pPr>
            <a:r>
              <a:rPr sz="2100" b="0">
                <a:solidFill>
                  <a:srgbClr val="D7A65A"/>
                </a:solidFill>
              </a:rPr>
              <a:t>She needs her ex to be guilty. She needs her mentor to be good.</a:t>
            </a:r>
          </a:p>
        </p:txBody>
      </p:sp>
    </p:spTree>
    <p:extLst>
      <p:ext uri="{BB962C8B-B14F-4D97-AF65-F5344CB8AC3E}">
        <p14:creationId xmlns:p14="http://schemas.microsoft.com/office/powerpoint/2010/main" val="2134722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55CCA-0670-4A2C-90A5-915AD157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The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C984-0749-436D-B9FE-EBF81995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An investigation becomes a fight for her family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E5525-9230-47AC-BD2F-31D9EFD3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99518-47E2-4ED4-ACDB-9ABB03A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1BF97-D96E-48D2-81B9-B4F5A01C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6FA1F-23C0-423D-BADD-F8C97FFB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Malik Boyd dies with a stolen-car programmer in his hand. Tasha recognizes Dre’s craftsmanship and signs him as her informant.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C6746-1A5B-4B53-862E-3AB66332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BETRAYAL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257A9-CCBF-4C11-88FB-9425D85F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Forged impound releases lead to Captain Delgado. Jalen is already inside the ring. Tasha takes the truth to federal agents, then walks into a dockside trap.</a:t>
            </a:r>
          </a:p>
        </p:txBody>
      </p:sp>
    </p:spTree>
    <p:extLst>
      <p:ext uri="{BB962C8B-B14F-4D97-AF65-F5344CB8AC3E}">
        <p14:creationId xmlns:p14="http://schemas.microsoft.com/office/powerpoint/2010/main" val="1818379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7D691-4C31-464F-9C60-77D6B0F2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Tasha Monroe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5CFAE-84C9-4B2D-B4F1-9B5FB9D0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The lead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FE526-5FBF-4D14-A76A-CCE80B2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E5C2C-46C8-4C36-8B50-3BE16D91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6F497-0443-4FA5-BEF2-A45563A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WHAT SHE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0F6C8-C91B-464F-A476-E79C38CE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Find Malik’s killer. Protect Jalen. Prove that her judgment, and the career built on it, still deserve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52125-756F-4DB1-B448-AFA9ED0C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WHAT SHE MUST 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CAA0E-C948-47F2-A9B7-FAB80D2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Her certainty has become a blind spot. Saving her family means confessing her misconduct and refusing the lie that could protect her badge.</a:t>
            </a:r>
          </a:p>
        </p:txBody>
      </p:sp>
    </p:spTree>
    <p:extLst>
      <p:ext uri="{BB962C8B-B14F-4D97-AF65-F5344CB8AC3E}">
        <p14:creationId xmlns:p14="http://schemas.microsoft.com/office/powerpoint/2010/main" val="851199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DD899-8AFE-4D81-8694-C8AB3804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Dre Coleman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15392-779F-4FE9-973C-42A61081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The former lover she arrested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95151-60EE-48C4-9403-82E73AD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62FF2-C529-4452-86B0-7056093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9E569-F240-4A8C-B64C-AA7215D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MAN SHE REMEMBERS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54FC0-D9C2-467C-9B1B-86AFECF3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A gifted mechanic with an easy smile and a criminal past. He knows how cars disappear and how Tasha hides what hurts.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21E73-1C81-47D6-836E-DBF9A43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MAN SHE MUST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587E7-DE20-416E-8899-E4650B0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He took blame beyond his own crimes to protect her. His attempt to shield Jalen fails. Their second chance begins when he gives her the truth.</a:t>
            </a:r>
          </a:p>
        </p:txBody>
      </p:sp>
    </p:spTree>
    <p:extLst>
      <p:ext uri="{BB962C8B-B14F-4D97-AF65-F5344CB8AC3E}">
        <p14:creationId xmlns:p14="http://schemas.microsoft.com/office/powerpoint/2010/main" val="616677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0F5D9-934E-42B0-B64E-BE273CC8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Captain Ray Delgado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43DBD-B1C1-4082-B83E-38C5D58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The mentor who controls the paperwork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68471-786E-4AE0-A69E-E5FD7947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17BCB-8D40-4A1F-8065-BD97154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3E63B-B2EC-422A-9419-E599341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PUBLIC 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2C055-0058-410B-B8C1-FB697B66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A paternal captain who knows her coffee, praises her work, and treats her nephew like family.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F506C-DCA7-4788-A148-46E6652D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PRIVATE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0296C-EB72-4D6B-8370-0E4A5ABB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His approvals move stolen cars through impound into export. His kindness keeps Tasha loyal. At the dock, he offers her safety in exchange for one final lie.</a:t>
            </a:r>
          </a:p>
        </p:txBody>
      </p:sp>
    </p:spTree>
    <p:extLst>
      <p:ext uri="{BB962C8B-B14F-4D97-AF65-F5344CB8AC3E}">
        <p14:creationId xmlns:p14="http://schemas.microsoft.com/office/powerpoint/2010/main" val="415611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9B5E3-7BB5-49B1-A065-820E9DD4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Jalen and Lorraine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A10D-EFA8-4507-8CC0-C2493B9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The human cost of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C60DF-7900-42AD-8BE9-AA56C77F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CA7AB-5A2D-4063-AB42-F475A8A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FEB6-17CA-4EE5-8423-849C7C6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JALEN MONROE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10764-45A4-4AEB-B347-48121EA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Seventeen. His father’s toolbox offers a connection to the man he lost. Roman turns a damaged car and a recorded theft into a debt Jalen cannot escape.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48601-3BF8-4F4F-BAA8-2A49E618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LORRAINE BOYD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0BC7D-1C35-4D56-BEDE-419540ED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Malik’s mother refuses easy reassurance. His unfinished bass line keeps the loss present and forces Tasha to answer honestly.</a:t>
            </a:r>
          </a:p>
        </p:txBody>
      </p:sp>
    </p:spTree>
    <p:extLst>
      <p:ext uri="{BB962C8B-B14F-4D97-AF65-F5344CB8AC3E}">
        <p14:creationId xmlns:p14="http://schemas.microsoft.com/office/powerpoint/2010/main" val="2074733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23ED0-3249-4AB8-9A93-5A0F5C1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Atlanta to Savannah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11216-EBF5-4047-8C3A-280C5453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A world built from work, family, and borrowed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86682-DA60-4CC8-917C-1A8B744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F9C50-4E4A-4D98-AC44-A6CB61D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EA735-67D6-4F7E-9EF4-8004F3AE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E9E8E3"/>
                </a:solidFill>
              </a:defRPr>
            </a:pPr>
            <a:r>
              <a:rPr sz="2400" b="0">
                <a:solidFill>
                  <a:srgbClr val="E9E8E3"/>
                </a:solidFill>
              </a:rPr>
              <a:t>Rain on Peachtree. Breakfast at Waffle House. A body shop on Hollowell. A guardian’s kitchen.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E9E8E3"/>
                </a:solidFill>
              </a:defRPr>
            </a:pPr>
            <a:r>
              <a:rPr sz="2400" b="0">
                <a:solidFill>
                  <a:srgbClr val="E9E8E3"/>
                </a:solidFill>
              </a:rPr>
              <a:t>The investigation follows the cars to Savannah, where container aisles turn a familiar police operation into a family rescue.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15EB7-7F22-436F-BEED-52FBD21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7A65A"/>
                </a:solidFill>
              </a:defRPr>
            </a:pPr>
            <a:r>
              <a:rPr sz="2100" b="0">
                <a:solidFill>
                  <a:srgbClr val="D7A65A"/>
                </a:solidFill>
              </a:rPr>
              <a:t>Warm interiors. Cold steel. Amber dock lights.</a:t>
            </a:r>
          </a:p>
        </p:txBody>
      </p:sp>
    </p:spTree>
    <p:extLst>
      <p:ext uri="{BB962C8B-B14F-4D97-AF65-F5344CB8AC3E}">
        <p14:creationId xmlns:p14="http://schemas.microsoft.com/office/powerpoint/2010/main" val="2002250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A83C3-E338-4E4E-A6DE-83261E24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Tone and visual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1803E-BF45-40E4-9BAE-15A9C13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Grounded crime thriller with romantic and family 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9ED0A-B178-4711-8645-1FE82BD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3B9BF-1FE4-4102-AB2C-68780F7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99C28-0F08-42CE-BF62-C7927DD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THRILLER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A1C4D-88DF-4D09-8A4A-21BD826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A taped glove. Forged releases. A blue GPS dot. Each discovery threatens someone Tasha already loves.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F3710-9942-46D8-A89A-CC59C7B1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EMOTION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CE076-9C5A-4DAD-9593-185B19CC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A worn ring, a missing pry bar, an unfinished song, and a restored Charger carry the story’s grief and possibility.</a:t>
            </a:r>
          </a:p>
        </p:txBody>
      </p:sp>
    </p:spTree>
    <p:extLst>
      <p:ext uri="{BB962C8B-B14F-4D97-AF65-F5344CB8AC3E}">
        <p14:creationId xmlns:p14="http://schemas.microsoft.com/office/powerpoint/2010/main" val="1536094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8C027-3DA9-494E-AE78-09EC0702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Audience and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B479D-F695-4204-A152-BD5659A3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NCCA development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1DDAF-8107-4C25-8770-328C3F47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AE901-D78F-4D9C-9023-8DCFAB0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98BC0-D2DF-49F4-AE8F-E5A5B5DA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9E8E3"/>
                </a:solidFill>
              </a:defRPr>
            </a:pPr>
            <a:r>
              <a:rPr sz="2250" b="0">
                <a:solidFill>
                  <a:srgbClr val="E9E8E3"/>
                </a:solidFill>
              </a:rPr>
              <a:t>Primary target: Lifetime</a:t>
            </a:r>
          </a:p>
          <a:p xmlns:a="http://schemas.openxmlformats.org/drawingml/2006/main">
            <a:pPr>
              <a:defRPr sz="2250" b="0">
                <a:solidFill>
                  <a:srgbClr val="E9E8E3"/>
                </a:solidFill>
              </a:defRPr>
            </a:pPr>
            <a:r>
              <a:rPr sz="2250" b="0">
                <a:solidFill>
                  <a:srgbClr val="E9E8E3"/>
                </a:solidFill>
              </a:rPr>
              <a:t>Secondary target: BET+</a:t>
            </a:r>
          </a:p>
          <a:p xmlns:a="http://schemas.openxmlformats.org/drawingml/2006/main">
            <a:pPr>
              <a:defRPr sz="2250" b="0">
                <a:solidFill>
                  <a:srgbClr val="E9E8E3"/>
                </a:solidFill>
              </a:defRPr>
            </a:pPr>
            <a:r>
              <a:rPr sz="2250" b="0">
                <a:solidFill>
                  <a:srgbClr val="E9E8E3"/>
                </a:solidFill>
              </a:rPr>
              <a:t>Additional targets: ALLBLK, TV One, and streaming crime slates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9E8E3"/>
                </a:solidFill>
              </a:defRPr>
            </a:pPr>
            <a:r>
              <a:rPr sz="2250" b="0">
                <a:solidFill>
                  <a:srgbClr val="E9E8E3"/>
                </a:solidFill>
              </a:rPr>
              <a:t>Core audience: women 25–54, with crossover to crime-thriller and family-drama viewers.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BE9D6-5472-4292-B505-7E7758A1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Comparable energy: Training Day’s corrupt mentor, with a female lead and intimate family jeopardy.</a:t>
            </a:r>
          </a:p>
        </p:txBody>
      </p:sp>
    </p:spTree>
    <p:extLst>
      <p:ext uri="{BB962C8B-B14F-4D97-AF65-F5344CB8AC3E}">
        <p14:creationId xmlns:p14="http://schemas.microsoft.com/office/powerpoint/2010/main" val="2063012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2E85B-FB64-4678-8289-540C5D0B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Lead casting suggestions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39756-170D-48E6-BDCB-30FA0973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Development wish list. No actors attached.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2105F-968C-41CF-8171-53BDA38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B369E-8770-4200-B240-9175DD57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09C60-7609-4239-ACC1-766C9BE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7A65A"/>
                </a:solidFill>
              </a:defRPr>
            </a:pPr>
            <a:r>
              <a:rPr sz="2175" b="1">
                <a:solidFill>
                  <a:srgbClr val="D7A65A"/>
                </a:solidFill>
              </a:rPr>
              <a:t>TASHA MONROE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754BC-D529-407F-BE49-43046B3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Meagan Good</a:t>
            </a:r>
          </a:p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Tika Sumpter</a:t>
            </a:r>
          </a:p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Nicole Beharie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2497D-A546-4F5C-A96F-D16FF49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7A65A"/>
                </a:solidFill>
              </a:defRPr>
            </a:pPr>
            <a:r>
              <a:rPr sz="2175" b="1">
                <a:solidFill>
                  <a:srgbClr val="D7A65A"/>
                </a:solidFill>
              </a:rPr>
              <a:t>DRE COLEMAN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E0CFA-9355-46B2-AF92-BE0A4433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Trevante Rhodes</a:t>
            </a:r>
          </a:p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Jay Ellis</a:t>
            </a:r>
          </a:p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Sinqua Walls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3DF5D-DDCC-4FAB-9E2E-4AE2941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9E8E3"/>
                </a:solidFill>
              </a:defRPr>
            </a:pPr>
            <a:r>
              <a:rPr sz="1950" b="0">
                <a:solidFill>
                  <a:srgbClr val="E9E8E3"/>
                </a:solidFill>
              </a:rPr>
              <a:t>Casting priority: attach Tasha, then test the Tasha–Dre chemistry.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87F1-8504-4F84-AE43-73478B4F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1A0AB"/>
                </a:solidFill>
              </a:defRPr>
            </a:pPr>
            <a:r>
              <a:rPr sz="1350" b="0">
                <a:solidFill>
                  <a:srgbClr val="91A0AB"/>
                </a:solidFill>
              </a:rPr>
              <a:t>No approaches made per supplied casting list. Interest, availability, and pricing unverified.</a:t>
            </a:r>
          </a:p>
        </p:txBody>
      </p:sp>
    </p:spTree>
    <p:extLst>
      <p:ext uri="{BB962C8B-B14F-4D97-AF65-F5344CB8AC3E}">
        <p14:creationId xmlns:p14="http://schemas.microsoft.com/office/powerpoint/2010/main" val="1496469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E60A0-395B-4314-8EDB-60A813B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Supporting casting suggestions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7CDE4-B29C-4309-AE9D-FA4903CE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Top pick / alternate / wild card, in the supplied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045E6-F50C-494D-88DC-A7A5F37F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F0A97-159D-4BBF-A8A1-932D7E2F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F7D9-20A6-45C8-BC0A-0E6530EC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A65A"/>
                </a:solidFill>
              </a:defRPr>
            </a:pPr>
            <a:r>
              <a:rPr sz="1725" b="1">
                <a:solidFill>
                  <a:srgbClr val="D7A65A"/>
                </a:solidFill>
              </a:rPr>
              <a:t>CAPT. DELGADO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F8D35-021A-435D-A8D9-05DFD37D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241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9E8E3"/>
                </a:solidFill>
              </a:defRPr>
            </a:pPr>
            <a:r>
              <a:rPr sz="1800" b="0">
                <a:solidFill>
                  <a:srgbClr val="E9E8E3"/>
                </a:solidFill>
              </a:rPr>
              <a:t>Giancarlo Esposito / Jimmy Smits / Esai Morales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BB38D-70C4-4718-9124-AB1D953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A65A"/>
                </a:solidFill>
              </a:defRPr>
            </a:pPr>
            <a:r>
              <a:rPr sz="1725" b="1">
                <a:solidFill>
                  <a:srgbClr val="D7A65A"/>
                </a:solidFill>
              </a:rPr>
              <a:t>AGENT KELLER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C4702-B77B-4DE2-A5B0-1635A2BD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6707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9E8E3"/>
                </a:solidFill>
              </a:defRPr>
            </a:pPr>
            <a:r>
              <a:rPr sz="1800" b="0">
                <a:solidFill>
                  <a:srgbClr val="E9E8E3"/>
                </a:solidFill>
              </a:rPr>
              <a:t>Sonja Sohn / Gina Torres / Roselyn Sanchez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0C865-5D0E-41D8-B614-BC3AB68B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A65A"/>
                </a:solidFill>
              </a:defRPr>
            </a:pPr>
            <a:r>
              <a:rPr sz="1725" b="1">
                <a:solidFill>
                  <a:srgbClr val="D7A65A"/>
                </a:solidFill>
              </a:rPr>
              <a:t>JALEN MONROE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74022-39BD-4A21-939E-489E7B98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100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9E8E3"/>
                </a:solidFill>
              </a:defRPr>
            </a:pPr>
            <a:r>
              <a:rPr sz="1800" b="0">
                <a:solidFill>
                  <a:srgbClr val="E9E8E3"/>
                </a:solidFill>
              </a:rPr>
              <a:t>Caleb McLaughlin / Jaden Michael / Isaiah Russell-Bailey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3B2B5-E074-4C47-BD80-D5CD45FA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A65A"/>
                </a:solidFill>
              </a:defRPr>
            </a:pPr>
            <a:r>
              <a:rPr sz="1725" b="1">
                <a:solidFill>
                  <a:srgbClr val="D7A65A"/>
                </a:solidFill>
              </a:rPr>
              <a:t>LORRAINE BOYD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5CCAA-82B2-44BB-BF3A-D4965812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5297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9E8E3"/>
                </a:solidFill>
              </a:defRPr>
            </a:pPr>
            <a:r>
              <a:rPr sz="1800" b="0">
                <a:solidFill>
                  <a:srgbClr val="E9E8E3"/>
                </a:solidFill>
              </a:rPr>
              <a:t>Loretta Devine / Tichina Arnold / Kim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260B2-DD13-4B16-8638-F5527427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1A0AB"/>
                </a:solidFill>
              </a:defRPr>
            </a:pPr>
            <a:r>
              <a:rPr sz="1350" b="0">
                <a:solidFill>
                  <a:srgbClr val="91A0AB"/>
                </a:solidFill>
              </a:rPr>
              <a:t>All names are suggestions only. No attachments or verified availability.</a:t>
            </a:r>
          </a:p>
        </p:txBody>
      </p:sp>
    </p:spTree>
    <p:extLst>
      <p:ext uri="{BB962C8B-B14F-4D97-AF65-F5344CB8AC3E}">
        <p14:creationId xmlns:p14="http://schemas.microsoft.com/office/powerpoint/2010/main" val="2105323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C596D-795D-4688-AD2D-6C50798D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Production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83377-92A4-4822-90B3-D8B0F09D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Character scenes carry the film. The port supplies the escalation.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FB97-5C0C-4757-87CE-1A85C3C7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878EC-1AB7-49AA-841A-16E78E3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816CF-9B18-4AFA-8EFE-16E6A67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CORE LOCATIONS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9671C-E7EB-4929-9265-6B39AD7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857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Home, body shop, police offices, club, and federal meeting room. Atlanta texture supports the central relationships.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B4D53-2EED-445C-88CA-B8C8C7F1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7A65A"/>
                </a:solidFill>
              </a:defRPr>
            </a:pPr>
            <a:r>
              <a:rPr sz="2250" b="1">
                <a:solidFill>
                  <a:srgbClr val="D7A65A"/>
                </a:solidFill>
              </a:rPr>
              <a:t>THE SET PIECE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362CA-FF1B-4BA2-AEF1-4A81212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9E8E3"/>
                </a:solidFill>
              </a:defRPr>
            </a:pPr>
            <a:r>
              <a:rPr sz="2100" b="0">
                <a:solidFill>
                  <a:srgbClr val="E9E8E3"/>
                </a:solidFill>
              </a:rPr>
              <a:t>A concentrated Savannah dock sequence with vehicles, containers, and a controlled rescue geography. Port access and stunt planning require production assessment.</a:t>
            </a:r>
          </a:p>
        </p:txBody>
      </p:sp>
    </p:spTree>
    <p:extLst>
      <p:ext uri="{BB962C8B-B14F-4D97-AF65-F5344CB8AC3E}">
        <p14:creationId xmlns:p14="http://schemas.microsoft.com/office/powerpoint/2010/main" val="18509403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89350-5855-48E9-9C2D-935D9A26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NCCA Entertainment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C170B-3AB6-4AF1-8150-52B83D5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Kelly R. Tenney, Founder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E6A27-4C38-4AC8-A40B-2E30DF4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9EAA3-1002-4510-9F8B-94701531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FB75A-F9AB-4A98-916E-20FC16A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20+ years in film and television</a:t>
            </a:r>
          </a:p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Nine seasons as co-producer on One Tree Hill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E9E8E3"/>
                </a:solidFill>
              </a:defRPr>
            </a:pPr>
            <a:r>
              <a:rPr sz="2550" b="0">
                <a:solidFill>
                  <a:srgbClr val="E9E8E3"/>
                </a:solidFill>
              </a:rPr>
              <a:t>Atlanta-based story development with a focus on character, audience, and production.</a:t>
            </a:r>
          </a:p>
        </p:txBody>
      </p:sp>
    </p:spTree>
    <p:extLst>
      <p:ext uri="{BB962C8B-B14F-4D97-AF65-F5344CB8AC3E}">
        <p14:creationId xmlns:p14="http://schemas.microsoft.com/office/powerpoint/2010/main" val="5856779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A46C4-A552-4336-892F-033A01F4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CE3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0ECE3"/>
                </a:solidFill>
              </a:defRPr>
            </a:pPr>
            <a:r>
              <a:rPr sz="3450" b="1">
                <a:solidFill>
                  <a:srgbClr val="F0ECE3"/>
                </a:solidFill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3724B-14BF-4AEC-A794-5E81FDDF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7A65A"/>
                </a:solidFill>
              </a:defRPr>
            </a:pPr>
            <a:r>
              <a:rPr sz="1725" b="0">
                <a:solidFill>
                  <a:srgbClr val="D7A65A"/>
                </a:solidFill>
              </a:rPr>
              <a:t>Seeking a lead attachment and producing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CC1BD-89F1-4C31-999A-E7BEF3E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NCCA ENTERTAINMENT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7254-FE0A-4D71-89D8-4E6FF77F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1A0A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1A0AB"/>
                </a:solidFill>
              </a:defRPr>
            </a:pPr>
            <a:r>
              <a:rPr sz="1050" b="0">
                <a:solidFill>
                  <a:srgbClr val="91A0A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EDCB7-52B3-4223-813A-7D2044B2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9E8E3"/>
                </a:solidFill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E9E8E3"/>
                </a:solidFill>
              </a:defRPr>
            </a:pPr>
            <a:r>
              <a:rPr sz="2625" b="0">
                <a:solidFill>
                  <a:srgbClr val="E9E8E3"/>
                </a:solidFill>
              </a:rPr>
              <a:t>Partner with NCCA Entertainment to package PAPER TAGS for a Lifetime or BET+ development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E9E8E3"/>
                </a:solidFill>
              </a:defRPr>
            </a:pPr>
            <a:r>
              <a:rPr sz="2625" b="0">
                <a:solidFill>
                  <a:srgbClr val="E9E8E3"/>
                </a:solidFill>
              </a:rPr>
              <a:t>Script available for review. Casting remains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FF113-173C-499E-AEB2-2D150CF3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981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7A65A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7A65A"/>
                </a:solidFill>
              </a:defRPr>
            </a:pPr>
            <a:r>
              <a:rPr sz="2025" b="0">
                <a:solidFill>
                  <a:srgbClr val="D7A65A"/>
                </a:solidFill>
              </a:rPr>
              <a:t>Kelly R. Tenney</a:t>
            </a:r>
          </a:p>
          <a:p xmlns:a="http://schemas.openxmlformats.org/drawingml/2006/main">
            <a:pPr>
              <a:defRPr sz="2025" b="0">
                <a:solidFill>
                  <a:srgbClr val="D7A65A"/>
                </a:solidFill>
              </a:defRPr>
            </a:pPr>
            <a:r>
              <a:rPr sz="2025" b="0">
                <a:solidFill>
                  <a:srgbClr val="D7A65A"/>
                </a:solidFill>
              </a:rPr>
              <a:t>contact@nccaentertainment.com</a:t>
            </a:r>
          </a:p>
          <a:p xmlns:a="http://schemas.openxmlformats.org/drawingml/2006/main">
            <a:pPr>
              <a:defRPr sz="2025" b="0">
                <a:solidFill>
                  <a:srgbClr val="D7A65A"/>
                </a:solidFill>
              </a:defRPr>
            </a:pPr>
            <a:r>
              <a:rPr sz="2025" b="0">
                <a:solidFill>
                  <a:srgbClr val="D7A65A"/>
                </a:solidFill>
              </a:rPr>
              <a:t>(910) 262-9307</a:t>
            </a:r>
          </a:p>
        </p:txBody>
      </p:sp>
    </p:spTree>
    <p:extLst>
      <p:ext uri="{BB962C8B-B14F-4D97-AF65-F5344CB8AC3E}">
        <p14:creationId xmlns:p14="http://schemas.microsoft.com/office/powerpoint/2010/main" val="297503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2026-10-13T11:43:10.2640000Z</dcterms:created>
  <dcterms:modified xsi:type="dcterms:W3CDTF">2026-10-13T11:43:10.2650000Z</dcterms:modified>
</coreProperties>
</file>