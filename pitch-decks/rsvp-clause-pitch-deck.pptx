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72e7a7b7f04d28" /><Relationship Type="http://schemas.openxmlformats.org/officeDocument/2006/relationships/extended-properties" Target="/docProps/app.xml" Id="R23cae0b8ede6454c" /><Relationship Type="http://schemas.openxmlformats.org/officeDocument/2006/relationships/officeDocument" Target="/ppt/presentation.xml" Id="Rb2dca3bc3a3c48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03ab288d548e5"/>
  </p:sldMasterIdLst>
  <p:notesMasterIdLst>
    <p:notesMasterId xmlns:r="http://schemas.openxmlformats.org/officeDocument/2006/relationships" r:id="Rde5c250f20fc476d"/>
  </p:notesMasterIdLst>
  <p:sldIdLst>
    <p:sldId xmlns:r="http://schemas.openxmlformats.org/officeDocument/2006/relationships" id="256" r:id="R6d5507db484c4133"/>
    <p:sldId xmlns:r="http://schemas.openxmlformats.org/officeDocument/2006/relationships" id="257" r:id="R8e0a142ae8a64af3"/>
    <p:sldId xmlns:r="http://schemas.openxmlformats.org/officeDocument/2006/relationships" id="258" r:id="R9919a6d593624cf8"/>
    <p:sldId xmlns:r="http://schemas.openxmlformats.org/officeDocument/2006/relationships" id="259" r:id="Rcf410dd43ae94210"/>
    <p:sldId xmlns:r="http://schemas.openxmlformats.org/officeDocument/2006/relationships" id="260" r:id="Rd29c39189e9547cf"/>
    <p:sldId xmlns:r="http://schemas.openxmlformats.org/officeDocument/2006/relationships" id="261" r:id="Rea10084971624059"/>
    <p:sldId xmlns:r="http://schemas.openxmlformats.org/officeDocument/2006/relationships" id="262" r:id="R1d7e0cdd810e4cb8"/>
    <p:sldId xmlns:r="http://schemas.openxmlformats.org/officeDocument/2006/relationships" id="263" r:id="R7dd054c6924c493a"/>
    <p:sldId xmlns:r="http://schemas.openxmlformats.org/officeDocument/2006/relationships" id="264" r:id="Rf30409022ed14f9a"/>
    <p:sldId xmlns:r="http://schemas.openxmlformats.org/officeDocument/2006/relationships" id="265" r:id="R6ff75637bc544ecc"/>
    <p:sldId xmlns:r="http://schemas.openxmlformats.org/officeDocument/2006/relationships" id="266" r:id="R8efd4c5fe0224fd3"/>
    <p:sldId xmlns:r="http://schemas.openxmlformats.org/officeDocument/2006/relationships" id="267" r:id="Rbf7977fcf00a49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470b3a09464625" /><Relationship Type="http://schemas.openxmlformats.org/officeDocument/2006/relationships/slideMaster" Target="/ppt/slideMasters/slideMaster1.xml" Id="R17d03ab288d548e5" /><Relationship Type="http://schemas.openxmlformats.org/officeDocument/2006/relationships/notesMaster" Target="/ppt/notesMasters/notesMaster1.xml" Id="Rde5c250f20fc476d" /><Relationship Type="http://schemas.openxmlformats.org/officeDocument/2006/relationships/presProps" Target="/ppt/presProps.xml" Id="R6d145c537df44482" /><Relationship Type="http://schemas.openxmlformats.org/officeDocument/2006/relationships/tableStyles" Target="/ppt/tableStyles.xml" Id="Ra54d1aa76c0945fc" /><Relationship Type="http://schemas.openxmlformats.org/officeDocument/2006/relationships/slide" Target="/ppt/slides/slide1.xml" Id="R6d5507db484c4133" /><Relationship Type="http://schemas.openxmlformats.org/officeDocument/2006/relationships/slide" Target="/ppt/slides/slide2.xml" Id="R8e0a142ae8a64af3" /><Relationship Type="http://schemas.openxmlformats.org/officeDocument/2006/relationships/slide" Target="/ppt/slides/slide3.xml" Id="R9919a6d593624cf8" /><Relationship Type="http://schemas.openxmlformats.org/officeDocument/2006/relationships/slide" Target="/ppt/slides/slide4.xml" Id="Rcf410dd43ae94210" /><Relationship Type="http://schemas.openxmlformats.org/officeDocument/2006/relationships/slide" Target="/ppt/slides/slide5.xml" Id="Rd29c39189e9547cf" /><Relationship Type="http://schemas.openxmlformats.org/officeDocument/2006/relationships/slide" Target="/ppt/slides/slide6.xml" Id="Rea10084971624059" /><Relationship Type="http://schemas.openxmlformats.org/officeDocument/2006/relationships/slide" Target="/ppt/slides/slide7.xml" Id="R1d7e0cdd810e4cb8" /><Relationship Type="http://schemas.openxmlformats.org/officeDocument/2006/relationships/slide" Target="/ppt/slides/slide8.xml" Id="R7dd054c6924c493a" /><Relationship Type="http://schemas.openxmlformats.org/officeDocument/2006/relationships/slide" Target="/ppt/slides/slide9.xml" Id="Rf30409022ed14f9a" /><Relationship Type="http://schemas.openxmlformats.org/officeDocument/2006/relationships/slide" Target="/ppt/slides/slide10.xml" Id="R6ff75637bc544ecc" /><Relationship Type="http://schemas.openxmlformats.org/officeDocument/2006/relationships/slide" Target="/ppt/slides/slide11.xml" Id="R8efd4c5fe0224fd3" /><Relationship Type="http://schemas.openxmlformats.org/officeDocument/2006/relationships/slide" Target="/ppt/slides/slide12.xml" Id="Rbf7977fcf00a49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1ed804fb4544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b90cb20cee4268" /><Relationship Type="http://schemas.openxmlformats.org/officeDocument/2006/relationships/notesMaster" Target="/ppt/notesMasters/notesMaster1.xml" Id="R15ee5d6c429e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1fcd835fdb49a7" /><Relationship Type="http://schemas.openxmlformats.org/officeDocument/2006/relationships/notesMaster" Target="/ppt/notesMasters/notesMaster1.xml" Id="R7dab0802e6834f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ef8cdfc6f742a4" /><Relationship Type="http://schemas.openxmlformats.org/officeDocument/2006/relationships/notesMaster" Target="/ppt/notesMasters/notesMaster1.xml" Id="R6847419c4ed048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1a5735d37645c3" /><Relationship Type="http://schemas.openxmlformats.org/officeDocument/2006/relationships/notesMaster" Target="/ppt/notesMasters/notesMaster1.xml" Id="R00a01490e10047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6ee2bab6594397" /><Relationship Type="http://schemas.openxmlformats.org/officeDocument/2006/relationships/notesMaster" Target="/ppt/notesMasters/notesMaster1.xml" Id="Recb73b551db8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5b6b5f20c84665" /><Relationship Type="http://schemas.openxmlformats.org/officeDocument/2006/relationships/notesMaster" Target="/ppt/notesMasters/notesMaster1.xml" Id="Rdedff643e1be44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56a88547484bfe" /><Relationship Type="http://schemas.openxmlformats.org/officeDocument/2006/relationships/notesMaster" Target="/ppt/notesMasters/notesMaster1.xml" Id="Rcfb730686b884e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17028de3aa4f7a" /><Relationship Type="http://schemas.openxmlformats.org/officeDocument/2006/relationships/notesMaster" Target="/ppt/notesMasters/notesMaster1.xml" Id="Rb394da9f11a943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a4cbcb4c3b4c69" /><Relationship Type="http://schemas.openxmlformats.org/officeDocument/2006/relationships/notesMaster" Target="/ppt/notesMasters/notesMaster1.xml" Id="R0155d179df2746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2abbc427e3417a" /><Relationship Type="http://schemas.openxmlformats.org/officeDocument/2006/relationships/notesMaster" Target="/ppt/notesMasters/notesMaster1.xml" Id="Raf39f9c30f59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90bd64494e4ed5" /><Relationship Type="http://schemas.openxmlformats.org/officeDocument/2006/relationships/notesMaster" Target="/ppt/notesMasters/notesMaster1.xml" Id="Re3de2b731d8b4e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f51acde1784340" /><Relationship Type="http://schemas.openxmlformats.org/officeDocument/2006/relationships/notesMaster" Target="/ppt/notesMasters/notesMaster1.xml" Id="R76a6780128f54e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AI-generated project poster. Fictional leads, no talent attached. Written by Kelly R. Tenney. NCCA Entertainment.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Creative tonal comparisons, not financial comparables. Sources: https://www.netflix.com/st/title/81034553 ; https://media.netflix.com/en/only-on-netflix/80184100 ; https://www.hulu.com/movie/rye-lane-e3240081-68ec-4d08-aae9-db1d9f44ccc5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Creative inference based on story and genre. No commitment, commissioning requirement, audience statistics, or investment return represented. Official comparable sources: https://media.netflix.com/en/only-on-netflix/81034553 and https://media.netflix.com/en/only-on-netflix/80184100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RSVP CLAUSE Second Draft, October 2026, by Kelly R. Tenney. Visuals are AI-generated concept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45c62383d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7119d0885b4155" /><Relationship Type="http://schemas.openxmlformats.org/officeDocument/2006/relationships/slideLayout" Target="/ppt/slideLayouts/slideLayout1.xml" Id="R70af1aa66c6f49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af1aa66c6f49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fb0f69fba43ba" /><Relationship Type="http://schemas.openxmlformats.org/officeDocument/2006/relationships/image" Target="/ppt/media/image.png" Id="Rd09715c1354a4726" /><Relationship Type="http://schemas.openxmlformats.org/officeDocument/2006/relationships/notesSlide" Target="/ppt/notesSlides/notesSlide1.xml" Id="R88dae93c8238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84f7e9e6c4971" /><Relationship Type="http://schemas.openxmlformats.org/officeDocument/2006/relationships/image" Target="/ppt/media/image2.png" Id="R67f96cfe6bf541b9" /><Relationship Type="http://schemas.openxmlformats.org/officeDocument/2006/relationships/notesSlide" Target="/ppt/notesSlides/notesSlide2.xml" Id="R1e861fc921df42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a5fa5a7df4f67" /><Relationship Type="http://schemas.openxmlformats.org/officeDocument/2006/relationships/notesSlide" Target="/ppt/notesSlides/notesSlide3.xml" Id="R751f0cb037b440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60d0199a94fab" /><Relationship Type="http://schemas.openxmlformats.org/officeDocument/2006/relationships/image" Target="/ppt/media/image3.png" Id="R3e341d707a0b4135" /><Relationship Type="http://schemas.openxmlformats.org/officeDocument/2006/relationships/notesSlide" Target="/ppt/notesSlides/notesSlide4.xml" Id="Rc129a5dbb75e44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59f56f6a4455" /><Relationship Type="http://schemas.openxmlformats.org/officeDocument/2006/relationships/image" Target="/ppt/media/image4.png" Id="R7e82dd73d7e64446" /><Relationship Type="http://schemas.openxmlformats.org/officeDocument/2006/relationships/notesSlide" Target="/ppt/notesSlides/notesSlide5.xml" Id="R152c6d7adfd14a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4b4bd190143f4" /><Relationship Type="http://schemas.openxmlformats.org/officeDocument/2006/relationships/notesSlide" Target="/ppt/notesSlides/notesSlide6.xml" Id="Re6e1a6a558c54a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324fd898741ec" /><Relationship Type="http://schemas.openxmlformats.org/officeDocument/2006/relationships/image" Target="/ppt/media/image5.png" Id="R96e8a1f54c744ced" /><Relationship Type="http://schemas.openxmlformats.org/officeDocument/2006/relationships/notesSlide" Target="/ppt/notesSlides/notesSlide7.xml" Id="Re093807e9b7041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6e018606a40b8" /><Relationship Type="http://schemas.openxmlformats.org/officeDocument/2006/relationships/notesSlide" Target="/ppt/notesSlides/notesSlide8.xml" Id="R16a48de41c79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d2e4d57bfb4e43" /><Relationship Type="http://schemas.openxmlformats.org/officeDocument/2006/relationships/image" Target="/ppt/media/image6.png" Id="Re962f071b5ab45d5" /><Relationship Type="http://schemas.openxmlformats.org/officeDocument/2006/relationships/notesSlide" Target="/ppt/notesSlides/notesSlide9.xml" Id="Rf7f20064d32b49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9be0bbafa4a00" /><Relationship Type="http://schemas.openxmlformats.org/officeDocument/2006/relationships/notesSlide" Target="/ppt/notesSlides/notesSlide10.xml" Id="R4d3a200d9e2047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69909abba45c2" /><Relationship Type="http://schemas.openxmlformats.org/officeDocument/2006/relationships/image" Target="/ppt/media/image7.png" Id="Rab9f3a2a48cd4d42" /><Relationship Type="http://schemas.openxmlformats.org/officeDocument/2006/relationships/notesSlide" Target="/ppt/notesSlides/notesSlide11.xml" Id="Rd03705e742af4b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4edea172c4449" /><Relationship Type="http://schemas.openxmlformats.org/officeDocument/2006/relationships/notesSlide" Target="/ppt/notesSlides/notesSlide12.xml" Id="R9f70ebaa16d245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715c1354a4726"/>
          <a:stretch xmlns:a="http://schemas.openxmlformats.org/drawingml/2006/main"/>
        </p:blipFill>
        <p:spPr>
          <a:xfrm xmlns:a="http://schemas.openxmlformats.org/drawingml/2006/main">
            <a:off x="468658" y="0"/>
            <a:ext cx="11254683" cy="6334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64B17-D9EF-4038-BE64-97CAF4CC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ROMANTIC COMEDY  /  FEATURE FILM</a:t>
            </a:r>
          </a:p>
        </p:txBody>
      </p:sp>
    </p:spTree>
    <p:extLst>
      <p:ext uri="{BB962C8B-B14F-4D97-AF65-F5344CB8AC3E}">
        <p14:creationId xmlns:p14="http://schemas.microsoft.com/office/powerpoint/2010/main" val="440686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96cfe6bf541b9"/>
          <a:srcRect xmlns:a="http://schemas.openxmlformats.org/drawingml/2006/main" l="35148" t="0" r="3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94CB4-871A-41E2-9426-1179599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The logline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5EF1C-4349-41DA-8498-2008BEEF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01578-97BF-4B69-802C-F2685979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A plus-one pact.</a:t>
            </a:r>
          </a:p>
          <a:p xmlns:a="http://schemas.openxmlformats.org/drawingml/2006/main">
            <a:pPr>
              <a:defRPr sz="3300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An ex’s wedding.</a:t>
            </a:r>
          </a:p>
          <a:p xmlns:a="http://schemas.openxmlformats.org/drawingml/2006/main">
            <a:pPr>
              <a:defRPr sz="3300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An unexpected yes.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DE9DA-333D-498B-86E6-29C7C3A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74771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To survive planning her ex-fiancé’s wedding and her family’s relentless matchmaking, a meticulous Chicago wedding planner signs a no-love pact with a commitment-averse designer.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As their fake dates become the best part of their lives, a dream job across the country threatens the partnership neither will admit they want.</a:t>
            </a:r>
          </a:p>
        </p:txBody>
      </p:sp>
    </p:spTree>
    <p:extLst>
      <p:ext uri="{BB962C8B-B14F-4D97-AF65-F5344CB8AC3E}">
        <p14:creationId xmlns:p14="http://schemas.microsoft.com/office/powerpoint/2010/main" val="1005068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D2FBC-B32B-40D7-9CB4-1ABC83AA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The hook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29A20-208B-4B72-922D-E3B8E8FC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BC9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BC9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8CA9D-5881-4492-BE8A-6C22B79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06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She plans everyone’s happily ever after.</a:t>
            </a:r>
          </a:p>
          <a:p xmlns:a="http://schemas.openxmlformats.org/drawingml/2006/main">
            <a:pPr>
              <a:defRPr sz="345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He leaves before his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AA36-13B0-4BB5-B201-8783749B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7D6B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7D6BC"/>
                </a:solidFill>
                <a:latin typeface="Arial"/>
                <a:ea typeface="Arial"/>
                <a:cs typeface="Arial"/>
              </a:rPr>
              <a:t>Seven rules and an expiration date let them perform a romance.</a:t>
            </a:r>
          </a:p>
          <a:p xmlns:a="http://schemas.openxmlformats.org/drawingml/2006/main">
            <a:pPr>
              <a:defRPr sz="2250" b="0">
                <a:solidFill>
                  <a:srgbClr val="E7D6B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7D6BC"/>
                </a:solidFill>
                <a:latin typeface="Arial"/>
                <a:ea typeface="Arial"/>
                <a:cs typeface="Arial"/>
              </a:rPr>
              <a:t>Remembered coffee orders and quiet Tuesdays make it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AF72C-55D5-40E0-848E-511D102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Her career breakthrough means planning her ex’s wedding.</a:t>
            </a:r>
          </a:p>
          <a:p xmlns:a="http://schemas.openxmlformats.org/drawingml/2006/main">
            <a:pPr>
              <a:defRPr sz="202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A Mexican American family bakery gives the romance its heart.</a:t>
            </a:r>
          </a:p>
          <a:p xmlns:a="http://schemas.openxmlformats.org/drawingml/2006/main">
            <a:pPr>
              <a:defRPr sz="202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Every broken rule reveals a deeper form of intimacy.</a:t>
            </a:r>
          </a:p>
        </p:txBody>
      </p:sp>
    </p:spTree>
    <p:extLst>
      <p:ext uri="{BB962C8B-B14F-4D97-AF65-F5344CB8AC3E}">
        <p14:creationId xmlns:p14="http://schemas.microsoft.com/office/powerpoint/2010/main" val="1385903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41d707a0b4135"/>
          <a:srcRect xmlns:a="http://schemas.openxmlformats.org/drawingml/2006/main" l="35148" t="0" r="3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7DAC3-541F-43A5-A69C-3DF0363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Tone &amp; comparables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E647F-14DD-4FDD-A061-DEF28039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190B8-B365-4BFC-BB86-8FBB1A2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Playful. Tender. Emotionally grounded.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6205A-0194-41E8-BE78-04EB710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HOLIDATE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ACBC8-9FD4-4C79-9252-2561519D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A social survival pact that becomes real romance.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76488-08D5-4479-96BD-D3535405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SET IT 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2194B-3D97-496F-A084-4BF0CE6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Workplace wit and affection revealed through everyday attention.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B0339-ABD0-4DCA-B194-A957B28E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RYE 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6F2A1-774C-4BDC-984E-C501B5F3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A city with personality and neighborhood-rooted intimacy.</a:t>
            </a:r>
          </a:p>
        </p:txBody>
      </p:sp>
    </p:spTree>
    <p:extLst>
      <p:ext uri="{BB962C8B-B14F-4D97-AF65-F5344CB8AC3E}">
        <p14:creationId xmlns:p14="http://schemas.microsoft.com/office/powerpoint/2010/main" val="1361037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2dd73d7e64446"/>
          <a:srcRect xmlns:a="http://schemas.openxmlformats.org/drawingml/2006/main" l="35148" t="0" r="3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817F0-D990-4E65-B245-6CDA6A0F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Chloe Martinez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D8C40-F8B0-4E3F-BC68-C57B18F8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9E9BF-EB17-408A-972E-24F5D66E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30  /  WEDDING PLANNER  /  PROTAGONIST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14A5F-0A59-4263-9222-0162D54A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762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She can fix anything except</a:t>
            </a:r>
          </a:p>
          <a:p xmlns:a="http://schemas.openxmlformats.org/drawingml/2006/main">
            <a:pPr>
              <a:defRPr sz="30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the ending she never understood.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48800-C74F-48BC-AD90-82AC2277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Personality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7D81E-3B00-4DAA-BBC2-ECA6C99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Precise, dryly funny, fiercely capable. Her backup plans have backup plans.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A43F3-8349-499B-BA05-16BA0ED8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Goal &amp; conflict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B2B9D-C0A5-4159-8E03-1BE200F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42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Earn her name on the company door. Learn to leave room for someone else’s answer.</a:t>
            </a:r>
          </a:p>
        </p:txBody>
      </p:sp>
    </p:spTree>
    <p:extLst>
      <p:ext uri="{BB962C8B-B14F-4D97-AF65-F5344CB8AC3E}">
        <p14:creationId xmlns:p14="http://schemas.microsoft.com/office/powerpoint/2010/main" val="1355648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C382D-7CD5-426D-97E4-B95B754D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Ben Carter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3B25A-C467-43E4-9C0F-0A8040EC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BC9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BC9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F5AF2-CD2C-4EC6-B9B4-4E0B7EF3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8BDA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BDA2"/>
                </a:solidFill>
                <a:latin typeface="Arial"/>
                <a:ea typeface="Arial"/>
                <a:cs typeface="Arial"/>
              </a:rPr>
              <a:t>32  /  GRAPHIC DESIGNER  /  ROMANTIC LEAD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8342C-AE6C-47A9-888D-A97176A1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He remembers everything.</a:t>
            </a:r>
          </a:p>
          <a:p xmlns:a="http://schemas.openxmlformats.org/drawingml/2006/main">
            <a:pPr>
              <a:defRPr sz="36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He commits to very little.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72795-11E4-46FD-9B3E-9DA014B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7D6B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7D6BC"/>
                </a:solidFill>
                <a:latin typeface="Arial"/>
                <a:ea typeface="Arial"/>
                <a:cs typeface="Arial"/>
              </a:rPr>
              <a:t>OBSERVANT, INVENTIVE, DISARMINGLY FUNNY</a:t>
            </a:r>
          </a:p>
          <a:p xmlns:a="http://schemas.openxmlformats.org/drawingml/2006/main">
            <a:pPr>
              <a:defRPr sz="2100" b="0">
                <a:solidFill>
                  <a:srgbClr val="E7D6B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7D6BC"/>
                </a:solidFill>
                <a:latin typeface="Arial"/>
                <a:ea typeface="Arial"/>
                <a:cs typeface="Arial"/>
              </a:rPr>
              <a:t>He uses charm when honesty feels dangerous.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7F01D-3B4C-4DC3-B2ED-82107C23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He wants a studio of his own. Chloe makes him feel at home.</a:t>
            </a:r>
          </a:p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To deserve that home, he must stop hiding difficult choices</a:t>
            </a:r>
          </a:p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and show up when he promises.</a:t>
            </a:r>
          </a:p>
        </p:txBody>
      </p:sp>
    </p:spTree>
    <p:extLst>
      <p:ext uri="{BB962C8B-B14F-4D97-AF65-F5344CB8AC3E}">
        <p14:creationId xmlns:p14="http://schemas.microsoft.com/office/powerpoint/2010/main" val="992478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8a1f54c744ced"/>
          <a:srcRect xmlns:a="http://schemas.openxmlformats.org/drawingml/2006/main" l="35148" t="0" r="3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66F65-6BCC-4DE9-8794-063CABDC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The people around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548DD-5072-4AD1-A86D-15E14F1E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ADCD0-59D7-4DCA-8D37-411FBFB4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57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2336"/>
                </a:solidFill>
                <a:latin typeface="Arial"/>
                <a:ea typeface="Arial"/>
                <a:cs typeface="Arial"/>
              </a:rPr>
              <a:t>MARISOL MARTINEZ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FD9AC-849C-437A-87C4-8F59EC22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757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Bakery owner and mother. Sharp questions conceal tender concern.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86AAA-7720-40D4-9BF7-667A530A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757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2336"/>
                </a:solidFill>
                <a:latin typeface="Arial"/>
                <a:ea typeface="Arial"/>
                <a:cs typeface="Arial"/>
              </a:rPr>
              <a:t>GRANDMA ROSA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3DAA5-D3DC-4878-9B4C-C7FFE643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57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Quiet family authority. A crossed-out no can become a lifelong yes.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89573-1C76-4F27-90F2-995D752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757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2336"/>
                </a:solidFill>
                <a:latin typeface="Arial"/>
                <a:ea typeface="Arial"/>
                <a:cs typeface="Arial"/>
              </a:rPr>
              <a:t>DAVID CHEN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7173A-F5AB-46A4-A390-1A96E144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757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Therapist roommate. Wants an honest answer and reliable rent.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BF850-3275-40F5-A02E-932A7053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757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2336"/>
                </a:solidFill>
                <a:latin typeface="Arial"/>
                <a:ea typeface="Arial"/>
                <a:cs typeface="Arial"/>
              </a:rPr>
              <a:t>DIANE WHITLOCK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53F87-9369-48A8-B200-AA0BEEAD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57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Demanding boss. Must learn where the business ends.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48CDA-6EA2-473E-A21B-765AB5BB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757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2336"/>
                </a:solidFill>
                <a:latin typeface="Arial"/>
                <a:ea typeface="Arial"/>
                <a:cs typeface="Arial"/>
              </a:rPr>
              <a:t>NATE BISHOP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79D2F-A153-4095-9AAD-6B4733D5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757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Former fiancé. His wedding forces an overdue reckoning.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8E74A-7C3F-4436-AC6C-9B09DC66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757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2336"/>
                </a:solidFill>
                <a:latin typeface="Arial"/>
                <a:ea typeface="Arial"/>
                <a:cs typeface="Arial"/>
              </a:rPr>
              <a:t>WHITNEY HALE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0E4E4-1F7F-42ED-9B9A-255A6043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757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Warmhearted bride. Her affection complicates Chloe’s assignment.</a:t>
            </a:r>
          </a:p>
        </p:txBody>
      </p:sp>
    </p:spTree>
    <p:extLst>
      <p:ext uri="{BB962C8B-B14F-4D97-AF65-F5344CB8AC3E}">
        <p14:creationId xmlns:p14="http://schemas.microsoft.com/office/powerpoint/2010/main" val="154412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6748B-E86F-4667-8BA3-BB392229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The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CF5B-C993-4443-A24B-5F35577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BC9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BC9A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DA4C3-5275-4E2D-9FD4-6FFDA72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BDA2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D8BDA2"/>
                </a:solidFill>
                <a:latin typeface="Georgia"/>
                <a:ea typeface="Georgia"/>
                <a:cs typeface="Georgia"/>
              </a:rPr>
              <a:t>ACT I  /  THE AGREEMENT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2DB8C-E002-41AB-9457-9A00F003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Chloe’s biggest account could make her partner, but the groom is her ex. She recruits Ben as her social shield and writes a contract that expires after the wedding.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697A3-624A-4367-8190-05C38264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BDA2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D8BDA2"/>
                </a:solidFill>
                <a:latin typeface="Georgia"/>
                <a:ea typeface="Georgia"/>
                <a:cs typeface="Georgia"/>
              </a:rPr>
              <a:t>ACT II  /  THE EXCEPTIONS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1B9F7-EDDB-4BF3-9D95-A6F3C84E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Family celebrations, a funeral, and quiet Tuesdays turn performance into care. As clients embrace their romance, Ben conceals a New York offer.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2C73E-6E4F-43CB-A9F1-EB7F030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BDA2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D8BDA2"/>
                </a:solidFill>
                <a:latin typeface="Georgia"/>
                <a:ea typeface="Georgia"/>
                <a:cs typeface="Georgia"/>
              </a:rPr>
              <a:t>ACT III  /  THE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C5BA0-C003-4048-BEC9-998C3D21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Chloe earns partnership on her own terms, then discovers Ben’s packed boxes. An honest conversation leads them back to Sunday dinner and a shared future.</a:t>
            </a:r>
          </a:p>
        </p:txBody>
      </p:sp>
    </p:spTree>
    <p:extLst>
      <p:ext uri="{BB962C8B-B14F-4D97-AF65-F5344CB8AC3E}">
        <p14:creationId xmlns:p14="http://schemas.microsoft.com/office/powerpoint/2010/main" val="20587585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2f071b5ab45d5"/>
          <a:srcRect xmlns:a="http://schemas.openxmlformats.org/drawingml/2006/main" l="35148" t="0" r="3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3806A-52B0-40E4-8716-285A7F2F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The visual world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10683-6D61-4492-9A07-135DAEF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8FCE7-3ABE-4CAD-B4A3-98FDECA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429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Chicago river gold</a:t>
            </a:r>
          </a:p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Ivory peonies</a:t>
            </a:r>
          </a:p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Pilsen murals</a:t>
            </a:r>
          </a:p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Pink conchas</a:t>
            </a:r>
          </a:p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Winter blue</a:t>
            </a:r>
          </a:p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Pencil graphite</a:t>
            </a:r>
          </a:p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Conservatory glass</a:t>
            </a:r>
          </a:p>
          <a:p xmlns:a="http://schemas.openxmlformats.org/drawingml/2006/main">
            <a:pPr>
              <a:defRPr sz="2325" b="0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Deep red calendar 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3BC91-6123-44D1-B2C6-A50E38DC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3333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Luxury events begin with symmetry and controlled movement.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Family spaces feel warm, crowded, and lived 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As Chloe opens up, compositions loosen and the distance between the leads closes.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CA238-0E11-4132-A93D-8B9CEE4F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MIDNIGHT NAVY</a:t>
            </a:r>
          </a:p>
          <a:p xmlns:a="http://schemas.openxmlformats.org/drawingml/2006/main">
            <a:pPr>
              <a:defRPr sz="13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WARM IVORY</a:t>
            </a:r>
          </a:p>
          <a:p xmlns:a="http://schemas.openxmlformats.org/drawingml/2006/main">
            <a:pPr>
              <a:defRPr sz="13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BAKERY PINK</a:t>
            </a:r>
          </a:p>
          <a:p xmlns:a="http://schemas.openxmlformats.org/drawingml/2006/main">
            <a:pPr>
              <a:defRPr sz="13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CHAMPAGNE GOLD</a:t>
            </a:r>
          </a:p>
          <a:p xmlns:a="http://schemas.openxmlformats.org/drawingml/2006/main">
            <a:pPr>
              <a:defRPr sz="13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DEEP RED</a:t>
            </a:r>
          </a:p>
        </p:txBody>
      </p:sp>
    </p:spTree>
    <p:extLst>
      <p:ext uri="{BB962C8B-B14F-4D97-AF65-F5344CB8AC3E}">
        <p14:creationId xmlns:p14="http://schemas.microsoft.com/office/powerpoint/2010/main" val="619534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2089A-AC5C-4D2C-8847-270F4755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Casting wishlist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9C7FD-B028-4036-81AB-A574AD14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BC9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BC9A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951A8-7401-486E-A393-0AD4A66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MELISSA BARRERA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9F1C3-52A1-4D29-9741-BBA2369E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BD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BDA2"/>
                </a:solidFill>
                <a:latin typeface="Arial"/>
                <a:ea typeface="Arial"/>
                <a:cs typeface="Arial"/>
              </a:rPr>
              <a:t>CHLOE MARTINEZ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D1225-0941-4C93-A6E2-4B215F2C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Precision, dry humor, guarded vulnerability.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BB9A9-30C5-4CC0-8EFC-955D0C4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DYLAN O’BRIEN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1E2AB-9EB2-4AAC-A692-DE25C119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BD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BDA2"/>
                </a:solidFill>
                <a:latin typeface="Arial"/>
                <a:ea typeface="Arial"/>
                <a:cs typeface="Arial"/>
              </a:rPr>
              <a:t>BEN CARTER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B0243-3AC8-43FA-A0DD-25960514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764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Restless comic energy and emotional openness.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53215-8B62-4900-BFBC-31EDCEE8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CONSTANCE MARIE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AF954-FAEC-41F1-B5DF-0868581B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BD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BDA2"/>
                </a:solidFill>
                <a:latin typeface="Arial"/>
                <a:ea typeface="Arial"/>
                <a:cs typeface="Arial"/>
              </a:rPr>
              <a:t>MARISOL MARTINEZ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8CB34-299A-46FE-8369-06CDD315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Maternal authority with warmth beneath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BD050-123F-477B-914A-89AD66C8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TONY REVOLORI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C59AA-93A7-4547-9300-0EA7FA9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62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BD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BDA2"/>
                </a:solidFill>
                <a:latin typeface="Arial"/>
                <a:ea typeface="Arial"/>
                <a:cs typeface="Arial"/>
              </a:rPr>
              <a:t>DAVID 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BE954-B080-42B2-980A-BAECC154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Understated humor and a grounded presence.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32511-3C2C-4CA4-AD8C-1A3D3A2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JEAN SMART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9C28C-34FB-4F5E-8905-1B02273F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BD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BDA2"/>
                </a:solidFill>
                <a:latin typeface="Arial"/>
                <a:ea typeface="Arial"/>
                <a:cs typeface="Arial"/>
              </a:rPr>
              <a:t>DIANE WHITLOCK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8CDED-1338-4708-BF58-F496A9BE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Commanding wit and hidden tenderness.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2566C-57C0-41F3-A351-F5CCA30C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ROSA: OPEN CASTING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ABBF8-B47C-44D9-8299-7BD59280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910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8BDA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8BDA2"/>
                </a:solidFill>
                <a:latin typeface="Arial"/>
                <a:ea typeface="Arial"/>
                <a:cs typeface="Arial"/>
              </a:rPr>
              <a:t>GRANDMA ROSA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77387-D2A2-4DBC-8A25-3B0D161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339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A bilingual veteran with quiet comic authority.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EA2C6-D87E-498E-AAAA-6C48C87B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7D6B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7D6BC"/>
                </a:solidFill>
                <a:latin typeface="Arial"/>
                <a:ea typeface="Arial"/>
                <a:cs typeface="Arial"/>
              </a:rPr>
              <a:t>Illustrative wishlist. No talent attached. Availability and terms unconfirmed.</a:t>
            </a:r>
          </a:p>
        </p:txBody>
      </p:sp>
    </p:spTree>
    <p:extLst>
      <p:ext uri="{BB962C8B-B14F-4D97-AF65-F5344CB8AC3E}">
        <p14:creationId xmlns:p14="http://schemas.microsoft.com/office/powerpoint/2010/main" val="781955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5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f3a2a48cd4d42"/>
          <a:srcRect xmlns:a="http://schemas.openxmlformats.org/drawingml/2006/main" l="35148" t="0" r="35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250B1-1456-4563-86FF-B3A7DEA2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5283C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5283C"/>
                </a:solidFill>
                <a:latin typeface="Georgia"/>
                <a:ea typeface="Georgia"/>
                <a:cs typeface="Georgia"/>
              </a:rPr>
              <a:t>Why it works for Netflix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A3C84-5853-407D-887F-D766E289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6D9CF-900C-4848-B15D-E2BE4EC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E23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E2336"/>
                </a:solidFill>
                <a:latin typeface="Arial"/>
                <a:ea typeface="Arial"/>
                <a:cs typeface="Arial"/>
              </a:rPr>
              <a:t>PROPOSED PLATFORM POSITIONING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8CEEF-B4C0-4B41-8350-514F3D3A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57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Immediate premise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31B1F-B847-4760-8A81-93114EE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757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A wedding planner must plan her ex’s wedding while her own romance is a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C95CD-67E1-47B5-95C6-BA0525DA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757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Recognizable genre appeal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C5023-85B1-4FB1-84C6-76BFBB88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57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Fake dating, opposites attracting, and a celebratory romantic payoff.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C8C77-2353-43AE-A6EE-69488C87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757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Distinctive world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26AA7-0088-42CB-AB8B-278D5517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757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Luxury Chicago events meet a Mexican American family bakery.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59234-F4D3-40DA-AF9D-B60D43BE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757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Promotional moments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F90D2-8A3C-4B8F-8CDA-4137C3EB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757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Seven rules. A New Year’s kiss. Packed boxes. A Sunday reunion.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3EE13-507C-4C9F-931C-EF6FB17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57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2336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8E2336"/>
                </a:solidFill>
                <a:latin typeface="Georgia"/>
                <a:ea typeface="Georgia"/>
                <a:cs typeface="Georgia"/>
              </a:rPr>
              <a:t>Emotional accessibility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29F27-D55C-4439-91E6-A9B6BEB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57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Career ambition, family expectations, and fear of abandonment.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CEEE5-B2AC-45AD-A0B8-6FB0E857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10325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5283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5283C"/>
                </a:solidFill>
                <a:latin typeface="Arial"/>
                <a:ea typeface="Arial"/>
                <a:cs typeface="Arial"/>
              </a:rPr>
              <a:t>Creative positioning assessment. No platform commitment or audience-performance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1411630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28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C683B-31E5-47D8-9751-CDB866B6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BF5EA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BF5EA"/>
                </a:solidFill>
                <a:latin typeface="Georgia"/>
                <a:ea typeface="Georgia"/>
                <a:cs typeface="Georgia"/>
              </a:rPr>
              <a:t>Materials &amp;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BFB86-2F36-4F46-A82C-82A6E7DC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BC9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BC9A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C36CF-4E79-4F81-9868-0232A568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BDA2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D8BDA2"/>
                </a:solidFill>
                <a:latin typeface="Georgia"/>
                <a:ea typeface="Georgia"/>
                <a:cs typeface="Georgia"/>
              </a:rPr>
              <a:t>AVAILABLE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E098A-1FAA-4EBE-9713-10A07689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96-page second-draft screenplay</a:t>
            </a:r>
          </a:p>
          <a:p xmlns:a="http://schemas.openxmlformats.org/drawingml/2006/main">
            <a:pPr>
              <a:defRPr sz="217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Draft-to-draft review and revision priorities</a:t>
            </a:r>
          </a:p>
          <a:p xmlns:a="http://schemas.openxmlformats.org/drawingml/2006/main">
            <a:pPr>
              <a:defRPr sz="217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Pitch deck and project poster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7BD7C-FED8-47B2-8D4A-CC75CB54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BDA2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D8BDA2"/>
                </a:solidFill>
                <a:latin typeface="Georgia"/>
                <a:ea typeface="Georgia"/>
                <a:cs typeface="Georgia"/>
              </a:rPr>
              <a:t>SEEKING A PRODUCING PARTNER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636FB-9C10-442B-A647-BD6B1C82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Focused script polish, budget and production plan,</a:t>
            </a:r>
          </a:p>
          <a:p xmlns:a="http://schemas.openxmlformats.org/drawingml/2006/main">
            <a:pPr>
              <a:defRPr sz="217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director and lead casting, financing and distribution discussions.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BB2AD-DD92-430E-8B9C-CCF503B3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Kelly R. Tenney  /  NCCA Entertainment</a:t>
            </a:r>
          </a:p>
          <a:p xmlns:a="http://schemas.openxmlformats.org/drawingml/2006/main">
            <a:pPr>
              <a:defRPr sz="1725" b="0">
                <a:solidFill>
                  <a:srgbClr val="FBF5E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BF5EA"/>
                </a:solidFill>
                <a:latin typeface="Arial"/>
                <a:ea typeface="Arial"/>
                <a:cs typeface="Arial"/>
              </a:rPr>
              <a:t>NCCAENTERTAINMENT@gmail.com  /  910.262.3456</a:t>
            </a:r>
          </a:p>
        </p:txBody>
      </p:sp>
    </p:spTree>
    <p:extLst>
      <p:ext uri="{BB962C8B-B14F-4D97-AF65-F5344CB8AC3E}">
        <p14:creationId xmlns:p14="http://schemas.microsoft.com/office/powerpoint/2010/main" val="648187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2026-10-05T11:29:30.4850000Z</dcterms:created>
  <dcterms:modified xsi:type="dcterms:W3CDTF">2026-10-05T11:29:30.4850000Z</dcterms:modified>
</coreProperties>
</file>