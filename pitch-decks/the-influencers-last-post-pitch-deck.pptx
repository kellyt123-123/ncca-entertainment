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4b092e092b4bb0" /><Relationship Type="http://schemas.openxmlformats.org/officeDocument/2006/relationships/extended-properties" Target="/docProps/app.xml" Id="R19f681d916c04b63" /><Relationship Type="http://schemas.openxmlformats.org/officeDocument/2006/relationships/officeDocument" Target="/ppt/presentation.xml" Id="Rca016a55124a4666" /></Relationships>
</file>

<file path=ppt/presentation.xml><?xml version="1.0" encoding="utf-8"?>
<p:presentation xmlns:p="http://schemas.openxmlformats.org/presentationml/2006/main">
  <p:sldMasterIdLst>
    <p:sldMasterId xmlns:r="http://schemas.openxmlformats.org/officeDocument/2006/relationships" id="2147483648" r:id="R65de1e4691164dd2"/>
  </p:sldMasterIdLst>
  <p:notesMasterIdLst>
    <p:notesMasterId xmlns:r="http://schemas.openxmlformats.org/officeDocument/2006/relationships" r:id="R02515953e306470e"/>
  </p:notesMasterIdLst>
  <p:sldIdLst>
    <p:sldId xmlns:r="http://schemas.openxmlformats.org/officeDocument/2006/relationships" id="256" r:id="R89ce09632ac549c9"/>
    <p:sldId xmlns:r="http://schemas.openxmlformats.org/officeDocument/2006/relationships" id="257" r:id="R4a69053cffea4686"/>
    <p:sldId xmlns:r="http://schemas.openxmlformats.org/officeDocument/2006/relationships" id="258" r:id="R5d417058bd3441e8"/>
    <p:sldId xmlns:r="http://schemas.openxmlformats.org/officeDocument/2006/relationships" id="259" r:id="R309e844980db43a4"/>
    <p:sldId xmlns:r="http://schemas.openxmlformats.org/officeDocument/2006/relationships" id="260" r:id="R62548723bd5f4403"/>
    <p:sldId xmlns:r="http://schemas.openxmlformats.org/officeDocument/2006/relationships" id="261" r:id="R2090305da25f4ffc"/>
    <p:sldId xmlns:r="http://schemas.openxmlformats.org/officeDocument/2006/relationships" id="262" r:id="R7cc415e8a3bf4b5c"/>
    <p:sldId xmlns:r="http://schemas.openxmlformats.org/officeDocument/2006/relationships" id="263" r:id="R4d3da2c3e0044f6d"/>
    <p:sldId xmlns:r="http://schemas.openxmlformats.org/officeDocument/2006/relationships" id="264" r:id="R3556a1c613a44e87"/>
    <p:sldId xmlns:r="http://schemas.openxmlformats.org/officeDocument/2006/relationships" id="265" r:id="Rc9b75da840c64463"/>
    <p:sldId xmlns:r="http://schemas.openxmlformats.org/officeDocument/2006/relationships" id="266" r:id="Re953513984394b97"/>
    <p:sldId xmlns:r="http://schemas.openxmlformats.org/officeDocument/2006/relationships" id="267" r:id="R490729c01c3844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fba1e3fe504e3b" /><Relationship Type="http://schemas.openxmlformats.org/officeDocument/2006/relationships/slideMaster" Target="/ppt/slideMasters/slideMaster1.xml" Id="R65de1e4691164dd2" /><Relationship Type="http://schemas.openxmlformats.org/officeDocument/2006/relationships/notesMaster" Target="/ppt/notesMasters/notesMaster1.xml" Id="R02515953e306470e" /><Relationship Type="http://schemas.openxmlformats.org/officeDocument/2006/relationships/presProps" Target="/ppt/presProps.xml" Id="Rbb7c85f125d44904" /><Relationship Type="http://schemas.openxmlformats.org/officeDocument/2006/relationships/tableStyles" Target="/ppt/tableStyles.xml" Id="Re20838fe9f5e479d" /><Relationship Type="http://schemas.openxmlformats.org/officeDocument/2006/relationships/slide" Target="/ppt/slides/slide1.xml" Id="R89ce09632ac549c9" /><Relationship Type="http://schemas.openxmlformats.org/officeDocument/2006/relationships/slide" Target="/ppt/slides/slide2.xml" Id="R4a69053cffea4686" /><Relationship Type="http://schemas.openxmlformats.org/officeDocument/2006/relationships/slide" Target="/ppt/slides/slide3.xml" Id="R5d417058bd3441e8" /><Relationship Type="http://schemas.openxmlformats.org/officeDocument/2006/relationships/slide" Target="/ppt/slides/slide4.xml" Id="R309e844980db43a4" /><Relationship Type="http://schemas.openxmlformats.org/officeDocument/2006/relationships/slide" Target="/ppt/slides/slide5.xml" Id="R62548723bd5f4403" /><Relationship Type="http://schemas.openxmlformats.org/officeDocument/2006/relationships/slide" Target="/ppt/slides/slide6.xml" Id="R2090305da25f4ffc" /><Relationship Type="http://schemas.openxmlformats.org/officeDocument/2006/relationships/slide" Target="/ppt/slides/slide7.xml" Id="R7cc415e8a3bf4b5c" /><Relationship Type="http://schemas.openxmlformats.org/officeDocument/2006/relationships/slide" Target="/ppt/slides/slide8.xml" Id="R4d3da2c3e0044f6d" /><Relationship Type="http://schemas.openxmlformats.org/officeDocument/2006/relationships/slide" Target="/ppt/slides/slide9.xml" Id="R3556a1c613a44e87" /><Relationship Type="http://schemas.openxmlformats.org/officeDocument/2006/relationships/slide" Target="/ppt/slides/slide10.xml" Id="Rc9b75da840c64463" /><Relationship Type="http://schemas.openxmlformats.org/officeDocument/2006/relationships/slide" Target="/ppt/slides/slide11.xml" Id="Re953513984394b97" /><Relationship Type="http://schemas.openxmlformats.org/officeDocument/2006/relationships/slide" Target="/ppt/slides/slide12.xml" Id="R490729c01c3844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8e7f1ccd664b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40ddd0d8e74cc7" /><Relationship Type="http://schemas.openxmlformats.org/officeDocument/2006/relationships/notesMaster" Target="/ppt/notesMasters/notesMaster1.xml" Id="Rfb9091c6ac9545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61a18b51684fff" /><Relationship Type="http://schemas.openxmlformats.org/officeDocument/2006/relationships/notesMaster" Target="/ppt/notesMasters/notesMaster1.xml" Id="R624a7ad221d447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1877ecc17c41e4" /><Relationship Type="http://schemas.openxmlformats.org/officeDocument/2006/relationships/notesMaster" Target="/ppt/notesMasters/notesMaster1.xml" Id="R67ce28f12aed4b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a797c4dfff4aea" /><Relationship Type="http://schemas.openxmlformats.org/officeDocument/2006/relationships/notesMaster" Target="/ppt/notesMasters/notesMaster1.xml" Id="R7e951118f32e4e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d88190628140e0" /><Relationship Type="http://schemas.openxmlformats.org/officeDocument/2006/relationships/notesMaster" Target="/ppt/notesMasters/notesMaster1.xml" Id="R420f1b70aade45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5642a875214781" /><Relationship Type="http://schemas.openxmlformats.org/officeDocument/2006/relationships/notesMaster" Target="/ppt/notesMasters/notesMaster1.xml" Id="Rd97e4fd30c2349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e9622acf1c40ea" /><Relationship Type="http://schemas.openxmlformats.org/officeDocument/2006/relationships/notesMaster" Target="/ppt/notesMasters/notesMaster1.xml" Id="R674f6255e16f4d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4c0bd1c6d346bf" /><Relationship Type="http://schemas.openxmlformats.org/officeDocument/2006/relationships/notesMaster" Target="/ppt/notesMasters/notesMaster1.xml" Id="R1d5415a169604b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7b3d53fdb54ed6" /><Relationship Type="http://schemas.openxmlformats.org/officeDocument/2006/relationships/notesMaster" Target="/ppt/notesMasters/notesMaster1.xml" Id="Ra5b59fe80e2445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8f6ac24a5f418e" /><Relationship Type="http://schemas.openxmlformats.org/officeDocument/2006/relationships/notesMaster" Target="/ppt/notesMasters/notesMaster1.xml" Id="R5bb8ab44d7f145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c2338187b04e5a" /><Relationship Type="http://schemas.openxmlformats.org/officeDocument/2006/relationships/notesMaster" Target="/ppt/notesMasters/notesMaster1.xml" Id="Ra83435b41ff14d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12bcdc9fe44366" /><Relationship Type="http://schemas.openxmlformats.org/officeDocument/2006/relationships/notesMaster" Target="/ppt/notesMasters/notesMaster1.xml" Id="R04e0be608a2749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a:p xmlns:a="http://schemas.openxmlformats.org/drawingml/2006/main">
            <a:r>
              <a:t>Comparisons are tonal references selected in the supplied one-pager, not financial forecasts, buyer endorsements or claims of affiliation.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Influencer's Last Post New One Pager.pdf, supplied by K.R. Tenney, pages 1 and 3. Character names and BET+ positioning follow this newer package. Earlier Green screenplay provides supporting scene context. Artwork is fictional concept art generated for this pitch. Proposed creative and production approaches are not confirmed production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81858e576d44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82a2afcdbf4e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7f6e2d610841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0504bcc14f47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52f0e1b8fe4f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149e66121a44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990C15-1C05-4EEA-B2DD-5BC819D2B3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3F4F84-DA76-45D2-B72D-31202A55FA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6CC5F7-7DC2-494D-A237-AA8F23AA33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7BBA23-F6C6-4E19-A04D-8561F81BA4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33D32A-2BAF-440B-ACFA-BA854660B4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740B76-8B95-4A14-BD40-9C1ED760C6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2F4037-B3B0-456A-82C4-17AB93A11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552559-E63D-42E6-8FFD-0177B722B3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BBB6BB-F078-456D-9E54-8AA9B46262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81EBEB-500F-448A-9DE7-FD13E7EF9C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bcd1d59c2c4340" /><Relationship Type="http://schemas.openxmlformats.org/officeDocument/2006/relationships/slideLayout" Target="/ppt/slideLayouts/slideLayout1.xml" Id="R2b0f793a21ec4a29" /><Relationship Type="http://schemas.openxmlformats.org/officeDocument/2006/relationships/slideLayout" Target="/ppt/slideLayouts/slideLayout2.xml" Id="R2553f83d27684142" /><Relationship Type="http://schemas.openxmlformats.org/officeDocument/2006/relationships/slideLayout" Target="/ppt/slideLayouts/slideLayout3.xml" Id="R669a4a2c23004fad" /><Relationship Type="http://schemas.openxmlformats.org/officeDocument/2006/relationships/slideLayout" Target="/ppt/slideLayouts/slideLayout4.xml" Id="R2eb9d46bc4f44b5e" /><Relationship Type="http://schemas.openxmlformats.org/officeDocument/2006/relationships/slideLayout" Target="/ppt/slideLayouts/slideLayout5.xml" Id="Rc9e9f386bd094a95" /><Relationship Type="http://schemas.openxmlformats.org/officeDocument/2006/relationships/slideLayout" Target="/ppt/slideLayouts/slideLayout6.xml" Id="R09b4842fa8134b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0f793a21ec4a29"/>
    <p:sldLayoutId xmlns:r="http://schemas.openxmlformats.org/officeDocument/2006/relationships" id="2147483650" r:id="R2553f83d27684142"/>
    <p:sldLayoutId xmlns:r="http://schemas.openxmlformats.org/officeDocument/2006/relationships" id="2147483651" r:id="R669a4a2c23004fad"/>
    <p:sldLayoutId xmlns:r="http://schemas.openxmlformats.org/officeDocument/2006/relationships" id="2147483652" r:id="R2eb9d46bc4f44b5e"/>
    <p:sldLayoutId xmlns:r="http://schemas.openxmlformats.org/officeDocument/2006/relationships" id="2147483653" r:id="Rc9e9f386bd094a95"/>
    <p:sldLayoutId xmlns:r="http://schemas.openxmlformats.org/officeDocument/2006/relationships" id="2147483654" r:id="R09b4842fa8134b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1d93c95aea4f07" /><Relationship Type="http://schemas.openxmlformats.org/officeDocument/2006/relationships/image" Target="/ppt/media/image.png" Id="R92053d91d7c94436" /><Relationship Type="http://schemas.openxmlformats.org/officeDocument/2006/relationships/notesSlide" Target="/ppt/notesSlides/notesSlide1.xml" Id="R76fd1a3e114b47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358e0bdfce4371" /><Relationship Type="http://schemas.openxmlformats.org/officeDocument/2006/relationships/notesSlide" Target="/ppt/notesSlides/notesSlide2.xml" Id="R36033c239ad145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24b4aa53ab43b9" /><Relationship Type="http://schemas.openxmlformats.org/officeDocument/2006/relationships/notesSlide" Target="/ppt/notesSlides/notesSlide3.xml" Id="Ra8e1816f18af49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2f3a0be1bb433a" /><Relationship Type="http://schemas.openxmlformats.org/officeDocument/2006/relationships/notesSlide" Target="/ppt/notesSlides/notesSlide4.xml" Id="R6d5c1ee9798e43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f305857f104e9a" /><Relationship Type="http://schemas.openxmlformats.org/officeDocument/2006/relationships/notesSlide" Target="/ppt/notesSlides/notesSlide5.xml" Id="R58ecc329f16441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a8dd468a8d45e1" /><Relationship Type="http://schemas.openxmlformats.org/officeDocument/2006/relationships/notesSlide" Target="/ppt/notesSlides/notesSlide6.xml" Id="Re9590ff95ff640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7a3ccadf814a48" /><Relationship Type="http://schemas.openxmlformats.org/officeDocument/2006/relationships/image" Target="/ppt/media/image2.png" Id="R8af6e6dedfbb4175" /><Relationship Type="http://schemas.openxmlformats.org/officeDocument/2006/relationships/notesSlide" Target="/ppt/notesSlides/notesSlide7.xml" Id="R6120d004f6f44c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037514cf564e2d" /><Relationship Type="http://schemas.openxmlformats.org/officeDocument/2006/relationships/notesSlide" Target="/ppt/notesSlides/notesSlide8.xml" Id="R82e02af9ca604d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520a3460d348ec" /><Relationship Type="http://schemas.openxmlformats.org/officeDocument/2006/relationships/notesSlide" Target="/ppt/notesSlides/notesSlide9.xml" Id="R518870d14ed249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b52304c45146e7" /><Relationship Type="http://schemas.openxmlformats.org/officeDocument/2006/relationships/notesSlide" Target="/ppt/notesSlides/notesSlide10.xml" Id="R6b610a27121144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0b60d9e1344b47" /><Relationship Type="http://schemas.openxmlformats.org/officeDocument/2006/relationships/notesSlide" Target="/ppt/notesSlides/notesSlide11.xml" Id="Rc1bdabbecda54d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09116f5cb4241a4" /><Relationship Type="http://schemas.openxmlformats.org/officeDocument/2006/relationships/image" Target="/ppt/media/image3.png" Id="Rfda7f8595be9422b" /><Relationship Type="http://schemas.openxmlformats.org/officeDocument/2006/relationships/notesSlide" Target="/ppt/notesSlides/notesSlide12.xml" Id="R7d79f2b58c6b45b9"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08E2AC9-B0D2-4C28-942A-56E3042EF0C0}"/>
              </a:ext>
            </a:extLst>
          </p:cNvPr>
          <p:cNvPicPr>
            <a:picLocks xmlns:a="http://schemas.openxmlformats.org/drawingml/2006/main" noChangeAspect="1"/>
          </p:cNvPicPr>
          <p:nvPr/>
        </p:nvPicPr>
        <p:blipFill>
          <a:blip xmlns:r="http://schemas.openxmlformats.org/officeDocument/2006/relationships" xmlns:a="http://schemas.openxmlformats.org/drawingml/2006/main" r:embed="R92053d91d7c9443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DAD57C-92B5-4B43-A24C-C9EB04EC6A27}"/>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075CCF1-CDB0-4125-9E89-231F81E40903}"/>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4" name="">
            <a:extLst xmlns:a="http://schemas.openxmlformats.org/drawingml/2006/main">
              <a:ext uri="{FF2B5EF4-FFF2-40B4-BE49-F238E27FC236}">
                <a16:creationId xmlns:a16="http://schemas.microsoft.com/office/drawing/2014/main" id="{58142F62-6B7C-46C1-989F-089DF6D5AE2E}"/>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A28EDDE-6B02-47E2-A79A-1BF37FA09DC6}"/>
              </a:ext>
            </a:extLst>
          </p:cNvPr>
          <p:cNvSpPr>
            <a:spLocks xmlns:a="http://schemas.openxmlformats.org/drawingml/2006/main" noGrp="1"/>
          </p:cNvSpPr>
          <p:nvPr/>
        </p:nvSpPr>
        <p:spPr>
          <a:xfrm xmlns:a="http://schemas.openxmlformats.org/drawingml/2006/main">
            <a:off x="609600" y="1285875"/>
            <a:ext cx="6905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4F0E7"/>
                </a:solidFill>
                <a:latin typeface="Arial"/>
                <a:ea typeface="Arial"/>
                <a:cs typeface="Arial"/>
              </a:defRPr>
            </a:defPPr>
          </a:lstStyle>
          <a:p xmlns:a="http://schemas.openxmlformats.org/drawingml/2006/main">
            <a:pPr>
              <a:defRPr sz="4650" b="1">
                <a:solidFill>
                  <a:srgbClr val="F4F0E7"/>
                </a:solidFill>
                <a:latin typeface="Arial"/>
                <a:ea typeface="Arial"/>
                <a:cs typeface="Arial"/>
              </a:defRPr>
            </a:pPr>
            <a:r>
              <a:rPr sz="4650" b="1">
                <a:solidFill>
                  <a:srgbClr val="F4F0E7"/>
                </a:solidFill>
                <a:latin typeface="Arial"/>
                <a:ea typeface="Arial"/>
                <a:cs typeface="Arial"/>
              </a:rPr>
              <a:t>THE INFLUENCER'S</a:t>
            </a:r>
          </a:p>
          <a:p xmlns:a="http://schemas.openxmlformats.org/drawingml/2006/main">
            <a:pPr>
              <a:defRPr sz="4650" b="1">
                <a:solidFill>
                  <a:srgbClr val="F4F0E7"/>
                </a:solidFill>
                <a:latin typeface="Arial"/>
                <a:ea typeface="Arial"/>
                <a:cs typeface="Arial"/>
              </a:defRPr>
            </a:pPr>
            <a:r>
              <a:rPr sz="4650" b="1">
                <a:solidFill>
                  <a:srgbClr val="F4F0E7"/>
                </a:solidFill>
                <a:latin typeface="Arial"/>
                <a:ea typeface="Arial"/>
                <a:cs typeface="Arial"/>
              </a:rPr>
              <a:t>LAST POST</a:t>
            </a:r>
          </a:p>
        </p:txBody>
      </p:sp>
      <p:sp>
        <p:nvSpPr>
          <p:cNvPr id="6" name="">
            <a:extLst xmlns:a="http://schemas.openxmlformats.org/drawingml/2006/main">
              <a:ext uri="{FF2B5EF4-FFF2-40B4-BE49-F238E27FC236}">
                <a16:creationId xmlns:a16="http://schemas.microsoft.com/office/drawing/2014/main" id="{DC6FE57B-0DAB-4DD7-8484-EBD819E19A34}"/>
              </a:ext>
            </a:extLst>
          </p:cNvPr>
          <p:cNvSpPr>
            <a:spLocks xmlns:a="http://schemas.openxmlformats.org/drawingml/2006/main" noGrp="1"/>
          </p:cNvSpPr>
          <p:nvPr/>
        </p:nvSpPr>
        <p:spPr>
          <a:xfrm xmlns:a="http://schemas.openxmlformats.org/drawingml/2006/main">
            <a:off x="647700" y="325755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CAB06A"/>
                </a:solidFill>
                <a:latin typeface="Arial"/>
                <a:ea typeface="Arial"/>
                <a:cs typeface="Arial"/>
              </a:defRPr>
            </a:defPPr>
          </a:lstStyle>
          <a:p xmlns:a="http://schemas.openxmlformats.org/drawingml/2006/main">
            <a:pPr>
              <a:defRPr sz="2250" b="0">
                <a:solidFill>
                  <a:srgbClr val="CAB06A"/>
                </a:solidFill>
                <a:latin typeface="Arial"/>
                <a:ea typeface="Arial"/>
                <a:cs typeface="Arial"/>
              </a:defRPr>
            </a:pPr>
            <a:r>
              <a:rPr sz="2250" b="0">
                <a:solidFill>
                  <a:srgbClr val="CAB06A"/>
                </a:solidFill>
                <a:latin typeface="Arial"/>
                <a:ea typeface="Arial"/>
                <a:cs typeface="Arial"/>
              </a:rPr>
              <a:t>She built her life online.</a:t>
            </a:r>
          </a:p>
          <a:p xmlns:a="http://schemas.openxmlformats.org/drawingml/2006/main">
            <a:pPr>
              <a:defRPr sz="2250" b="0">
                <a:solidFill>
                  <a:srgbClr val="CAB06A"/>
                </a:solidFill>
                <a:latin typeface="Arial"/>
                <a:ea typeface="Arial"/>
                <a:cs typeface="Arial"/>
              </a:defRPr>
            </a:pPr>
            <a:r>
              <a:rPr sz="2250" b="0">
                <a:solidFill>
                  <a:srgbClr val="CAB06A"/>
                </a:solidFill>
                <a:latin typeface="Arial"/>
                <a:ea typeface="Arial"/>
                <a:cs typeface="Arial"/>
              </a:rPr>
              <a:t>He's about to take it apart.</a:t>
            </a:r>
          </a:p>
        </p:txBody>
      </p:sp>
      <p:sp>
        <p:nvSpPr>
          <p:cNvPr id="7" name="">
            <a:extLst xmlns:a="http://schemas.openxmlformats.org/drawingml/2006/main">
              <a:ext uri="{FF2B5EF4-FFF2-40B4-BE49-F238E27FC236}">
                <a16:creationId xmlns:a16="http://schemas.microsoft.com/office/drawing/2014/main" id="{2C82E4F8-2463-43D2-B429-E60C8D7B0815}"/>
              </a:ext>
            </a:extLst>
          </p:cNvPr>
          <p:cNvSpPr>
            <a:spLocks xmlns:a="http://schemas.openxmlformats.org/drawingml/2006/main" noGrp="1"/>
          </p:cNvSpPr>
          <p:nvPr/>
        </p:nvSpPr>
        <p:spPr>
          <a:xfrm xmlns:a="http://schemas.openxmlformats.org/drawingml/2006/main">
            <a:off x="647700" y="4743450"/>
            <a:ext cx="5905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4F0E7"/>
                </a:solidFill>
                <a:latin typeface="Arial"/>
                <a:ea typeface="Arial"/>
                <a:cs typeface="Arial"/>
              </a:defRPr>
            </a:defPPr>
          </a:lstStyle>
          <a:p xmlns:a="http://schemas.openxmlformats.org/drawingml/2006/main">
            <a:pPr>
              <a:defRPr sz="1650" b="0">
                <a:solidFill>
                  <a:srgbClr val="F4F0E7"/>
                </a:solidFill>
                <a:latin typeface="Arial"/>
                <a:ea typeface="Arial"/>
                <a:cs typeface="Arial"/>
              </a:defRPr>
            </a:pPr>
            <a:r>
              <a:rPr sz="1650" b="0">
                <a:solidFill>
                  <a:srgbClr val="F4F0E7"/>
                </a:solidFill>
                <a:latin typeface="Arial"/>
                <a:ea typeface="Arial"/>
                <a:cs typeface="Arial"/>
              </a:rPr>
              <a:t>FEATURE FILM</a:t>
            </a:r>
          </a:p>
          <a:p xmlns:a="http://schemas.openxmlformats.org/drawingml/2006/main">
            <a:pPr>
              <a:defRPr sz="1650" b="0">
                <a:solidFill>
                  <a:srgbClr val="F4F0E7"/>
                </a:solidFill>
                <a:latin typeface="Arial"/>
                <a:ea typeface="Arial"/>
                <a:cs typeface="Arial"/>
              </a:defRPr>
            </a:pPr>
            <a:r>
              <a:rPr sz="1650" b="0">
                <a:solidFill>
                  <a:srgbClr val="F4F0E7"/>
                </a:solidFill>
                <a:latin typeface="Arial"/>
                <a:ea typeface="Arial"/>
                <a:cs typeface="Arial"/>
              </a:rPr>
              <a:t>PSYCHOLOGICAL THRILLER</a:t>
            </a:r>
          </a:p>
          <a:p xmlns:a="http://schemas.openxmlformats.org/drawingml/2006/main">
            <a:pPr>
              <a:defRPr sz="1650" b="0">
                <a:solidFill>
                  <a:srgbClr val="F4F0E7"/>
                </a:solidFill>
                <a:latin typeface="Arial"/>
                <a:ea typeface="Arial"/>
                <a:cs typeface="Arial"/>
              </a:defRPr>
            </a:pPr>
            <a:r>
              <a:rPr sz="1650" b="0">
                <a:solidFill>
                  <a:srgbClr val="F4F0E7"/>
                </a:solidFill>
                <a:latin typeface="Arial"/>
                <a:ea typeface="Arial"/>
                <a:cs typeface="Arial"/>
              </a:rPr>
              <a:t>PROPOSED BUYER: BET+</a:t>
            </a:r>
          </a:p>
        </p:txBody>
      </p:sp>
      <p:sp>
        <p:nvSpPr>
          <p:cNvPr id="8" name="">
            <a:extLst xmlns:a="http://schemas.openxmlformats.org/drawingml/2006/main">
              <a:ext uri="{FF2B5EF4-FFF2-40B4-BE49-F238E27FC236}">
                <a16:creationId xmlns:a16="http://schemas.microsoft.com/office/drawing/2014/main" id="{6A8E6B1E-233E-4B84-9DB8-AD442799E6A7}"/>
              </a:ext>
            </a:extLst>
          </p:cNvPr>
          <p:cNvSpPr>
            <a:spLocks xmlns:a="http://schemas.openxmlformats.org/drawingml/2006/main" noGrp="1"/>
          </p:cNvSpPr>
          <p:nvPr/>
        </p:nvSpPr>
        <p:spPr>
          <a:xfrm xmlns:a="http://schemas.openxmlformats.org/drawingml/2006/main">
            <a:off x="647700" y="58293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4F0E7"/>
                </a:solidFill>
                <a:latin typeface="Arial"/>
                <a:ea typeface="Arial"/>
                <a:cs typeface="Arial"/>
              </a:defRPr>
            </a:defPPr>
          </a:lstStyle>
          <a:p xmlns:a="http://schemas.openxmlformats.org/drawingml/2006/main">
            <a:pPr>
              <a:defRPr sz="1650" b="0">
                <a:solidFill>
                  <a:srgbClr val="F4F0E7"/>
                </a:solidFill>
                <a:latin typeface="Arial"/>
                <a:ea typeface="Arial"/>
                <a:cs typeface="Arial"/>
              </a:defRPr>
            </a:pPr>
            <a:r>
              <a:rPr sz="1650" b="0">
                <a:solidFill>
                  <a:srgbClr val="F4F0E7"/>
                </a:solidFill>
                <a:latin typeface="Arial"/>
                <a:ea typeface="Arial"/>
                <a:cs typeface="Arial"/>
              </a:rPr>
              <a:t>Written by K.R. Tenney</a:t>
            </a:r>
          </a:p>
        </p:txBody>
      </p:sp>
    </p:spTree>
    <p:extLst>
      <p:ext uri="{BB962C8B-B14F-4D97-AF65-F5344CB8AC3E}">
        <p14:creationId xmlns:p14="http://schemas.microsoft.com/office/powerpoint/2010/main" val="1744610779"/>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B3F46E-E111-4E4B-9409-29D1B485C943}"/>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The premise</a:t>
            </a:r>
          </a:p>
        </p:txBody>
      </p:sp>
      <p:sp>
        <p:nvSpPr>
          <p:cNvPr id="2" name="">
            <a:extLst xmlns:a="http://schemas.openxmlformats.org/drawingml/2006/main">
              <a:ext uri="{FF2B5EF4-FFF2-40B4-BE49-F238E27FC236}">
                <a16:creationId xmlns:a16="http://schemas.microsoft.com/office/drawing/2014/main" id="{E11D7E34-3FF5-4AB6-8248-0D94464F11BA}"/>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44AB44FF-EBDA-454C-8121-160146358575}"/>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029A968-CB97-4F65-9C40-53EE0999B98A}"/>
              </a:ext>
            </a:extLst>
          </p:cNvPr>
          <p:cNvSpPr>
            <a:spLocks xmlns:a="http://schemas.openxmlformats.org/drawingml/2006/main" noGrp="1"/>
          </p:cNvSpPr>
          <p:nvPr/>
        </p:nvSpPr>
        <p:spPr>
          <a:xfrm xmlns:a="http://schemas.openxmlformats.org/drawingml/2006/main">
            <a:off x="609600" y="1733550"/>
            <a:ext cx="10287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F4F0E7"/>
                </a:solidFill>
                <a:latin typeface="Arial"/>
                <a:ea typeface="Arial"/>
                <a:cs typeface="Arial"/>
              </a:defRPr>
            </a:defPPr>
          </a:lstStyle>
          <a:p xmlns:a="http://schemas.openxmlformats.org/drawingml/2006/main">
            <a:pPr>
              <a:defRPr sz="3150" b="0">
                <a:solidFill>
                  <a:srgbClr val="F4F0E7"/>
                </a:solidFill>
                <a:latin typeface="Arial"/>
                <a:ea typeface="Arial"/>
                <a:cs typeface="Arial"/>
              </a:defRPr>
            </a:pPr>
            <a:r>
              <a:rPr sz="3150" b="0">
                <a:solidFill>
                  <a:srgbClr val="F4F0E7"/>
                </a:solidFill>
                <a:latin typeface="Arial"/>
                <a:ea typeface="Arial"/>
                <a:cs typeface="Arial"/>
              </a:rPr>
              <a:t>When Atlanta influencer Taylor Monroe is framed for her best friend's staged suicide, she must expose the tech mogul running an AI behavioral-mimicry system before he uses her own digital identity to silence her permanently.</a:t>
            </a:r>
          </a:p>
        </p:txBody>
      </p:sp>
    </p:spTree>
    <p:extLst>
      <p:ext uri="{BB962C8B-B14F-4D97-AF65-F5344CB8AC3E}">
        <p14:creationId xmlns:p14="http://schemas.microsoft.com/office/powerpoint/2010/main" val="290785262"/>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EADB95-3FDA-465A-909D-35E448283C06}"/>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The story</a:t>
            </a:r>
          </a:p>
        </p:txBody>
      </p:sp>
      <p:sp>
        <p:nvSpPr>
          <p:cNvPr id="2" name="">
            <a:extLst xmlns:a="http://schemas.openxmlformats.org/drawingml/2006/main">
              <a:ext uri="{FF2B5EF4-FFF2-40B4-BE49-F238E27FC236}">
                <a16:creationId xmlns:a16="http://schemas.microsoft.com/office/drawing/2014/main" id="{1D4BA010-2CA5-4906-85D4-90D676507735}"/>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94CCABE7-740A-4E25-8B9C-2B55F7BF84D3}"/>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2F99434-E289-4FED-A296-F84565C28AD9}"/>
              </a:ext>
            </a:extLst>
          </p:cNvPr>
          <p:cNvSpPr>
            <a:spLocks xmlns:a="http://schemas.openxmlformats.org/drawingml/2006/main" noGrp="1"/>
          </p:cNvSpPr>
          <p:nvPr/>
        </p:nvSpPr>
        <p:spPr>
          <a:xfrm xmlns:a="http://schemas.openxmlformats.org/drawingml/2006/main">
            <a:off x="609600" y="15049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A public collapse</a:t>
            </a:r>
          </a:p>
        </p:txBody>
      </p:sp>
      <p:sp>
        <p:nvSpPr>
          <p:cNvPr id="5" name="">
            <a:extLst xmlns:a="http://schemas.openxmlformats.org/drawingml/2006/main">
              <a:ext uri="{FF2B5EF4-FFF2-40B4-BE49-F238E27FC236}">
                <a16:creationId xmlns:a16="http://schemas.microsoft.com/office/drawing/2014/main" id="{AD9C8AEE-F56B-4E7E-A812-E8DB76CC222F}"/>
              </a:ext>
            </a:extLst>
          </p:cNvPr>
          <p:cNvSpPr>
            <a:spLocks xmlns:a="http://schemas.openxmlformats.org/drawingml/2006/main" noGrp="1"/>
          </p:cNvSpPr>
          <p:nvPr/>
        </p:nvSpPr>
        <p:spPr>
          <a:xfrm xmlns:a="http://schemas.openxmlformats.org/drawingml/2006/main">
            <a:off x="609600" y="193357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Taylor has 2.3 million followers. After Nina disappears from an Atlanta bridge, the internet decides Taylor is responsible.</a:t>
            </a:r>
          </a:p>
        </p:txBody>
      </p:sp>
      <p:sp>
        <p:nvSpPr>
          <p:cNvPr id="6" name="">
            <a:extLst xmlns:a="http://schemas.openxmlformats.org/drawingml/2006/main">
              <a:ext uri="{FF2B5EF4-FFF2-40B4-BE49-F238E27FC236}">
                <a16:creationId xmlns:a16="http://schemas.microsoft.com/office/drawing/2014/main" id="{D3ADCE40-C3BE-4F07-8930-E6CECC3FC3FF}"/>
              </a:ext>
            </a:extLst>
          </p:cNvPr>
          <p:cNvSpPr>
            <a:spLocks xmlns:a="http://schemas.openxmlformats.org/drawingml/2006/main" noGrp="1"/>
          </p:cNvSpPr>
          <p:nvPr/>
        </p:nvSpPr>
        <p:spPr>
          <a:xfrm xmlns:a="http://schemas.openxmlformats.org/drawingml/2006/main">
            <a:off x="609600" y="30670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A friend who keeps posting</a:t>
            </a:r>
          </a:p>
        </p:txBody>
      </p:sp>
      <p:sp>
        <p:nvSpPr>
          <p:cNvPr id="7" name="">
            <a:extLst xmlns:a="http://schemas.openxmlformats.org/drawingml/2006/main">
              <a:ext uri="{FF2B5EF4-FFF2-40B4-BE49-F238E27FC236}">
                <a16:creationId xmlns:a16="http://schemas.microsoft.com/office/drawing/2014/main" id="{A62EE788-8DE1-4B9C-8EA1-2490CB25EC8F}"/>
              </a:ext>
            </a:extLst>
          </p:cNvPr>
          <p:cNvSpPr>
            <a:spLocks xmlns:a="http://schemas.openxmlformats.org/drawingml/2006/main" noGrp="1"/>
          </p:cNvSpPr>
          <p:nvPr/>
        </p:nvSpPr>
        <p:spPr>
          <a:xfrm xmlns:a="http://schemas.openxmlformats.org/drawingml/2006/main">
            <a:off x="609600" y="349567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Nina's familiar captions and cadence continue online. Taylor discovers that her friend is alive and hiding from Derek Mason.</a:t>
            </a:r>
          </a:p>
        </p:txBody>
      </p:sp>
      <p:sp>
        <p:nvSpPr>
          <p:cNvPr id="8" name="">
            <a:extLst xmlns:a="http://schemas.openxmlformats.org/drawingml/2006/main">
              <a:ext uri="{FF2B5EF4-FFF2-40B4-BE49-F238E27FC236}">
                <a16:creationId xmlns:a16="http://schemas.microsoft.com/office/drawing/2014/main" id="{11C5C582-A99C-4770-87B4-2FC38EAF1CE4}"/>
              </a:ext>
            </a:extLst>
          </p:cNvPr>
          <p:cNvSpPr>
            <a:spLocks xmlns:a="http://schemas.openxmlformats.org/drawingml/2006/main" noGrp="1"/>
          </p:cNvSpPr>
          <p:nvPr/>
        </p:nvSpPr>
        <p:spPr>
          <a:xfrm xmlns:a="http://schemas.openxmlformats.org/drawingml/2006/main">
            <a:off x="609600" y="4629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A manufactured identity</a:t>
            </a:r>
          </a:p>
        </p:txBody>
      </p:sp>
      <p:sp>
        <p:nvSpPr>
          <p:cNvPr id="9" name="">
            <a:extLst xmlns:a="http://schemas.openxmlformats.org/drawingml/2006/main">
              <a:ext uri="{FF2B5EF4-FFF2-40B4-BE49-F238E27FC236}">
                <a16:creationId xmlns:a16="http://schemas.microsoft.com/office/drawing/2014/main" id="{12DE13D5-BE29-44FA-8F63-B42554ABD36C}"/>
              </a:ext>
            </a:extLst>
          </p:cNvPr>
          <p:cNvSpPr>
            <a:spLocks xmlns:a="http://schemas.openxmlformats.org/drawingml/2006/main" noGrp="1"/>
          </p:cNvSpPr>
          <p:nvPr/>
        </p:nvSpPr>
        <p:spPr>
          <a:xfrm xmlns:a="http://schemas.openxmlformats.org/drawingml/2006/main">
            <a:off x="609600" y="505777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Project Echo can imitate the women so convincingly that even the people closest to them struggle to recognize the truth.</a:t>
            </a:r>
          </a:p>
        </p:txBody>
      </p:sp>
    </p:spTree>
    <p:extLst>
      <p:ext uri="{BB962C8B-B14F-4D97-AF65-F5344CB8AC3E}">
        <p14:creationId xmlns:p14="http://schemas.microsoft.com/office/powerpoint/2010/main" val="121352163"/>
      </p:ext>
    </p:extLst>
  </p:cSld>
</p:sld>
</file>

<file path=ppt/slides/slide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D27EF3-89A4-497E-901D-D4AA5FF1A9C1}"/>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The investigation</a:t>
            </a:r>
          </a:p>
        </p:txBody>
      </p:sp>
      <p:sp>
        <p:nvSpPr>
          <p:cNvPr id="2" name="">
            <a:extLst xmlns:a="http://schemas.openxmlformats.org/drawingml/2006/main">
              <a:ext uri="{FF2B5EF4-FFF2-40B4-BE49-F238E27FC236}">
                <a16:creationId xmlns:a16="http://schemas.microsoft.com/office/drawing/2014/main" id="{D79EF815-E839-49D7-BBF8-4F665F87B797}"/>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CC5D00C2-1F45-4C3F-A984-AFE81C92C6CD}"/>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70E4CCC8-08CA-4769-A8AA-E285F357DD1C}"/>
              </a:ext>
            </a:extLst>
          </p:cNvPr>
          <p:cNvSpPr>
            <a:spLocks xmlns:a="http://schemas.openxmlformats.org/drawingml/2006/main" noGrp="1"/>
          </p:cNvSpPr>
          <p:nvPr/>
        </p:nvSpPr>
        <p:spPr>
          <a:xfrm xmlns:a="http://schemas.openxmlformats.org/drawingml/2006/main">
            <a:off x="609600" y="1524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Taylor follows the private clues</a:t>
            </a:r>
          </a:p>
        </p:txBody>
      </p:sp>
      <p:sp>
        <p:nvSpPr>
          <p:cNvPr id="5" name="">
            <a:extLst xmlns:a="http://schemas.openxmlformats.org/drawingml/2006/main">
              <a:ext uri="{FF2B5EF4-FFF2-40B4-BE49-F238E27FC236}">
                <a16:creationId xmlns:a16="http://schemas.microsoft.com/office/drawing/2014/main" id="{E0F14F73-2C41-4E95-B6AC-A2FAF1B18E99}"/>
              </a:ext>
            </a:extLst>
          </p:cNvPr>
          <p:cNvSpPr>
            <a:spLocks xmlns:a="http://schemas.openxmlformats.org/drawingml/2006/main" noGrp="1"/>
          </p:cNvSpPr>
          <p:nvPr/>
        </p:nvSpPr>
        <p:spPr>
          <a:xfrm xmlns:a="http://schemas.openxmlformats.org/drawingml/2006/main">
            <a:off x="609600" y="19526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Handwritten captions and shared memories offer a way through the public evidence that Derek controls.</a:t>
            </a:r>
          </a:p>
        </p:txBody>
      </p:sp>
      <p:sp>
        <p:nvSpPr>
          <p:cNvPr id="6" name="">
            <a:extLst xmlns:a="http://schemas.openxmlformats.org/drawingml/2006/main">
              <a:ext uri="{FF2B5EF4-FFF2-40B4-BE49-F238E27FC236}">
                <a16:creationId xmlns:a16="http://schemas.microsoft.com/office/drawing/2014/main" id="{D78F2192-7BB7-4304-9C81-24684B031B40}"/>
              </a:ext>
            </a:extLst>
          </p:cNvPr>
          <p:cNvSpPr>
            <a:spLocks xmlns:a="http://schemas.openxmlformats.org/drawingml/2006/main" noGrp="1"/>
          </p:cNvSpPr>
          <p:nvPr/>
        </p:nvSpPr>
        <p:spPr>
          <a:xfrm xmlns:a="http://schemas.openxmlformats.org/drawingml/2006/main">
            <a:off x="609600" y="30861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An insider carries the proof</a:t>
            </a:r>
          </a:p>
        </p:txBody>
      </p:sp>
      <p:sp>
        <p:nvSpPr>
          <p:cNvPr id="7" name="">
            <a:extLst xmlns:a="http://schemas.openxmlformats.org/drawingml/2006/main">
              <a:ext uri="{FF2B5EF4-FFF2-40B4-BE49-F238E27FC236}">
                <a16:creationId xmlns:a16="http://schemas.microsoft.com/office/drawing/2014/main" id="{3033084A-68A8-4AC0-808E-BDAADA94731A}"/>
              </a:ext>
            </a:extLst>
          </p:cNvPr>
          <p:cNvSpPr>
            <a:spLocks xmlns:a="http://schemas.openxmlformats.org/drawingml/2006/main" noGrp="1"/>
          </p:cNvSpPr>
          <p:nvPr/>
        </p:nvSpPr>
        <p:spPr>
          <a:xfrm xmlns:a="http://schemas.openxmlformats.org/drawingml/2006/main">
            <a:off x="609600" y="35147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Bianca helped Nina disappear. Her evidence and knowledge of Echo become essential to exposing Derek.</a:t>
            </a:r>
          </a:p>
        </p:txBody>
      </p:sp>
      <p:sp>
        <p:nvSpPr>
          <p:cNvPr id="8" name="">
            <a:extLst xmlns:a="http://schemas.openxmlformats.org/drawingml/2006/main">
              <a:ext uri="{FF2B5EF4-FFF2-40B4-BE49-F238E27FC236}">
                <a16:creationId xmlns:a16="http://schemas.microsoft.com/office/drawing/2014/main" id="{1D65E579-F35F-4B84-97EA-9E0A24482811}"/>
              </a:ext>
            </a:extLst>
          </p:cNvPr>
          <p:cNvSpPr>
            <a:spLocks xmlns:a="http://schemas.openxmlformats.org/drawingml/2006/main" noGrp="1"/>
          </p:cNvSpPr>
          <p:nvPr/>
        </p:nvSpPr>
        <p:spPr>
          <a:xfrm xmlns:a="http://schemas.openxmlformats.org/drawingml/2006/main">
            <a:off x="609600" y="46482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Taylor takes control</a:t>
            </a:r>
          </a:p>
        </p:txBody>
      </p:sp>
      <p:sp>
        <p:nvSpPr>
          <p:cNvPr id="9" name="">
            <a:extLst xmlns:a="http://schemas.openxmlformats.org/drawingml/2006/main">
              <a:ext uri="{FF2B5EF4-FFF2-40B4-BE49-F238E27FC236}">
                <a16:creationId xmlns:a16="http://schemas.microsoft.com/office/drawing/2014/main" id="{2DD11FBE-56C4-42FD-8D91-1EAAD0D83912}"/>
              </a:ext>
            </a:extLst>
          </p:cNvPr>
          <p:cNvSpPr>
            <a:spLocks xmlns:a="http://schemas.openxmlformats.org/drawingml/2006/main" noGrp="1"/>
          </p:cNvSpPr>
          <p:nvPr/>
        </p:nvSpPr>
        <p:spPr>
          <a:xfrm xmlns:a="http://schemas.openxmlformats.org/drawingml/2006/main">
            <a:off x="609600" y="50768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With Marcus beside her, Taylor turns Derek's own system against him and risks a final confrontation to recover her name.</a:t>
            </a:r>
          </a:p>
        </p:txBody>
      </p:sp>
    </p:spTree>
    <p:extLst>
      <p:ext uri="{BB962C8B-B14F-4D97-AF65-F5344CB8AC3E}">
        <p14:creationId xmlns:p14="http://schemas.microsoft.com/office/powerpoint/2010/main" val="511486223"/>
      </p:ext>
    </p:extLst>
  </p:cSld>
</p:sld>
</file>

<file path=ppt/slides/slide5.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8C96F1-EF0F-4791-9991-1F1847B54B58}"/>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The women at the center</a:t>
            </a:r>
          </a:p>
        </p:txBody>
      </p:sp>
      <p:sp>
        <p:nvSpPr>
          <p:cNvPr id="2" name="">
            <a:extLst xmlns:a="http://schemas.openxmlformats.org/drawingml/2006/main">
              <a:ext uri="{FF2B5EF4-FFF2-40B4-BE49-F238E27FC236}">
                <a16:creationId xmlns:a16="http://schemas.microsoft.com/office/drawing/2014/main" id="{6D94119D-2C77-4B67-9CFB-A34AD62DBCF5}"/>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B9F28C7B-27C9-4B50-B3CE-584EC3D60000}"/>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C824CC1-3382-4A1F-9D6F-7ED72F3E5EDC}"/>
              </a:ext>
            </a:extLst>
          </p:cNvPr>
          <p:cNvSpPr>
            <a:spLocks xmlns:a="http://schemas.openxmlformats.org/drawingml/2006/main" noGrp="1"/>
          </p:cNvSpPr>
          <p:nvPr/>
        </p:nvSpPr>
        <p:spPr>
          <a:xfrm xmlns:a="http://schemas.openxmlformats.org/drawingml/2006/main">
            <a:off x="609600" y="14668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TAYLOR MONROE</a:t>
            </a:r>
          </a:p>
        </p:txBody>
      </p:sp>
      <p:sp>
        <p:nvSpPr>
          <p:cNvPr id="5" name="">
            <a:extLst xmlns:a="http://schemas.openxmlformats.org/drawingml/2006/main">
              <a:ext uri="{FF2B5EF4-FFF2-40B4-BE49-F238E27FC236}">
                <a16:creationId xmlns:a16="http://schemas.microsoft.com/office/drawing/2014/main" id="{3FB17960-60DC-4001-A3CD-3D40C74285A6}"/>
              </a:ext>
            </a:extLst>
          </p:cNvPr>
          <p:cNvSpPr>
            <a:spLocks xmlns:a="http://schemas.openxmlformats.org/drawingml/2006/main" noGrp="1"/>
          </p:cNvSpPr>
          <p:nvPr/>
        </p:nvSpPr>
        <p:spPr>
          <a:xfrm xmlns:a="http://schemas.openxmlformats.org/drawingml/2006/main">
            <a:off x="609600" y="189547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An Atlanta creator whose sharp instincts sit beneath years of brand training. She must become the investigator in her own story.</a:t>
            </a:r>
          </a:p>
        </p:txBody>
      </p:sp>
      <p:sp>
        <p:nvSpPr>
          <p:cNvPr id="6" name="">
            <a:extLst xmlns:a="http://schemas.openxmlformats.org/drawingml/2006/main">
              <a:ext uri="{FF2B5EF4-FFF2-40B4-BE49-F238E27FC236}">
                <a16:creationId xmlns:a16="http://schemas.microsoft.com/office/drawing/2014/main" id="{0E2F06A6-9DC6-450D-B3E1-01818488A3F5}"/>
              </a:ext>
            </a:extLst>
          </p:cNvPr>
          <p:cNvSpPr>
            <a:spLocks xmlns:a="http://schemas.openxmlformats.org/drawingml/2006/main" noGrp="1"/>
          </p:cNvSpPr>
          <p:nvPr/>
        </p:nvSpPr>
        <p:spPr>
          <a:xfrm xmlns:a="http://schemas.openxmlformats.org/drawingml/2006/main">
            <a:off x="609600" y="303847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NINA BAPTISTE</a:t>
            </a:r>
          </a:p>
        </p:txBody>
      </p:sp>
      <p:sp>
        <p:nvSpPr>
          <p:cNvPr id="7" name="">
            <a:extLst xmlns:a="http://schemas.openxmlformats.org/drawingml/2006/main">
              <a:ext uri="{FF2B5EF4-FFF2-40B4-BE49-F238E27FC236}">
                <a16:creationId xmlns:a16="http://schemas.microsoft.com/office/drawing/2014/main" id="{A268F09D-FF45-446F-A92C-D6BA4632492E}"/>
              </a:ext>
            </a:extLst>
          </p:cNvPr>
          <p:cNvSpPr>
            <a:spLocks xmlns:a="http://schemas.openxmlformats.org/drawingml/2006/main" noGrp="1"/>
          </p:cNvSpPr>
          <p:nvPr/>
        </p:nvSpPr>
        <p:spPr>
          <a:xfrm xmlns:a="http://schemas.openxmlformats.org/drawingml/2006/main">
            <a:off x="609600" y="34671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Taylor's best friend and a planner under pressure. Her disappearance protects a secret and leaves Taylor to face its consequences.</a:t>
            </a:r>
          </a:p>
        </p:txBody>
      </p:sp>
      <p:sp>
        <p:nvSpPr>
          <p:cNvPr id="8" name="">
            <a:extLst xmlns:a="http://schemas.openxmlformats.org/drawingml/2006/main">
              <a:ext uri="{FF2B5EF4-FFF2-40B4-BE49-F238E27FC236}">
                <a16:creationId xmlns:a16="http://schemas.microsoft.com/office/drawing/2014/main" id="{1F3223B7-0FC3-459A-803C-AC09B366EB80}"/>
              </a:ext>
            </a:extLst>
          </p:cNvPr>
          <p:cNvSpPr>
            <a:spLocks xmlns:a="http://schemas.openxmlformats.org/drawingml/2006/main" noGrp="1"/>
          </p:cNvSpPr>
          <p:nvPr/>
        </p:nvSpPr>
        <p:spPr>
          <a:xfrm xmlns:a="http://schemas.openxmlformats.org/drawingml/2006/main">
            <a:off x="609600" y="46101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BIANCA COLE</a:t>
            </a:r>
          </a:p>
        </p:txBody>
      </p:sp>
      <p:sp>
        <p:nvSpPr>
          <p:cNvPr id="9" name="">
            <a:extLst xmlns:a="http://schemas.openxmlformats.org/drawingml/2006/main">
              <a:ext uri="{FF2B5EF4-FFF2-40B4-BE49-F238E27FC236}">
                <a16:creationId xmlns:a16="http://schemas.microsoft.com/office/drawing/2014/main" id="{1E0C6182-B1A6-4619-B618-C2BA843B0D5E}"/>
              </a:ext>
            </a:extLst>
          </p:cNvPr>
          <p:cNvSpPr>
            <a:spLocks xmlns:a="http://schemas.openxmlformats.org/drawingml/2006/main" noGrp="1"/>
          </p:cNvSpPr>
          <p:nvPr/>
        </p:nvSpPr>
        <p:spPr>
          <a:xfrm xmlns:a="http://schemas.openxmlformats.org/drawingml/2006/main">
            <a:off x="609600" y="50387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A gifted technical insider caught between Derek's coercion and loyalty to Nina. Helping the women requires confronting her complicity.</a:t>
            </a:r>
          </a:p>
        </p:txBody>
      </p:sp>
    </p:spTree>
    <p:extLst>
      <p:ext uri="{BB962C8B-B14F-4D97-AF65-F5344CB8AC3E}">
        <p14:creationId xmlns:p14="http://schemas.microsoft.com/office/powerpoint/2010/main" val="368113177"/>
      </p:ext>
    </p:extLst>
  </p:cSld>
</p:sld>
</file>

<file path=ppt/slides/slide6.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4576DD-B36C-4A41-88A5-E077F02A69DD}"/>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The ally and the antagonist</a:t>
            </a:r>
          </a:p>
        </p:txBody>
      </p:sp>
      <p:sp>
        <p:nvSpPr>
          <p:cNvPr id="2" name="">
            <a:extLst xmlns:a="http://schemas.openxmlformats.org/drawingml/2006/main">
              <a:ext uri="{FF2B5EF4-FFF2-40B4-BE49-F238E27FC236}">
                <a16:creationId xmlns:a16="http://schemas.microsoft.com/office/drawing/2014/main" id="{285B0067-B688-476C-ACBA-910F772CE793}"/>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7D245155-3676-4978-B1EE-EDDD47E7AFDD}"/>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0B66EB67-5A8D-4880-9FB4-02F387616FE8}"/>
              </a:ext>
            </a:extLst>
          </p:cNvPr>
          <p:cNvSpPr>
            <a:spLocks xmlns:a="http://schemas.openxmlformats.org/drawingml/2006/main" noGrp="1"/>
          </p:cNvSpPr>
          <p:nvPr/>
        </p:nvSpPr>
        <p:spPr>
          <a:xfrm xmlns:a="http://schemas.openxmlformats.org/drawingml/2006/main">
            <a:off x="609600" y="16954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CAB06A"/>
                </a:solidFill>
                <a:latin typeface="Arial"/>
                <a:ea typeface="Arial"/>
                <a:cs typeface="Arial"/>
              </a:defRPr>
            </a:defPPr>
          </a:lstStyle>
          <a:p xmlns:a="http://schemas.openxmlformats.org/drawingml/2006/main">
            <a:pPr>
              <a:defRPr sz="2325" b="1">
                <a:solidFill>
                  <a:srgbClr val="CAB06A"/>
                </a:solidFill>
                <a:latin typeface="Arial"/>
                <a:ea typeface="Arial"/>
                <a:cs typeface="Arial"/>
              </a:defRPr>
            </a:pPr>
            <a:r>
              <a:rPr sz="2325" b="1">
                <a:solidFill>
                  <a:srgbClr val="CAB06A"/>
                </a:solidFill>
                <a:latin typeface="Arial"/>
                <a:ea typeface="Arial"/>
                <a:cs typeface="Arial"/>
              </a:rPr>
              <a:t>MARCUS WEBB</a:t>
            </a:r>
          </a:p>
        </p:txBody>
      </p:sp>
      <p:sp>
        <p:nvSpPr>
          <p:cNvPr id="5" name="">
            <a:extLst xmlns:a="http://schemas.openxmlformats.org/drawingml/2006/main">
              <a:ext uri="{FF2B5EF4-FFF2-40B4-BE49-F238E27FC236}">
                <a16:creationId xmlns:a16="http://schemas.microsoft.com/office/drawing/2014/main" id="{A1E92398-F44A-488B-8828-1256120B3F7C}"/>
              </a:ext>
            </a:extLst>
          </p:cNvPr>
          <p:cNvSpPr>
            <a:spLocks xmlns:a="http://schemas.openxmlformats.org/drawingml/2006/main" noGrp="1"/>
          </p:cNvSpPr>
          <p:nvPr/>
        </p:nvSpPr>
        <p:spPr>
          <a:xfrm xmlns:a="http://schemas.openxmlformats.org/drawingml/2006/main">
            <a:off x="609600" y="2324100"/>
            <a:ext cx="4762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4F0E7"/>
                </a:solidFill>
                <a:latin typeface="Arial"/>
                <a:ea typeface="Arial"/>
                <a:cs typeface="Arial"/>
              </a:defRPr>
            </a:defPPr>
          </a:lstStyle>
          <a:p xmlns:a="http://schemas.openxmlformats.org/drawingml/2006/main">
            <a:pPr>
              <a:defRPr sz="2250" b="0">
                <a:solidFill>
                  <a:srgbClr val="F4F0E7"/>
                </a:solidFill>
                <a:latin typeface="Arial"/>
                <a:ea typeface="Arial"/>
                <a:cs typeface="Arial"/>
              </a:defRPr>
            </a:pPr>
            <a:r>
              <a:rPr sz="2250" b="0">
                <a:solidFill>
                  <a:srgbClr val="F4F0E7"/>
                </a:solidFill>
                <a:latin typeface="Arial"/>
                <a:ea typeface="Arial"/>
                <a:cs typeface="Arial"/>
              </a:rPr>
              <a:t>A former cybercrime investigator and Taylor's ally. His authority grounds the investigation, while his warmth lets Taylor risk trusting someone again.</a:t>
            </a:r>
          </a:p>
        </p:txBody>
      </p:sp>
      <p:sp>
        <p:nvSpPr>
          <p:cNvPr id="6" name="">
            <a:extLst xmlns:a="http://schemas.openxmlformats.org/drawingml/2006/main">
              <a:ext uri="{FF2B5EF4-FFF2-40B4-BE49-F238E27FC236}">
                <a16:creationId xmlns:a16="http://schemas.microsoft.com/office/drawing/2014/main" id="{9A8FB0E1-CFD0-45E1-B90A-9E923F65EF50}"/>
              </a:ext>
            </a:extLst>
          </p:cNvPr>
          <p:cNvSpPr>
            <a:spLocks xmlns:a="http://schemas.openxmlformats.org/drawingml/2006/main" noGrp="1"/>
          </p:cNvSpPr>
          <p:nvPr/>
        </p:nvSpPr>
        <p:spPr>
          <a:xfrm xmlns:a="http://schemas.openxmlformats.org/drawingml/2006/main">
            <a:off x="6419850" y="16954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CAB06A"/>
                </a:solidFill>
                <a:latin typeface="Arial"/>
                <a:ea typeface="Arial"/>
                <a:cs typeface="Arial"/>
              </a:defRPr>
            </a:defPPr>
          </a:lstStyle>
          <a:p xmlns:a="http://schemas.openxmlformats.org/drawingml/2006/main">
            <a:pPr>
              <a:defRPr sz="2325" b="1">
                <a:solidFill>
                  <a:srgbClr val="CAB06A"/>
                </a:solidFill>
                <a:latin typeface="Arial"/>
                <a:ea typeface="Arial"/>
                <a:cs typeface="Arial"/>
              </a:defRPr>
            </a:pPr>
            <a:r>
              <a:rPr sz="2325" b="1">
                <a:solidFill>
                  <a:srgbClr val="CAB06A"/>
                </a:solidFill>
                <a:latin typeface="Arial"/>
                <a:ea typeface="Arial"/>
                <a:cs typeface="Arial"/>
              </a:rPr>
              <a:t>DEREK MASON</a:t>
            </a:r>
          </a:p>
        </p:txBody>
      </p:sp>
      <p:sp>
        <p:nvSpPr>
          <p:cNvPr id="7" name="">
            <a:extLst xmlns:a="http://schemas.openxmlformats.org/drawingml/2006/main">
              <a:ext uri="{FF2B5EF4-FFF2-40B4-BE49-F238E27FC236}">
                <a16:creationId xmlns:a16="http://schemas.microsoft.com/office/drawing/2014/main" id="{0ECE3F03-6BC6-45C8-B2DA-2CE6275DAA66}"/>
              </a:ext>
            </a:extLst>
          </p:cNvPr>
          <p:cNvSpPr>
            <a:spLocks xmlns:a="http://schemas.openxmlformats.org/drawingml/2006/main" noGrp="1"/>
          </p:cNvSpPr>
          <p:nvPr/>
        </p:nvSpPr>
        <p:spPr>
          <a:xfrm xmlns:a="http://schemas.openxmlformats.org/drawingml/2006/main">
            <a:off x="6419850" y="2324100"/>
            <a:ext cx="4953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4F0E7"/>
                </a:solidFill>
                <a:latin typeface="Arial"/>
                <a:ea typeface="Arial"/>
                <a:cs typeface="Arial"/>
              </a:defRPr>
            </a:defPPr>
          </a:lstStyle>
          <a:p xmlns:a="http://schemas.openxmlformats.org/drawingml/2006/main">
            <a:pPr>
              <a:defRPr sz="2250" b="0">
                <a:solidFill>
                  <a:srgbClr val="F4F0E7"/>
                </a:solidFill>
                <a:latin typeface="Arial"/>
                <a:ea typeface="Arial"/>
                <a:cs typeface="Arial"/>
              </a:defRPr>
            </a:pPr>
            <a:r>
              <a:rPr sz="2250" b="0">
                <a:solidFill>
                  <a:srgbClr val="F4F0E7"/>
                </a:solidFill>
                <a:latin typeface="Arial"/>
                <a:ea typeface="Arial"/>
                <a:cs typeface="Arial"/>
              </a:rPr>
              <a:t>A controlled, persuasive tech entrepreneur. He presents coercion as reasonable business and uses the women’s digital identities to keep them dependent.</a:t>
            </a:r>
          </a:p>
        </p:txBody>
      </p:sp>
      <p:sp>
        <p:nvSpPr>
          <p:cNvPr id="8" name="">
            <a:extLst xmlns:a="http://schemas.openxmlformats.org/drawingml/2006/main">
              <a:ext uri="{FF2B5EF4-FFF2-40B4-BE49-F238E27FC236}">
                <a16:creationId xmlns:a16="http://schemas.microsoft.com/office/drawing/2014/main" id="{FFB8DC5E-DC5F-495B-8EAE-710982422773}"/>
              </a:ext>
            </a:extLst>
          </p:cNvPr>
          <p:cNvSpPr>
            <a:spLocks xmlns:a="http://schemas.openxmlformats.org/drawingml/2006/main" noGrp="1"/>
          </p:cNvSpPr>
          <p:nvPr/>
        </p:nvSpPr>
        <p:spPr>
          <a:xfrm xmlns:a="http://schemas.openxmlformats.org/drawingml/2006/main">
            <a:off x="609600" y="51054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4F0E7"/>
                </a:solidFill>
                <a:latin typeface="Arial"/>
                <a:ea typeface="Arial"/>
                <a:cs typeface="Arial"/>
              </a:defRPr>
            </a:defPPr>
          </a:lstStyle>
          <a:p xmlns:a="http://schemas.openxmlformats.org/drawingml/2006/main">
            <a:pPr>
              <a:defRPr sz="2625" b="1">
                <a:solidFill>
                  <a:srgbClr val="F4F0E7"/>
                </a:solidFill>
                <a:latin typeface="Arial"/>
                <a:ea typeface="Arial"/>
                <a:cs typeface="Arial"/>
              </a:defRPr>
            </a:pPr>
            <a:r>
              <a:rPr sz="2625" b="1">
                <a:solidFill>
                  <a:srgbClr val="F4F0E7"/>
                </a:solidFill>
                <a:latin typeface="Arial"/>
                <a:ea typeface="Arial"/>
                <a:cs typeface="Arial"/>
              </a:rPr>
              <a:t>Trust becomes a choice with consequences</a:t>
            </a:r>
          </a:p>
        </p:txBody>
      </p:sp>
    </p:spTree>
    <p:extLst>
      <p:ext uri="{BB962C8B-B14F-4D97-AF65-F5344CB8AC3E}">
        <p14:creationId xmlns:p14="http://schemas.microsoft.com/office/powerpoint/2010/main" val="2126684393"/>
      </p:ext>
    </p:extLst>
  </p:cSld>
</p:sld>
</file>

<file path=ppt/slides/slide7.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3E254DD-1D2E-4D99-A98F-F2DB177E36F3}"/>
              </a:ext>
            </a:extLst>
          </p:cNvPr>
          <p:cNvPicPr>
            <a:picLocks xmlns:a="http://schemas.openxmlformats.org/drawingml/2006/main" noChangeAspect="1"/>
          </p:cNvPicPr>
          <p:nvPr/>
        </p:nvPicPr>
        <p:blipFill>
          <a:blip xmlns:r="http://schemas.openxmlformats.org/officeDocument/2006/relationships" xmlns:a="http://schemas.openxmlformats.org/drawingml/2006/main" r:embed="R8af6e6dedfbb417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7218D6-CEDA-4F8B-AC13-1B270A560E9A}"/>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Atlanta and Project Echo</a:t>
            </a:r>
          </a:p>
        </p:txBody>
      </p:sp>
      <p:sp>
        <p:nvSpPr>
          <p:cNvPr id="3" name="">
            <a:extLst xmlns:a="http://schemas.openxmlformats.org/drawingml/2006/main">
              <a:ext uri="{FF2B5EF4-FFF2-40B4-BE49-F238E27FC236}">
                <a16:creationId xmlns:a16="http://schemas.microsoft.com/office/drawing/2014/main" id="{D8F7C028-D1D7-41EC-AC1C-31732C42D1A7}"/>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4" name="">
            <a:extLst xmlns:a="http://schemas.openxmlformats.org/drawingml/2006/main">
              <a:ext uri="{FF2B5EF4-FFF2-40B4-BE49-F238E27FC236}">
                <a16:creationId xmlns:a16="http://schemas.microsoft.com/office/drawing/2014/main" id="{0B517C00-AE06-4E33-810C-13BF4F2A39CC}"/>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844D493-04FA-469B-A3CC-52A4C0246888}"/>
              </a:ext>
            </a:extLst>
          </p:cNvPr>
          <p:cNvSpPr>
            <a:spLocks xmlns:a="http://schemas.openxmlformats.org/drawingml/2006/main" noGrp="1"/>
          </p:cNvSpPr>
          <p:nvPr/>
        </p:nvSpPr>
        <p:spPr>
          <a:xfrm xmlns:a="http://schemas.openxmlformats.org/drawingml/2006/main">
            <a:off x="609600" y="151447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AB06A"/>
                </a:solidFill>
                <a:latin typeface="Arial"/>
                <a:ea typeface="Arial"/>
                <a:cs typeface="Arial"/>
              </a:defRPr>
            </a:defPPr>
          </a:lstStyle>
          <a:p xmlns:a="http://schemas.openxmlformats.org/drawingml/2006/main">
            <a:pPr>
              <a:defRPr sz="2025" b="1">
                <a:solidFill>
                  <a:srgbClr val="CAB06A"/>
                </a:solidFill>
                <a:latin typeface="Arial"/>
                <a:ea typeface="Arial"/>
                <a:cs typeface="Arial"/>
              </a:defRPr>
            </a:pPr>
            <a:r>
              <a:rPr sz="2025" b="1">
                <a:solidFill>
                  <a:srgbClr val="CAB06A"/>
                </a:solidFill>
                <a:latin typeface="Arial"/>
                <a:ea typeface="Arial"/>
                <a:cs typeface="Arial"/>
              </a:rPr>
              <a:t>The world</a:t>
            </a:r>
          </a:p>
        </p:txBody>
      </p:sp>
      <p:sp>
        <p:nvSpPr>
          <p:cNvPr id="6" name="">
            <a:extLst xmlns:a="http://schemas.openxmlformats.org/drawingml/2006/main">
              <a:ext uri="{FF2B5EF4-FFF2-40B4-BE49-F238E27FC236}">
                <a16:creationId xmlns:a16="http://schemas.microsoft.com/office/drawing/2014/main" id="{89189403-34F1-4C04-A6F4-4550BD673796}"/>
              </a:ext>
            </a:extLst>
          </p:cNvPr>
          <p:cNvSpPr>
            <a:spLocks xmlns:a="http://schemas.openxmlformats.org/drawingml/2006/main" noGrp="1"/>
          </p:cNvSpPr>
          <p:nvPr/>
        </p:nvSpPr>
        <p:spPr>
          <a:xfrm xmlns:a="http://schemas.openxmlformats.org/drawingml/2006/main">
            <a:off x="609600" y="204787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4F0E7"/>
                </a:solidFill>
                <a:latin typeface="Arial"/>
                <a:ea typeface="Arial"/>
                <a:cs typeface="Arial"/>
              </a:defRPr>
            </a:defPPr>
          </a:lstStyle>
          <a:p xmlns:a="http://schemas.openxmlformats.org/drawingml/2006/main">
            <a:pPr>
              <a:defRPr sz="2250" b="0">
                <a:solidFill>
                  <a:srgbClr val="F4F0E7"/>
                </a:solidFill>
                <a:latin typeface="Arial"/>
                <a:ea typeface="Arial"/>
                <a:cs typeface="Arial"/>
              </a:defRPr>
            </a:pPr>
            <a:r>
              <a:rPr sz="2250" b="0">
                <a:solidFill>
                  <a:srgbClr val="F4F0E7"/>
                </a:solidFill>
                <a:latin typeface="Arial"/>
                <a:ea typeface="Arial"/>
                <a:cs typeface="Arial"/>
              </a:rPr>
              <a:t>Creator ambition, luxury rooftops and curated apartments contrast with private rooms where friendship and family still matter.</a:t>
            </a:r>
          </a:p>
        </p:txBody>
      </p:sp>
      <p:sp>
        <p:nvSpPr>
          <p:cNvPr id="7" name="">
            <a:extLst xmlns:a="http://schemas.openxmlformats.org/drawingml/2006/main">
              <a:ext uri="{FF2B5EF4-FFF2-40B4-BE49-F238E27FC236}">
                <a16:creationId xmlns:a16="http://schemas.microsoft.com/office/drawing/2014/main" id="{7BE654F0-2939-4A99-906F-4616E88B146E}"/>
              </a:ext>
            </a:extLst>
          </p:cNvPr>
          <p:cNvSpPr>
            <a:spLocks xmlns:a="http://schemas.openxmlformats.org/drawingml/2006/main" noGrp="1"/>
          </p:cNvSpPr>
          <p:nvPr/>
        </p:nvSpPr>
        <p:spPr>
          <a:xfrm xmlns:a="http://schemas.openxmlformats.org/drawingml/2006/main">
            <a:off x="609600" y="385762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AB06A"/>
                </a:solidFill>
                <a:latin typeface="Arial"/>
                <a:ea typeface="Arial"/>
                <a:cs typeface="Arial"/>
              </a:defRPr>
            </a:defPPr>
          </a:lstStyle>
          <a:p xmlns:a="http://schemas.openxmlformats.org/drawingml/2006/main">
            <a:pPr>
              <a:defRPr sz="2025" b="1">
                <a:solidFill>
                  <a:srgbClr val="CAB06A"/>
                </a:solidFill>
                <a:latin typeface="Arial"/>
                <a:ea typeface="Arial"/>
                <a:cs typeface="Arial"/>
              </a:defRPr>
            </a:pPr>
            <a:r>
              <a:rPr sz="2025" b="1">
                <a:solidFill>
                  <a:srgbClr val="CAB06A"/>
                </a:solidFill>
                <a:latin typeface="Arial"/>
                <a:ea typeface="Arial"/>
                <a:cs typeface="Arial"/>
              </a:rPr>
              <a:t>The threat</a:t>
            </a:r>
          </a:p>
        </p:txBody>
      </p:sp>
      <p:sp>
        <p:nvSpPr>
          <p:cNvPr id="8" name="">
            <a:extLst xmlns:a="http://schemas.openxmlformats.org/drawingml/2006/main">
              <a:ext uri="{FF2B5EF4-FFF2-40B4-BE49-F238E27FC236}">
                <a16:creationId xmlns:a16="http://schemas.microsoft.com/office/drawing/2014/main" id="{62FC7879-1B46-4DA3-8A8C-FE0781E725F3}"/>
              </a:ext>
            </a:extLst>
          </p:cNvPr>
          <p:cNvSpPr>
            <a:spLocks xmlns:a="http://schemas.openxmlformats.org/drawingml/2006/main" noGrp="1"/>
          </p:cNvSpPr>
          <p:nvPr/>
        </p:nvSpPr>
        <p:spPr>
          <a:xfrm xmlns:a="http://schemas.openxmlformats.org/drawingml/2006/main">
            <a:off x="609600" y="4391025"/>
            <a:ext cx="6096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4F0E7"/>
                </a:solidFill>
                <a:latin typeface="Arial"/>
                <a:ea typeface="Arial"/>
                <a:cs typeface="Arial"/>
              </a:defRPr>
            </a:defPPr>
          </a:lstStyle>
          <a:p xmlns:a="http://schemas.openxmlformats.org/drawingml/2006/main">
            <a:pPr>
              <a:defRPr sz="2250" b="0">
                <a:solidFill>
                  <a:srgbClr val="F4F0E7"/>
                </a:solidFill>
                <a:latin typeface="Arial"/>
                <a:ea typeface="Arial"/>
                <a:cs typeface="Arial"/>
              </a:defRPr>
            </a:pPr>
            <a:r>
              <a:rPr sz="2250" b="0">
                <a:solidFill>
                  <a:srgbClr val="F4F0E7"/>
                </a:solidFill>
                <a:latin typeface="Arial"/>
                <a:ea typeface="Arial"/>
                <a:cs typeface="Arial"/>
              </a:rPr>
              <a:t>Echo copies a face, a voice and a posting rhythm. The people who know Taylor best must decide whether they believe the woman or the screen.</a:t>
            </a:r>
          </a:p>
        </p:txBody>
      </p:sp>
    </p:spTree>
    <p:extLst>
      <p:ext uri="{BB962C8B-B14F-4D97-AF65-F5344CB8AC3E}">
        <p14:creationId xmlns:p14="http://schemas.microsoft.com/office/powerpoint/2010/main" val="1178111065"/>
      </p:ext>
    </p:extLst>
  </p:cSld>
</p:sld>
</file>

<file path=ppt/slides/slide8.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54CFE5-DD94-4B31-830B-B696FA24AE06}"/>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Tone and visual approach</a:t>
            </a:r>
          </a:p>
        </p:txBody>
      </p:sp>
      <p:sp>
        <p:nvSpPr>
          <p:cNvPr id="2" name="">
            <a:extLst xmlns:a="http://schemas.openxmlformats.org/drawingml/2006/main">
              <a:ext uri="{FF2B5EF4-FFF2-40B4-BE49-F238E27FC236}">
                <a16:creationId xmlns:a16="http://schemas.microsoft.com/office/drawing/2014/main" id="{17F03E59-43B0-4C82-BFF5-26969EF31974}"/>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31E3A980-5AD6-4025-AE3D-9381ED9F05FA}"/>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CE561318-DED4-4384-B498-6B2629ACEAB9}"/>
              </a:ext>
            </a:extLst>
          </p:cNvPr>
          <p:cNvSpPr>
            <a:spLocks xmlns:a="http://schemas.openxmlformats.org/drawingml/2006/main" noGrp="1"/>
          </p:cNvSpPr>
          <p:nvPr/>
        </p:nvSpPr>
        <p:spPr>
          <a:xfrm xmlns:a="http://schemas.openxmlformats.org/drawingml/2006/main">
            <a:off x="609600" y="1476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4F0E7"/>
                </a:solidFill>
                <a:latin typeface="Arial"/>
                <a:ea typeface="Arial"/>
                <a:cs typeface="Arial"/>
              </a:defRPr>
            </a:defPPr>
          </a:lstStyle>
          <a:p xmlns:a="http://schemas.openxmlformats.org/drawingml/2006/main">
            <a:pPr>
              <a:defRPr sz="2850" b="1">
                <a:solidFill>
                  <a:srgbClr val="F4F0E7"/>
                </a:solidFill>
                <a:latin typeface="Arial"/>
                <a:ea typeface="Arial"/>
                <a:cs typeface="Arial"/>
              </a:defRPr>
            </a:pPr>
            <a:r>
              <a:rPr sz="2850" b="1">
                <a:solidFill>
                  <a:srgbClr val="F4F0E7"/>
                </a:solidFill>
                <a:latin typeface="Arial"/>
                <a:ea typeface="Arial"/>
                <a:cs typeface="Arial"/>
              </a:rPr>
              <a:t>Psychological suspense with an intimate emotional center</a:t>
            </a:r>
          </a:p>
        </p:txBody>
      </p:sp>
      <p:sp>
        <p:nvSpPr>
          <p:cNvPr id="5" name="">
            <a:extLst xmlns:a="http://schemas.openxmlformats.org/drawingml/2006/main">
              <a:ext uri="{FF2B5EF4-FFF2-40B4-BE49-F238E27FC236}">
                <a16:creationId xmlns:a16="http://schemas.microsoft.com/office/drawing/2014/main" id="{82A86F87-E786-45EF-8881-CAF163E1F4A1}"/>
              </a:ext>
            </a:extLst>
          </p:cNvPr>
          <p:cNvSpPr>
            <a:spLocks xmlns:a="http://schemas.openxmlformats.org/drawingml/2006/main" noGrp="1"/>
          </p:cNvSpPr>
          <p:nvPr/>
        </p:nvSpPr>
        <p:spPr>
          <a:xfrm xmlns:a="http://schemas.openxmlformats.org/drawingml/2006/main">
            <a:off x="609600" y="279082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Public image</a:t>
            </a:r>
          </a:p>
        </p:txBody>
      </p:sp>
      <p:sp>
        <p:nvSpPr>
          <p:cNvPr id="6" name="">
            <a:extLst xmlns:a="http://schemas.openxmlformats.org/drawingml/2006/main">
              <a:ext uri="{FF2B5EF4-FFF2-40B4-BE49-F238E27FC236}">
                <a16:creationId xmlns:a16="http://schemas.microsoft.com/office/drawing/2014/main" id="{BDCFD672-1A0B-4F7F-AF03-125330E433DF}"/>
              </a:ext>
            </a:extLst>
          </p:cNvPr>
          <p:cNvSpPr>
            <a:spLocks xmlns:a="http://schemas.openxmlformats.org/drawingml/2006/main" noGrp="1"/>
          </p:cNvSpPr>
          <p:nvPr/>
        </p:nvSpPr>
        <p:spPr>
          <a:xfrm xmlns:a="http://schemas.openxmlformats.org/drawingml/2006/main">
            <a:off x="609600" y="321945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Controlled framing, polished light and invasive screens make Taylor's curated life feel increasingly unsafe.</a:t>
            </a:r>
          </a:p>
        </p:txBody>
      </p:sp>
      <p:sp>
        <p:nvSpPr>
          <p:cNvPr id="7" name="">
            <a:extLst xmlns:a="http://schemas.openxmlformats.org/drawingml/2006/main">
              <a:ext uri="{FF2B5EF4-FFF2-40B4-BE49-F238E27FC236}">
                <a16:creationId xmlns:a16="http://schemas.microsoft.com/office/drawing/2014/main" id="{889A23F5-126F-44D0-9F47-08E1220A8950}"/>
              </a:ext>
            </a:extLst>
          </p:cNvPr>
          <p:cNvSpPr>
            <a:spLocks xmlns:a="http://schemas.openxmlformats.org/drawingml/2006/main" noGrp="1"/>
          </p:cNvSpPr>
          <p:nvPr/>
        </p:nvSpPr>
        <p:spPr>
          <a:xfrm xmlns:a="http://schemas.openxmlformats.org/drawingml/2006/main">
            <a:off x="609600" y="437197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Private truth</a:t>
            </a:r>
          </a:p>
        </p:txBody>
      </p:sp>
      <p:sp>
        <p:nvSpPr>
          <p:cNvPr id="8" name="">
            <a:extLst xmlns:a="http://schemas.openxmlformats.org/drawingml/2006/main">
              <a:ext uri="{FF2B5EF4-FFF2-40B4-BE49-F238E27FC236}">
                <a16:creationId xmlns:a16="http://schemas.microsoft.com/office/drawing/2014/main" id="{5A45945C-9541-4E55-86DB-70FD21852551}"/>
              </a:ext>
            </a:extLst>
          </p:cNvPr>
          <p:cNvSpPr>
            <a:spLocks xmlns:a="http://schemas.openxmlformats.org/drawingml/2006/main" noGrp="1"/>
          </p:cNvSpPr>
          <p:nvPr/>
        </p:nvSpPr>
        <p:spPr>
          <a:xfrm xmlns:a="http://schemas.openxmlformats.org/drawingml/2006/main">
            <a:off x="609600" y="48006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Natural faces, handwritten words and imperfect rooms restore intimacy. The visual contrast follows Taylor's changing relationship with performance.</a:t>
            </a:r>
          </a:p>
        </p:txBody>
      </p:sp>
    </p:spTree>
    <p:extLst>
      <p:ext uri="{BB962C8B-B14F-4D97-AF65-F5344CB8AC3E}">
        <p14:creationId xmlns:p14="http://schemas.microsoft.com/office/powerpoint/2010/main" val="392717150"/>
      </p:ext>
    </p:extLst>
  </p:cSld>
</p:sld>
</file>

<file path=ppt/slides/slide9.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D9B37A-DA8C-47D5-923E-3F02A916EC8D}"/>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BET+ positioning and creative references</a:t>
            </a:r>
          </a:p>
        </p:txBody>
      </p:sp>
      <p:sp>
        <p:nvSpPr>
          <p:cNvPr id="2" name="">
            <a:extLst xmlns:a="http://schemas.openxmlformats.org/drawingml/2006/main">
              <a:ext uri="{FF2B5EF4-FFF2-40B4-BE49-F238E27FC236}">
                <a16:creationId xmlns:a16="http://schemas.microsoft.com/office/drawing/2014/main" id="{615441BD-D01B-4E53-9B61-E056EA9B1972}"/>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F825C4ED-F330-4352-B9B2-884259DA96A2}"/>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02C7C78-C24C-4B18-93B1-F6096B501932}"/>
              </a:ext>
            </a:extLst>
          </p:cNvPr>
          <p:cNvSpPr>
            <a:spLocks xmlns:a="http://schemas.openxmlformats.org/drawingml/2006/main" noGrp="1"/>
          </p:cNvSpPr>
          <p:nvPr/>
        </p:nvSpPr>
        <p:spPr>
          <a:xfrm xmlns:a="http://schemas.openxmlformats.org/drawingml/2006/main">
            <a:off x="609600" y="145732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4F0E7"/>
                </a:solidFill>
                <a:latin typeface="Arial"/>
                <a:ea typeface="Arial"/>
                <a:cs typeface="Arial"/>
              </a:defRPr>
            </a:defPPr>
          </a:lstStyle>
          <a:p xmlns:a="http://schemas.openxmlformats.org/drawingml/2006/main">
            <a:pPr>
              <a:defRPr sz="2475" b="0">
                <a:solidFill>
                  <a:srgbClr val="F4F0E7"/>
                </a:solidFill>
                <a:latin typeface="Arial"/>
                <a:ea typeface="Arial"/>
                <a:cs typeface="Arial"/>
              </a:defRPr>
            </a:pPr>
            <a:r>
              <a:rPr sz="2475" b="0">
                <a:solidFill>
                  <a:srgbClr val="F4F0E7"/>
                </a:solidFill>
                <a:latin typeface="Arial"/>
                <a:ea typeface="Arial"/>
                <a:cs typeface="Arial"/>
              </a:rPr>
              <a:t>A Black female protagonist drives an Atlanta thriller about friendship, ambition and control in the creator economy.</a:t>
            </a:r>
          </a:p>
        </p:txBody>
      </p:sp>
      <p:sp>
        <p:nvSpPr>
          <p:cNvPr id="5" name="">
            <a:extLst xmlns:a="http://schemas.openxmlformats.org/drawingml/2006/main">
              <a:ext uri="{FF2B5EF4-FFF2-40B4-BE49-F238E27FC236}">
                <a16:creationId xmlns:a16="http://schemas.microsoft.com/office/drawing/2014/main" id="{41220CA7-1216-42FB-A0F7-2214B251A4DC}"/>
              </a:ext>
            </a:extLst>
          </p:cNvPr>
          <p:cNvSpPr>
            <a:spLocks xmlns:a="http://schemas.openxmlformats.org/drawingml/2006/main" noGrp="1"/>
          </p:cNvSpPr>
          <p:nvPr/>
        </p:nvSpPr>
        <p:spPr>
          <a:xfrm xmlns:a="http://schemas.openxmlformats.org/drawingml/2006/main">
            <a:off x="609600" y="29146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CAB06A"/>
                </a:solidFill>
                <a:latin typeface="Arial"/>
                <a:ea typeface="Arial"/>
                <a:cs typeface="Arial"/>
              </a:defRPr>
            </a:defPPr>
          </a:lstStyle>
          <a:p xmlns:a="http://schemas.openxmlformats.org/drawingml/2006/main">
            <a:pPr>
              <a:defRPr sz="1800" b="1">
                <a:solidFill>
                  <a:srgbClr val="CAB06A"/>
                </a:solidFill>
                <a:latin typeface="Arial"/>
                <a:ea typeface="Arial"/>
                <a:cs typeface="Arial"/>
              </a:defRPr>
            </a:pPr>
            <a:r>
              <a:rPr sz="1800" b="1">
                <a:solidFill>
                  <a:srgbClr val="CAB06A"/>
                </a:solidFill>
                <a:latin typeface="Arial"/>
                <a:ea typeface="Arial"/>
                <a:cs typeface="Arial"/>
              </a:rPr>
              <a:t>CREATIVE REFERENCES</a:t>
            </a:r>
          </a:p>
        </p:txBody>
      </p:sp>
      <p:sp>
        <p:nvSpPr>
          <p:cNvPr id="6" name="">
            <a:extLst xmlns:a="http://schemas.openxmlformats.org/drawingml/2006/main">
              <a:ext uri="{FF2B5EF4-FFF2-40B4-BE49-F238E27FC236}">
                <a16:creationId xmlns:a16="http://schemas.microsoft.com/office/drawing/2014/main" id="{5FE746D5-E6CA-4568-A1B8-D59C3947E46E}"/>
              </a:ext>
            </a:extLst>
          </p:cNvPr>
          <p:cNvSpPr>
            <a:spLocks xmlns:a="http://schemas.openxmlformats.org/drawingml/2006/main" noGrp="1"/>
          </p:cNvSpPr>
          <p:nvPr/>
        </p:nvSpPr>
        <p:spPr>
          <a:xfrm xmlns:a="http://schemas.openxmlformats.org/drawingml/2006/main">
            <a:off x="609600" y="352425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0E7"/>
                </a:solidFill>
                <a:latin typeface="Arial"/>
                <a:ea typeface="Arial"/>
                <a:cs typeface="Arial"/>
              </a:defRPr>
            </a:defPPr>
          </a:lstStyle>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Acrimony</a:t>
            </a:r>
          </a:p>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Betrayal and emotional escalation</a:t>
            </a:r>
          </a:p>
        </p:txBody>
      </p:sp>
      <p:sp>
        <p:nvSpPr>
          <p:cNvPr id="7" name="">
            <a:extLst xmlns:a="http://schemas.openxmlformats.org/drawingml/2006/main">
              <a:ext uri="{FF2B5EF4-FFF2-40B4-BE49-F238E27FC236}">
                <a16:creationId xmlns:a16="http://schemas.microsoft.com/office/drawing/2014/main" id="{B879B580-ACA3-43CC-918E-CDD87FC19AE6}"/>
              </a:ext>
            </a:extLst>
          </p:cNvPr>
          <p:cNvSpPr>
            <a:spLocks xmlns:a="http://schemas.openxmlformats.org/drawingml/2006/main" noGrp="1"/>
          </p:cNvSpPr>
          <p:nvPr/>
        </p:nvSpPr>
        <p:spPr>
          <a:xfrm xmlns:a="http://schemas.openxmlformats.org/drawingml/2006/main">
            <a:off x="6381750" y="352425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0E7"/>
                </a:solidFill>
                <a:latin typeface="Arial"/>
                <a:ea typeface="Arial"/>
                <a:cs typeface="Arial"/>
              </a:defRPr>
            </a:defPPr>
          </a:lstStyle>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Searching</a:t>
            </a:r>
          </a:p>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Digital investigation and screen storytelling</a:t>
            </a:r>
          </a:p>
        </p:txBody>
      </p:sp>
      <p:sp>
        <p:nvSpPr>
          <p:cNvPr id="8" name="">
            <a:extLst xmlns:a="http://schemas.openxmlformats.org/drawingml/2006/main">
              <a:ext uri="{FF2B5EF4-FFF2-40B4-BE49-F238E27FC236}">
                <a16:creationId xmlns:a16="http://schemas.microsoft.com/office/drawing/2014/main" id="{6E26660F-13E6-4F85-9E38-878DC7C0E36C}"/>
              </a:ext>
            </a:extLst>
          </p:cNvPr>
          <p:cNvSpPr>
            <a:spLocks xmlns:a="http://schemas.openxmlformats.org/drawingml/2006/main" noGrp="1"/>
          </p:cNvSpPr>
          <p:nvPr/>
        </p:nvSpPr>
        <p:spPr>
          <a:xfrm xmlns:a="http://schemas.openxmlformats.org/drawingml/2006/main">
            <a:off x="609600" y="47815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0E7"/>
                </a:solidFill>
                <a:latin typeface="Arial"/>
                <a:ea typeface="Arial"/>
                <a:cs typeface="Arial"/>
              </a:defRPr>
            </a:defPPr>
          </a:lstStyle>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A Fall from Grace</a:t>
            </a:r>
          </a:p>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Atlanta setting and reversals of trust</a:t>
            </a:r>
          </a:p>
        </p:txBody>
      </p:sp>
      <p:sp>
        <p:nvSpPr>
          <p:cNvPr id="9" name="">
            <a:extLst xmlns:a="http://schemas.openxmlformats.org/drawingml/2006/main">
              <a:ext uri="{FF2B5EF4-FFF2-40B4-BE49-F238E27FC236}">
                <a16:creationId xmlns:a16="http://schemas.microsoft.com/office/drawing/2014/main" id="{37DF856E-49DA-40E3-95D2-476770F11608}"/>
              </a:ext>
            </a:extLst>
          </p:cNvPr>
          <p:cNvSpPr>
            <a:spLocks xmlns:a="http://schemas.openxmlformats.org/drawingml/2006/main" noGrp="1"/>
          </p:cNvSpPr>
          <p:nvPr/>
        </p:nvSpPr>
        <p:spPr>
          <a:xfrm xmlns:a="http://schemas.openxmlformats.org/drawingml/2006/main">
            <a:off x="6381750" y="478155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0E7"/>
                </a:solidFill>
                <a:latin typeface="Arial"/>
                <a:ea typeface="Arial"/>
                <a:cs typeface="Arial"/>
              </a:defRPr>
            </a:defPPr>
          </a:lstStyle>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The Girl on the Train</a:t>
            </a:r>
          </a:p>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A compromised heroine and uncertain evidence</a:t>
            </a:r>
          </a:p>
        </p:txBody>
      </p:sp>
    </p:spTree>
    <p:extLst>
      <p:ext uri="{BB962C8B-B14F-4D97-AF65-F5344CB8AC3E}">
        <p14:creationId xmlns:p14="http://schemas.microsoft.com/office/powerpoint/2010/main" val="2011069772"/>
      </p:ext>
    </p:extLst>
  </p:cSld>
</p:sld>
</file>

<file path=ppt/slides/slide10.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144D1A-8E5B-4EAD-85CF-3E84DB5A9DB3}"/>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Casting references: the women</a:t>
            </a:r>
          </a:p>
        </p:txBody>
      </p:sp>
      <p:sp>
        <p:nvSpPr>
          <p:cNvPr id="2" name="">
            <a:extLst xmlns:a="http://schemas.openxmlformats.org/drawingml/2006/main">
              <a:ext uri="{FF2B5EF4-FFF2-40B4-BE49-F238E27FC236}">
                <a16:creationId xmlns:a16="http://schemas.microsoft.com/office/drawing/2014/main" id="{64BCD9F2-6CD7-4102-A6A7-19F099F71238}"/>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2F9A2D26-82A7-4601-9890-2972694173F5}"/>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EF4D446-4C3C-4E29-B235-8BD6C8866505}"/>
              </a:ext>
            </a:extLst>
          </p:cNvPr>
          <p:cNvSpPr>
            <a:spLocks xmlns:a="http://schemas.openxmlformats.org/drawingml/2006/main" noGrp="1"/>
          </p:cNvSpPr>
          <p:nvPr/>
        </p:nvSpPr>
        <p:spPr>
          <a:xfrm xmlns:a="http://schemas.openxmlformats.org/drawingml/2006/main">
            <a:off x="609600" y="13239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CAB06A"/>
                </a:solidFill>
                <a:latin typeface="Arial"/>
                <a:ea typeface="Arial"/>
                <a:cs typeface="Arial"/>
              </a:defRPr>
            </a:defPPr>
          </a:lstStyle>
          <a:p xmlns:a="http://schemas.openxmlformats.org/drawingml/2006/main">
            <a:pPr>
              <a:defRPr sz="1725" b="0">
                <a:solidFill>
                  <a:srgbClr val="CAB06A"/>
                </a:solidFill>
                <a:latin typeface="Arial"/>
                <a:ea typeface="Arial"/>
                <a:cs typeface="Arial"/>
              </a:defRPr>
            </a:pPr>
            <a:r>
              <a:rPr sz="1725" b="0">
                <a:solidFill>
                  <a:srgbClr val="CAB06A"/>
                </a:solidFill>
                <a:latin typeface="Arial"/>
                <a:ea typeface="Arial"/>
                <a:cs typeface="Arial"/>
              </a:rPr>
              <a:t>Casting references only. No talent attachments represented.</a:t>
            </a:r>
          </a:p>
        </p:txBody>
      </p:sp>
      <p:sp>
        <p:nvSpPr>
          <p:cNvPr id="5" name="">
            <a:extLst xmlns:a="http://schemas.openxmlformats.org/drawingml/2006/main">
              <a:ext uri="{FF2B5EF4-FFF2-40B4-BE49-F238E27FC236}">
                <a16:creationId xmlns:a16="http://schemas.microsoft.com/office/drawing/2014/main" id="{03AD9BF7-EE04-410F-83C6-9377D3FA7405}"/>
              </a:ext>
            </a:extLst>
          </p:cNvPr>
          <p:cNvSpPr>
            <a:spLocks xmlns:a="http://schemas.openxmlformats.org/drawingml/2006/main" noGrp="1"/>
          </p:cNvSpPr>
          <p:nvPr/>
        </p:nvSpPr>
        <p:spPr>
          <a:xfrm xmlns:a="http://schemas.openxmlformats.org/drawingml/2006/main">
            <a:off x="609600" y="20955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TAYLOR MONROE</a:t>
            </a:r>
          </a:p>
        </p:txBody>
      </p:sp>
      <p:sp>
        <p:nvSpPr>
          <p:cNvPr id="6" name="">
            <a:extLst xmlns:a="http://schemas.openxmlformats.org/drawingml/2006/main">
              <a:ext uri="{FF2B5EF4-FFF2-40B4-BE49-F238E27FC236}">
                <a16:creationId xmlns:a16="http://schemas.microsoft.com/office/drawing/2014/main" id="{B432F7A2-154A-4879-935E-FBD187C12EFA}"/>
              </a:ext>
            </a:extLst>
          </p:cNvPr>
          <p:cNvSpPr>
            <a:spLocks xmlns:a="http://schemas.openxmlformats.org/drawingml/2006/main" noGrp="1"/>
          </p:cNvSpPr>
          <p:nvPr/>
        </p:nvSpPr>
        <p:spPr>
          <a:xfrm xmlns:a="http://schemas.openxmlformats.org/drawingml/2006/main">
            <a:off x="609600" y="25241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Keke Palmer</a:t>
            </a:r>
          </a:p>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Dominique Fishback</a:t>
            </a:r>
          </a:p>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Meagan Good</a:t>
            </a:r>
          </a:p>
        </p:txBody>
      </p:sp>
      <p:sp>
        <p:nvSpPr>
          <p:cNvPr id="7" name="">
            <a:extLst xmlns:a="http://schemas.openxmlformats.org/drawingml/2006/main">
              <a:ext uri="{FF2B5EF4-FFF2-40B4-BE49-F238E27FC236}">
                <a16:creationId xmlns:a16="http://schemas.microsoft.com/office/drawing/2014/main" id="{FC01C8BD-5F5B-498E-8A6C-3E422B317E95}"/>
              </a:ext>
            </a:extLst>
          </p:cNvPr>
          <p:cNvSpPr>
            <a:spLocks xmlns:a="http://schemas.openxmlformats.org/drawingml/2006/main" noGrp="1"/>
          </p:cNvSpPr>
          <p:nvPr/>
        </p:nvSpPr>
        <p:spPr>
          <a:xfrm xmlns:a="http://schemas.openxmlformats.org/drawingml/2006/main">
            <a:off x="4314825" y="20955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NINA BAPTISTE</a:t>
            </a:r>
          </a:p>
        </p:txBody>
      </p:sp>
      <p:sp>
        <p:nvSpPr>
          <p:cNvPr id="8" name="">
            <a:extLst xmlns:a="http://schemas.openxmlformats.org/drawingml/2006/main">
              <a:ext uri="{FF2B5EF4-FFF2-40B4-BE49-F238E27FC236}">
                <a16:creationId xmlns:a16="http://schemas.microsoft.com/office/drawing/2014/main" id="{D221AA53-E544-4EB4-9491-FCB8003DBD2E}"/>
              </a:ext>
            </a:extLst>
          </p:cNvPr>
          <p:cNvSpPr>
            <a:spLocks xmlns:a="http://schemas.openxmlformats.org/drawingml/2006/main" noGrp="1"/>
          </p:cNvSpPr>
          <p:nvPr/>
        </p:nvSpPr>
        <p:spPr>
          <a:xfrm xmlns:a="http://schemas.openxmlformats.org/drawingml/2006/main">
            <a:off x="4314825" y="25241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Antoinette Robertson</a:t>
            </a:r>
          </a:p>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DeWanda Wise</a:t>
            </a:r>
          </a:p>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Logan Browning</a:t>
            </a:r>
          </a:p>
        </p:txBody>
      </p:sp>
      <p:sp>
        <p:nvSpPr>
          <p:cNvPr id="9" name="">
            <a:extLst xmlns:a="http://schemas.openxmlformats.org/drawingml/2006/main">
              <a:ext uri="{FF2B5EF4-FFF2-40B4-BE49-F238E27FC236}">
                <a16:creationId xmlns:a16="http://schemas.microsoft.com/office/drawing/2014/main" id="{1077C2E3-7B2A-4BCB-8240-922D37B7E153}"/>
              </a:ext>
            </a:extLst>
          </p:cNvPr>
          <p:cNvSpPr>
            <a:spLocks xmlns:a="http://schemas.openxmlformats.org/drawingml/2006/main" noGrp="1"/>
          </p:cNvSpPr>
          <p:nvPr/>
        </p:nvSpPr>
        <p:spPr>
          <a:xfrm xmlns:a="http://schemas.openxmlformats.org/drawingml/2006/main">
            <a:off x="8020050" y="209550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B06A"/>
                </a:solidFill>
                <a:latin typeface="Arial"/>
                <a:ea typeface="Arial"/>
                <a:cs typeface="Arial"/>
              </a:defRPr>
            </a:defPPr>
          </a:lstStyle>
          <a:p xmlns:a="http://schemas.openxmlformats.org/drawingml/2006/main">
            <a:pPr>
              <a:defRPr sz="1875" b="1">
                <a:solidFill>
                  <a:srgbClr val="CAB06A"/>
                </a:solidFill>
                <a:latin typeface="Arial"/>
                <a:ea typeface="Arial"/>
                <a:cs typeface="Arial"/>
              </a:defRPr>
            </a:pPr>
            <a:r>
              <a:rPr sz="1875" b="1">
                <a:solidFill>
                  <a:srgbClr val="CAB06A"/>
                </a:solidFill>
                <a:latin typeface="Arial"/>
                <a:ea typeface="Arial"/>
                <a:cs typeface="Arial"/>
              </a:rPr>
              <a:t>BIANCA COLE</a:t>
            </a:r>
          </a:p>
        </p:txBody>
      </p:sp>
      <p:sp>
        <p:nvSpPr>
          <p:cNvPr id="10" name="">
            <a:extLst xmlns:a="http://schemas.openxmlformats.org/drawingml/2006/main">
              <a:ext uri="{FF2B5EF4-FFF2-40B4-BE49-F238E27FC236}">
                <a16:creationId xmlns:a16="http://schemas.microsoft.com/office/drawing/2014/main" id="{3CB01505-D042-4C69-9AA0-F3CBB4F06A6E}"/>
              </a:ext>
            </a:extLst>
          </p:cNvPr>
          <p:cNvSpPr>
            <a:spLocks xmlns:a="http://schemas.openxmlformats.org/drawingml/2006/main" noGrp="1"/>
          </p:cNvSpPr>
          <p:nvPr/>
        </p:nvSpPr>
        <p:spPr>
          <a:xfrm xmlns:a="http://schemas.openxmlformats.org/drawingml/2006/main">
            <a:off x="8020050" y="2524125"/>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0E7"/>
                </a:solidFill>
                <a:latin typeface="Arial"/>
                <a:ea typeface="Arial"/>
                <a:cs typeface="Arial"/>
              </a:defRPr>
            </a:defPPr>
          </a:lstStyle>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Nafessa Williams</a:t>
            </a:r>
          </a:p>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Simone Missick</a:t>
            </a:r>
          </a:p>
          <a:p xmlns:a="http://schemas.openxmlformats.org/drawingml/2006/main">
            <a:pPr>
              <a:defRPr sz="2100" b="0">
                <a:solidFill>
                  <a:srgbClr val="F4F0E7"/>
                </a:solidFill>
                <a:latin typeface="Arial"/>
                <a:ea typeface="Arial"/>
                <a:cs typeface="Arial"/>
              </a:defRPr>
            </a:pPr>
            <a:r>
              <a:rPr sz="2100" b="0">
                <a:solidFill>
                  <a:srgbClr val="F4F0E7"/>
                </a:solidFill>
                <a:latin typeface="Arial"/>
                <a:ea typeface="Arial"/>
                <a:cs typeface="Arial"/>
              </a:rPr>
              <a:t>Essence Atkins</a:t>
            </a:r>
          </a:p>
        </p:txBody>
      </p:sp>
      <p:sp>
        <p:nvSpPr>
          <p:cNvPr id="11" name="">
            <a:extLst xmlns:a="http://schemas.openxmlformats.org/drawingml/2006/main">
              <a:ext uri="{FF2B5EF4-FFF2-40B4-BE49-F238E27FC236}">
                <a16:creationId xmlns:a16="http://schemas.microsoft.com/office/drawing/2014/main" id="{24897A68-F7B3-4082-B4D6-D68E538D4144}"/>
              </a:ext>
            </a:extLst>
          </p:cNvPr>
          <p:cNvSpPr>
            <a:spLocks xmlns:a="http://schemas.openxmlformats.org/drawingml/2006/main" noGrp="1"/>
          </p:cNvSpPr>
          <p:nvPr/>
        </p:nvSpPr>
        <p:spPr>
          <a:xfrm xmlns:a="http://schemas.openxmlformats.org/drawingml/2006/main">
            <a:off x="609600" y="4476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AB06A"/>
                </a:solidFill>
                <a:latin typeface="Arial"/>
                <a:ea typeface="Arial"/>
                <a:cs typeface="Arial"/>
              </a:defRPr>
            </a:defPPr>
          </a:lstStyle>
          <a:p xmlns:a="http://schemas.openxmlformats.org/drawingml/2006/main">
            <a:pPr>
              <a:defRPr sz="2025" b="1">
                <a:solidFill>
                  <a:srgbClr val="CAB06A"/>
                </a:solidFill>
                <a:latin typeface="Arial"/>
                <a:ea typeface="Arial"/>
                <a:cs typeface="Arial"/>
              </a:defRPr>
            </a:pPr>
            <a:r>
              <a:rPr sz="2025" b="1">
                <a:solidFill>
                  <a:srgbClr val="CAB06A"/>
                </a:solidFill>
                <a:latin typeface="Arial"/>
                <a:ea typeface="Arial"/>
                <a:cs typeface="Arial"/>
              </a:rPr>
              <a:t>Performance focus</a:t>
            </a:r>
          </a:p>
        </p:txBody>
      </p:sp>
      <p:sp>
        <p:nvSpPr>
          <p:cNvPr id="12" name="">
            <a:extLst xmlns:a="http://schemas.openxmlformats.org/drawingml/2006/main">
              <a:ext uri="{FF2B5EF4-FFF2-40B4-BE49-F238E27FC236}">
                <a16:creationId xmlns:a16="http://schemas.microsoft.com/office/drawing/2014/main" id="{FA0D670E-9EB8-44CB-93CA-D83EE82F1232}"/>
              </a:ext>
            </a:extLst>
          </p:cNvPr>
          <p:cNvSpPr>
            <a:spLocks xmlns:a="http://schemas.openxmlformats.org/drawingml/2006/main" noGrp="1"/>
          </p:cNvSpPr>
          <p:nvPr/>
        </p:nvSpPr>
        <p:spPr>
          <a:xfrm xmlns:a="http://schemas.openxmlformats.org/drawingml/2006/main">
            <a:off x="609600" y="50196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4F0E7"/>
                </a:solidFill>
                <a:latin typeface="Arial"/>
                <a:ea typeface="Arial"/>
                <a:cs typeface="Arial"/>
              </a:defRPr>
            </a:defPPr>
          </a:lstStyle>
          <a:p xmlns:a="http://schemas.openxmlformats.org/drawingml/2006/main">
            <a:pPr>
              <a:defRPr sz="2250" b="0">
                <a:solidFill>
                  <a:srgbClr val="F4F0E7"/>
                </a:solidFill>
                <a:latin typeface="Arial"/>
                <a:ea typeface="Arial"/>
                <a:cs typeface="Arial"/>
              </a:defRPr>
            </a:pPr>
            <a:r>
              <a:rPr sz="2250" b="0">
                <a:solidFill>
                  <a:srgbClr val="F4F0E7"/>
                </a:solidFill>
                <a:latin typeface="Arial"/>
                <a:ea typeface="Arial"/>
                <a:cs typeface="Arial"/>
              </a:rPr>
              <a:t>Taylor carries terror, wit and grief. Nina must earn renewed trust. Bianca holds the tension between complicity and courage.</a:t>
            </a:r>
          </a:p>
        </p:txBody>
      </p:sp>
    </p:spTree>
    <p:extLst>
      <p:ext uri="{BB962C8B-B14F-4D97-AF65-F5344CB8AC3E}">
        <p14:creationId xmlns:p14="http://schemas.microsoft.com/office/powerpoint/2010/main" val="913325485"/>
      </p:ext>
    </p:extLst>
  </p:cSld>
</p:sld>
</file>

<file path=ppt/slides/slide1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250CEB-2ED9-4C12-8B40-6530C405AFAB}"/>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Casting references: the men</a:t>
            </a:r>
          </a:p>
        </p:txBody>
      </p:sp>
      <p:sp>
        <p:nvSpPr>
          <p:cNvPr id="2" name="">
            <a:extLst xmlns:a="http://schemas.openxmlformats.org/drawingml/2006/main">
              <a:ext uri="{FF2B5EF4-FFF2-40B4-BE49-F238E27FC236}">
                <a16:creationId xmlns:a16="http://schemas.microsoft.com/office/drawing/2014/main" id="{652FB1C0-C15E-4BB0-ADE1-1BDE7F8A463F}"/>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C77AE2E0-0506-4C12-9F15-574F3875DA4F}"/>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07C07B96-96C7-48BD-BF1F-38D9A0725BC3}"/>
              </a:ext>
            </a:extLst>
          </p:cNvPr>
          <p:cNvSpPr>
            <a:spLocks xmlns:a="http://schemas.openxmlformats.org/drawingml/2006/main" noGrp="1"/>
          </p:cNvSpPr>
          <p:nvPr/>
        </p:nvSpPr>
        <p:spPr>
          <a:xfrm xmlns:a="http://schemas.openxmlformats.org/drawingml/2006/main">
            <a:off x="609600" y="13239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CAB06A"/>
                </a:solidFill>
                <a:latin typeface="Arial"/>
                <a:ea typeface="Arial"/>
                <a:cs typeface="Arial"/>
              </a:defRPr>
            </a:defPPr>
          </a:lstStyle>
          <a:p xmlns:a="http://schemas.openxmlformats.org/drawingml/2006/main">
            <a:pPr>
              <a:defRPr sz="1725" b="0">
                <a:solidFill>
                  <a:srgbClr val="CAB06A"/>
                </a:solidFill>
                <a:latin typeface="Arial"/>
                <a:ea typeface="Arial"/>
                <a:cs typeface="Arial"/>
              </a:defRPr>
            </a:pPr>
            <a:r>
              <a:rPr sz="1725" b="0">
                <a:solidFill>
                  <a:srgbClr val="CAB06A"/>
                </a:solidFill>
                <a:latin typeface="Arial"/>
                <a:ea typeface="Arial"/>
                <a:cs typeface="Arial"/>
              </a:rPr>
              <a:t>Casting references only. No talent attachments represented.</a:t>
            </a:r>
          </a:p>
        </p:txBody>
      </p:sp>
      <p:sp>
        <p:nvSpPr>
          <p:cNvPr id="5" name="">
            <a:extLst xmlns:a="http://schemas.openxmlformats.org/drawingml/2006/main">
              <a:ext uri="{FF2B5EF4-FFF2-40B4-BE49-F238E27FC236}">
                <a16:creationId xmlns:a16="http://schemas.microsoft.com/office/drawing/2014/main" id="{1AF0941A-541F-487D-8A96-3B48EDD48A8A}"/>
              </a:ext>
            </a:extLst>
          </p:cNvPr>
          <p:cNvSpPr>
            <a:spLocks xmlns:a="http://schemas.openxmlformats.org/drawingml/2006/main" noGrp="1"/>
          </p:cNvSpPr>
          <p:nvPr/>
        </p:nvSpPr>
        <p:spPr>
          <a:xfrm xmlns:a="http://schemas.openxmlformats.org/drawingml/2006/main">
            <a:off x="609600" y="22764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CAB06A"/>
                </a:solidFill>
                <a:latin typeface="Arial"/>
                <a:ea typeface="Arial"/>
                <a:cs typeface="Arial"/>
              </a:defRPr>
            </a:defPPr>
          </a:lstStyle>
          <a:p xmlns:a="http://schemas.openxmlformats.org/drawingml/2006/main">
            <a:pPr>
              <a:defRPr sz="2325" b="1">
                <a:solidFill>
                  <a:srgbClr val="CAB06A"/>
                </a:solidFill>
                <a:latin typeface="Arial"/>
                <a:ea typeface="Arial"/>
                <a:cs typeface="Arial"/>
              </a:defRPr>
            </a:pPr>
            <a:r>
              <a:rPr sz="2325" b="1">
                <a:solidFill>
                  <a:srgbClr val="CAB06A"/>
                </a:solidFill>
                <a:latin typeface="Arial"/>
                <a:ea typeface="Arial"/>
                <a:cs typeface="Arial"/>
              </a:rPr>
              <a:t>DEREK MASON</a:t>
            </a:r>
          </a:p>
        </p:txBody>
      </p:sp>
      <p:sp>
        <p:nvSpPr>
          <p:cNvPr id="6" name="">
            <a:extLst xmlns:a="http://schemas.openxmlformats.org/drawingml/2006/main">
              <a:ext uri="{FF2B5EF4-FFF2-40B4-BE49-F238E27FC236}">
                <a16:creationId xmlns:a16="http://schemas.microsoft.com/office/drawing/2014/main" id="{EEDE3281-8F15-4EF7-80C1-A9522728770B}"/>
              </a:ext>
            </a:extLst>
          </p:cNvPr>
          <p:cNvSpPr>
            <a:spLocks xmlns:a="http://schemas.openxmlformats.org/drawingml/2006/main" noGrp="1"/>
          </p:cNvSpPr>
          <p:nvPr/>
        </p:nvSpPr>
        <p:spPr>
          <a:xfrm xmlns:a="http://schemas.openxmlformats.org/drawingml/2006/main">
            <a:off x="609600" y="29337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4F0E7"/>
                </a:solidFill>
                <a:latin typeface="Arial"/>
                <a:ea typeface="Arial"/>
                <a:cs typeface="Arial"/>
              </a:defRPr>
            </a:defPPr>
          </a:lstStyle>
          <a:p xmlns:a="http://schemas.openxmlformats.org/drawingml/2006/main">
            <a:pPr>
              <a:defRPr sz="2400" b="0">
                <a:solidFill>
                  <a:srgbClr val="F4F0E7"/>
                </a:solidFill>
                <a:latin typeface="Arial"/>
                <a:ea typeface="Arial"/>
                <a:cs typeface="Arial"/>
              </a:defRPr>
            </a:pPr>
            <a:r>
              <a:rPr sz="2400" b="0">
                <a:solidFill>
                  <a:srgbClr val="F4F0E7"/>
                </a:solidFill>
                <a:latin typeface="Arial"/>
                <a:ea typeface="Arial"/>
                <a:cs typeface="Arial"/>
              </a:rPr>
              <a:t>Omari Hardwick</a:t>
            </a:r>
          </a:p>
          <a:p xmlns:a="http://schemas.openxmlformats.org/drawingml/2006/main">
            <a:pPr>
              <a:defRPr sz="2400" b="0">
                <a:solidFill>
                  <a:srgbClr val="F4F0E7"/>
                </a:solidFill>
                <a:latin typeface="Arial"/>
                <a:ea typeface="Arial"/>
                <a:cs typeface="Arial"/>
              </a:defRPr>
            </a:pPr>
            <a:r>
              <a:rPr sz="2400" b="0">
                <a:solidFill>
                  <a:srgbClr val="F4F0E7"/>
                </a:solidFill>
                <a:latin typeface="Arial"/>
                <a:ea typeface="Arial"/>
                <a:cs typeface="Arial"/>
              </a:rPr>
              <a:t>Morris Chestnut</a:t>
            </a:r>
          </a:p>
          <a:p xmlns:a="http://schemas.openxmlformats.org/drawingml/2006/main">
            <a:pPr>
              <a:defRPr sz="2400" b="0">
                <a:solidFill>
                  <a:srgbClr val="F4F0E7"/>
                </a:solidFill>
                <a:latin typeface="Arial"/>
                <a:ea typeface="Arial"/>
                <a:cs typeface="Arial"/>
              </a:defRPr>
            </a:pPr>
            <a:r>
              <a:rPr sz="2400" b="0">
                <a:solidFill>
                  <a:srgbClr val="F4F0E7"/>
                </a:solidFill>
                <a:latin typeface="Arial"/>
                <a:ea typeface="Arial"/>
                <a:cs typeface="Arial"/>
              </a:rPr>
              <a:t>Laz Alonso</a:t>
            </a:r>
          </a:p>
        </p:txBody>
      </p:sp>
      <p:sp>
        <p:nvSpPr>
          <p:cNvPr id="7" name="">
            <a:extLst xmlns:a="http://schemas.openxmlformats.org/drawingml/2006/main">
              <a:ext uri="{FF2B5EF4-FFF2-40B4-BE49-F238E27FC236}">
                <a16:creationId xmlns:a16="http://schemas.microsoft.com/office/drawing/2014/main" id="{2B77E125-C66A-4B00-B9B4-A68FE3C12BF0}"/>
              </a:ext>
            </a:extLst>
          </p:cNvPr>
          <p:cNvSpPr>
            <a:spLocks xmlns:a="http://schemas.openxmlformats.org/drawingml/2006/main" noGrp="1"/>
          </p:cNvSpPr>
          <p:nvPr/>
        </p:nvSpPr>
        <p:spPr>
          <a:xfrm xmlns:a="http://schemas.openxmlformats.org/drawingml/2006/main">
            <a:off x="6419850" y="22764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CAB06A"/>
                </a:solidFill>
                <a:latin typeface="Arial"/>
                <a:ea typeface="Arial"/>
                <a:cs typeface="Arial"/>
              </a:defRPr>
            </a:defPPr>
          </a:lstStyle>
          <a:p xmlns:a="http://schemas.openxmlformats.org/drawingml/2006/main">
            <a:pPr>
              <a:defRPr sz="2325" b="1">
                <a:solidFill>
                  <a:srgbClr val="CAB06A"/>
                </a:solidFill>
                <a:latin typeface="Arial"/>
                <a:ea typeface="Arial"/>
                <a:cs typeface="Arial"/>
              </a:defRPr>
            </a:pPr>
            <a:r>
              <a:rPr sz="2325" b="1">
                <a:solidFill>
                  <a:srgbClr val="CAB06A"/>
                </a:solidFill>
                <a:latin typeface="Arial"/>
                <a:ea typeface="Arial"/>
                <a:cs typeface="Arial"/>
              </a:rPr>
              <a:t>MARCUS WEBB</a:t>
            </a:r>
          </a:p>
        </p:txBody>
      </p:sp>
      <p:sp>
        <p:nvSpPr>
          <p:cNvPr id="8" name="">
            <a:extLst xmlns:a="http://schemas.openxmlformats.org/drawingml/2006/main">
              <a:ext uri="{FF2B5EF4-FFF2-40B4-BE49-F238E27FC236}">
                <a16:creationId xmlns:a16="http://schemas.microsoft.com/office/drawing/2014/main" id="{0E409DD0-CC56-4EE6-807A-8C451BEC2D4D}"/>
              </a:ext>
            </a:extLst>
          </p:cNvPr>
          <p:cNvSpPr>
            <a:spLocks xmlns:a="http://schemas.openxmlformats.org/drawingml/2006/main" noGrp="1"/>
          </p:cNvSpPr>
          <p:nvPr/>
        </p:nvSpPr>
        <p:spPr>
          <a:xfrm xmlns:a="http://schemas.openxmlformats.org/drawingml/2006/main">
            <a:off x="6419850" y="293370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4F0E7"/>
                </a:solidFill>
                <a:latin typeface="Arial"/>
                <a:ea typeface="Arial"/>
                <a:cs typeface="Arial"/>
              </a:defRPr>
            </a:defPPr>
          </a:lstStyle>
          <a:p xmlns:a="http://schemas.openxmlformats.org/drawingml/2006/main">
            <a:pPr>
              <a:defRPr sz="2400" b="0">
                <a:solidFill>
                  <a:srgbClr val="F4F0E7"/>
                </a:solidFill>
                <a:latin typeface="Arial"/>
                <a:ea typeface="Arial"/>
                <a:cs typeface="Arial"/>
              </a:defRPr>
            </a:pPr>
            <a:r>
              <a:rPr sz="2400" b="0">
                <a:solidFill>
                  <a:srgbClr val="F4F0E7"/>
                </a:solidFill>
                <a:latin typeface="Arial"/>
                <a:ea typeface="Arial"/>
                <a:cs typeface="Arial"/>
              </a:rPr>
              <a:t>Algee Smith</a:t>
            </a:r>
          </a:p>
          <a:p xmlns:a="http://schemas.openxmlformats.org/drawingml/2006/main">
            <a:pPr>
              <a:defRPr sz="2400" b="0">
                <a:solidFill>
                  <a:srgbClr val="F4F0E7"/>
                </a:solidFill>
                <a:latin typeface="Arial"/>
                <a:ea typeface="Arial"/>
                <a:cs typeface="Arial"/>
              </a:defRPr>
            </a:pPr>
            <a:r>
              <a:rPr sz="2400" b="0">
                <a:solidFill>
                  <a:srgbClr val="F4F0E7"/>
                </a:solidFill>
                <a:latin typeface="Arial"/>
                <a:ea typeface="Arial"/>
                <a:cs typeface="Arial"/>
              </a:rPr>
              <a:t>Sinqua Walls</a:t>
            </a:r>
          </a:p>
          <a:p xmlns:a="http://schemas.openxmlformats.org/drawingml/2006/main">
            <a:pPr>
              <a:defRPr sz="2400" b="0">
                <a:solidFill>
                  <a:srgbClr val="F4F0E7"/>
                </a:solidFill>
                <a:latin typeface="Arial"/>
                <a:ea typeface="Arial"/>
                <a:cs typeface="Arial"/>
              </a:defRPr>
            </a:pPr>
            <a:r>
              <a:rPr sz="2400" b="0">
                <a:solidFill>
                  <a:srgbClr val="F4F0E7"/>
                </a:solidFill>
                <a:latin typeface="Arial"/>
                <a:ea typeface="Arial"/>
                <a:cs typeface="Arial"/>
              </a:rPr>
              <a:t>Kendrick Sampson</a:t>
            </a:r>
          </a:p>
        </p:txBody>
      </p:sp>
      <p:sp>
        <p:nvSpPr>
          <p:cNvPr id="9" name="">
            <a:extLst xmlns:a="http://schemas.openxmlformats.org/drawingml/2006/main">
              <a:ext uri="{FF2B5EF4-FFF2-40B4-BE49-F238E27FC236}">
                <a16:creationId xmlns:a16="http://schemas.microsoft.com/office/drawing/2014/main" id="{69BCB3EF-64E5-4262-8382-34948F987F53}"/>
              </a:ext>
            </a:extLst>
          </p:cNvPr>
          <p:cNvSpPr>
            <a:spLocks xmlns:a="http://schemas.openxmlformats.org/drawingml/2006/main" noGrp="1"/>
          </p:cNvSpPr>
          <p:nvPr/>
        </p:nvSpPr>
        <p:spPr>
          <a:xfrm xmlns:a="http://schemas.openxmlformats.org/drawingml/2006/main">
            <a:off x="609600" y="5029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4F0E7"/>
                </a:solidFill>
                <a:latin typeface="Arial"/>
                <a:ea typeface="Arial"/>
                <a:cs typeface="Arial"/>
              </a:defRPr>
            </a:defPPr>
          </a:lstStyle>
          <a:p xmlns:a="http://schemas.openxmlformats.org/drawingml/2006/main">
            <a:pPr>
              <a:defRPr sz="2250" b="0">
                <a:solidFill>
                  <a:srgbClr val="F4F0E7"/>
                </a:solidFill>
                <a:latin typeface="Arial"/>
                <a:ea typeface="Arial"/>
                <a:cs typeface="Arial"/>
              </a:defRPr>
            </a:pPr>
            <a:r>
              <a:rPr sz="2250" b="0">
                <a:solidFill>
                  <a:srgbClr val="F4F0E7"/>
                </a:solidFill>
                <a:latin typeface="Arial"/>
                <a:ea typeface="Arial"/>
                <a:cs typeface="Arial"/>
              </a:rPr>
              <a:t>Derek's menace lives in his restraint. Marcus brings authority without eclipsing Taylor's agency.</a:t>
            </a:r>
          </a:p>
        </p:txBody>
      </p:sp>
    </p:spTree>
    <p:extLst>
      <p:ext uri="{BB962C8B-B14F-4D97-AF65-F5344CB8AC3E}">
        <p14:creationId xmlns:p14="http://schemas.microsoft.com/office/powerpoint/2010/main" val="1335902235"/>
      </p:ext>
    </p:extLst>
  </p:cSld>
</p:sld>
</file>

<file path=ppt/slides/slide1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22BFED-F6EB-4F85-98BE-B50FB51EBA24}"/>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4F0E7"/>
                </a:solidFill>
                <a:latin typeface="Arial"/>
                <a:ea typeface="Arial"/>
                <a:cs typeface="Arial"/>
              </a:defRPr>
            </a:defPPr>
          </a:lstStyle>
          <a:p xmlns:a="http://schemas.openxmlformats.org/drawingml/2006/main">
            <a:pPr>
              <a:defRPr sz="3300" b="1">
                <a:solidFill>
                  <a:srgbClr val="F4F0E7"/>
                </a:solidFill>
                <a:latin typeface="Arial"/>
                <a:ea typeface="Arial"/>
                <a:cs typeface="Arial"/>
              </a:defRPr>
            </a:pPr>
            <a:r>
              <a:rPr sz="3300" b="1">
                <a:solidFill>
                  <a:srgbClr val="F4F0E7"/>
                </a:solidFill>
                <a:latin typeface="Arial"/>
                <a:ea typeface="Arial"/>
                <a:cs typeface="Arial"/>
              </a:rPr>
              <a:t>The film package</a:t>
            </a:r>
          </a:p>
        </p:txBody>
      </p:sp>
      <p:sp>
        <p:nvSpPr>
          <p:cNvPr id="2" name="">
            <a:extLst xmlns:a="http://schemas.openxmlformats.org/drawingml/2006/main">
              <a:ext uri="{FF2B5EF4-FFF2-40B4-BE49-F238E27FC236}">
                <a16:creationId xmlns:a16="http://schemas.microsoft.com/office/drawing/2014/main" id="{20F3AEFA-FCDD-405B-8E55-F9095C6EC85B}"/>
              </a:ext>
            </a:extLst>
          </p:cNvPr>
          <p:cNvSpPr>
            <a:spLocks xmlns:a="http://schemas.openxmlformats.org/drawingml/2006/main" noGrp="1"/>
          </p:cNvSpPr>
          <p:nvPr/>
        </p:nvSpPr>
        <p:spPr>
          <a:xfrm xmlns:a="http://schemas.openxmlformats.org/drawingml/2006/main">
            <a:off x="609600" y="6362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AB06A"/>
                </a:solidFill>
                <a:latin typeface="Arial"/>
                <a:ea typeface="Arial"/>
                <a:cs typeface="Arial"/>
              </a:defRPr>
            </a:defPPr>
          </a:lstStyle>
          <a:p xmlns:a="http://schemas.openxmlformats.org/drawingml/2006/main">
            <a:pPr>
              <a:defRPr sz="1050" b="0">
                <a:solidFill>
                  <a:srgbClr val="CAB06A"/>
                </a:solidFill>
                <a:latin typeface="Arial"/>
                <a:ea typeface="Arial"/>
                <a:cs typeface="Arial"/>
              </a:defRPr>
            </a:pPr>
            <a:r>
              <a:rPr sz="1050" b="0">
                <a:solidFill>
                  <a:srgbClr val="CAB06A"/>
                </a:solidFill>
                <a:latin typeface="Arial"/>
                <a:ea typeface="Arial"/>
                <a:cs typeface="Arial"/>
              </a:rPr>
              <a:t>NCCA ENTERTAINMENT</a:t>
            </a:r>
          </a:p>
        </p:txBody>
      </p:sp>
      <p:sp>
        <p:nvSpPr>
          <p:cNvPr id="3" name="">
            <a:extLst xmlns:a="http://schemas.openxmlformats.org/drawingml/2006/main">
              <a:ext uri="{FF2B5EF4-FFF2-40B4-BE49-F238E27FC236}">
                <a16:creationId xmlns:a16="http://schemas.microsoft.com/office/drawing/2014/main" id="{B367F0D4-B74F-47DA-8B00-E22821B2249E}"/>
              </a:ext>
            </a:extLst>
          </p:cNvPr>
          <p:cNvSpPr>
            <a:spLocks xmlns:a="http://schemas.openxmlformats.org/drawingml/2006/main" noGrp="1"/>
          </p:cNvSpPr>
          <p:nvPr/>
        </p:nvSpPr>
        <p:spPr>
          <a:xfrm xmlns:a="http://schemas.openxmlformats.org/drawingml/2006/main">
            <a:off x="11049000" y="63627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AC5CE"/>
                </a:solidFill>
                <a:latin typeface="Arial"/>
                <a:ea typeface="Arial"/>
                <a:cs typeface="Arial"/>
              </a:defRPr>
            </a:defPPr>
          </a:lstStyle>
          <a:p xmlns:a="http://schemas.openxmlformats.org/drawingml/2006/main">
            <a:pPr>
              <a:defRPr sz="1050" b="0">
                <a:solidFill>
                  <a:srgbClr val="BAC5CE"/>
                </a:solidFill>
                <a:latin typeface="Arial"/>
                <a:ea typeface="Arial"/>
                <a:cs typeface="Arial"/>
              </a:defRPr>
            </a:pPr>
            <a:r>
              <a:rPr sz="1050" b="0">
                <a:solidFill>
                  <a:srgbClr val="BAC5CE"/>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E09D745F-B0C9-41E1-8226-CB24540C9DE3}"/>
              </a:ext>
            </a:extLst>
          </p:cNvPr>
          <p:cNvPicPr>
            <a:picLocks xmlns:a="http://schemas.openxmlformats.org/drawingml/2006/main" noChangeAspect="1"/>
          </p:cNvPicPr>
          <p:nvPr/>
        </p:nvPicPr>
        <p:blipFill>
          <a:blip xmlns:r="http://schemas.openxmlformats.org/officeDocument/2006/relationships" xmlns:a="http://schemas.openxmlformats.org/drawingml/2006/main" r:embed="Rfda7f8595be9422b"/>
          <a:srcRect xmlns:a="http://schemas.openxmlformats.org/drawingml/2006/main" l="70" t="0" r="70" b="0"/>
          <a:stretch xmlns:a="http://schemas.openxmlformats.org/drawingml/2006/main">
            <a:fillRect l="0" t="0" r="0" b="0"/>
          </a:stretch>
        </p:blipFill>
        <p:spPr>
          <a:xfrm xmlns:a="http://schemas.openxmlformats.org/drawingml/2006/main">
            <a:off x="609600" y="1514475"/>
            <a:ext cx="6019800" cy="3390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77224CB-BDA8-429F-8427-7BCBDEA3B982}"/>
              </a:ext>
            </a:extLst>
          </p:cNvPr>
          <p:cNvSpPr>
            <a:spLocks xmlns:a="http://schemas.openxmlformats.org/drawingml/2006/main" noGrp="1"/>
          </p:cNvSpPr>
          <p:nvPr/>
        </p:nvSpPr>
        <p:spPr>
          <a:xfrm xmlns:a="http://schemas.openxmlformats.org/drawingml/2006/main">
            <a:off x="7105650" y="1533525"/>
            <a:ext cx="4429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AB06A"/>
                </a:solidFill>
                <a:latin typeface="Arial"/>
                <a:ea typeface="Arial"/>
                <a:cs typeface="Arial"/>
              </a:defRPr>
            </a:defPPr>
          </a:lstStyle>
          <a:p xmlns:a="http://schemas.openxmlformats.org/drawingml/2006/main">
            <a:pPr>
              <a:defRPr sz="1950" b="1">
                <a:solidFill>
                  <a:srgbClr val="CAB06A"/>
                </a:solidFill>
                <a:latin typeface="Arial"/>
                <a:ea typeface="Arial"/>
                <a:cs typeface="Arial"/>
              </a:defRPr>
            </a:pPr>
            <a:r>
              <a:rPr sz="1950" b="1">
                <a:solidFill>
                  <a:srgbClr val="CAB06A"/>
                </a:solidFill>
                <a:latin typeface="Arial"/>
                <a:ea typeface="Arial"/>
                <a:cs typeface="Arial"/>
              </a:rPr>
              <a:t>PROPOSED PRODUCTION APPROACH</a:t>
            </a:r>
          </a:p>
        </p:txBody>
      </p:sp>
      <p:sp>
        <p:nvSpPr>
          <p:cNvPr id="6" name="">
            <a:extLst xmlns:a="http://schemas.openxmlformats.org/drawingml/2006/main">
              <a:ext uri="{FF2B5EF4-FFF2-40B4-BE49-F238E27FC236}">
                <a16:creationId xmlns:a16="http://schemas.microsoft.com/office/drawing/2014/main" id="{8BB71333-D279-4B9B-AE07-E98F8D70C334}"/>
              </a:ext>
            </a:extLst>
          </p:cNvPr>
          <p:cNvSpPr>
            <a:spLocks xmlns:a="http://schemas.openxmlformats.org/drawingml/2006/main" noGrp="1"/>
          </p:cNvSpPr>
          <p:nvPr/>
        </p:nvSpPr>
        <p:spPr>
          <a:xfrm xmlns:a="http://schemas.openxmlformats.org/drawingml/2006/main">
            <a:off x="7105650" y="2381250"/>
            <a:ext cx="43624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0E7"/>
                </a:solidFill>
                <a:latin typeface="Arial"/>
                <a:ea typeface="Arial"/>
                <a:cs typeface="Arial"/>
              </a:defRPr>
            </a:defPPr>
          </a:lstStyle>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Atlanta locations</a:t>
            </a:r>
          </a:p>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A recurring core ensemble</a:t>
            </a:r>
          </a:p>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Reusable apartment and office interiors</a:t>
            </a:r>
          </a:p>
          <a:p xmlns:a="http://schemas.openxmlformats.org/drawingml/2006/main">
            <a:pPr>
              <a:defRPr sz="2025" b="0">
                <a:solidFill>
                  <a:srgbClr val="F4F0E7"/>
                </a:solidFill>
                <a:latin typeface="Arial"/>
                <a:ea typeface="Arial"/>
                <a:cs typeface="Arial"/>
              </a:defRPr>
            </a:pPr>
            <a:r>
              <a:rPr sz="2025" b="0">
                <a:solidFill>
                  <a:srgbClr val="F4F0E7"/>
                </a:solidFill>
                <a:latin typeface="Arial"/>
                <a:ea typeface="Arial"/>
                <a:cs typeface="Arial"/>
              </a:rPr>
              <a:t>Selective bridge and mountain exteriors</a:t>
            </a:r>
          </a:p>
        </p:txBody>
      </p:sp>
      <p:sp>
        <p:nvSpPr>
          <p:cNvPr id="7" name="">
            <a:extLst xmlns:a="http://schemas.openxmlformats.org/drawingml/2006/main">
              <a:ext uri="{FF2B5EF4-FFF2-40B4-BE49-F238E27FC236}">
                <a16:creationId xmlns:a16="http://schemas.microsoft.com/office/drawing/2014/main" id="{C7D2A89E-2E28-482D-B538-C5DEBEC46C70}"/>
              </a:ext>
            </a:extLst>
          </p:cNvPr>
          <p:cNvSpPr>
            <a:spLocks xmlns:a="http://schemas.openxmlformats.org/drawingml/2006/main" noGrp="1"/>
          </p:cNvSpPr>
          <p:nvPr/>
        </p:nvSpPr>
        <p:spPr>
          <a:xfrm xmlns:a="http://schemas.openxmlformats.org/drawingml/2006/main">
            <a:off x="609600" y="524827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4F0E7"/>
                </a:solidFill>
                <a:latin typeface="Arial"/>
                <a:ea typeface="Arial"/>
                <a:cs typeface="Arial"/>
              </a:defRPr>
            </a:defPPr>
          </a:lstStyle>
          <a:p xmlns:a="http://schemas.openxmlformats.org/drawingml/2006/main">
            <a:pPr>
              <a:defRPr sz="1950" b="0">
                <a:solidFill>
                  <a:srgbClr val="F4F0E7"/>
                </a:solidFill>
                <a:latin typeface="Arial"/>
                <a:ea typeface="Arial"/>
                <a:cs typeface="Arial"/>
              </a:defRPr>
            </a:pPr>
            <a:r>
              <a:rPr sz="1950" b="0">
                <a:solidFill>
                  <a:srgbClr val="F4F0E7"/>
                </a:solidFill>
                <a:latin typeface="Arial"/>
                <a:ea typeface="Arial"/>
                <a:cs typeface="Arial"/>
              </a:rPr>
              <a:t>K.R. Tenney</a:t>
            </a:r>
          </a:p>
          <a:p xmlns:a="http://schemas.openxmlformats.org/drawingml/2006/main">
            <a:pPr>
              <a:defRPr sz="1950" b="0">
                <a:solidFill>
                  <a:srgbClr val="F4F0E7"/>
                </a:solidFill>
                <a:latin typeface="Arial"/>
                <a:ea typeface="Arial"/>
                <a:cs typeface="Arial"/>
              </a:defRPr>
            </a:pPr>
            <a:r>
              <a:rPr sz="1950" b="0">
                <a:solidFill>
                  <a:srgbClr val="F4F0E7"/>
                </a:solidFill>
                <a:latin typeface="Arial"/>
                <a:ea typeface="Arial"/>
                <a:cs typeface="Arial"/>
              </a:rPr>
              <a:t>NCCA Entertainment Inc.</a:t>
            </a:r>
          </a:p>
          <a:p xmlns:a="http://schemas.openxmlformats.org/drawingml/2006/main">
            <a:pPr>
              <a:defRPr sz="1950" b="0">
                <a:solidFill>
                  <a:srgbClr val="F4F0E7"/>
                </a:solidFill>
                <a:latin typeface="Arial"/>
                <a:ea typeface="Arial"/>
                <a:cs typeface="Arial"/>
              </a:defRPr>
            </a:pPr>
            <a:r>
              <a:rPr sz="1950" b="0">
                <a:solidFill>
                  <a:srgbClr val="F4F0E7"/>
                </a:solidFill>
                <a:latin typeface="Arial"/>
                <a:ea typeface="Arial"/>
                <a:cs typeface="Arial"/>
              </a:rPr>
              <a:t>contact@nccaentertainment.com</a:t>
            </a:r>
          </a:p>
        </p:txBody>
      </p:sp>
    </p:spTree>
    <p:extLst>
      <p:ext uri="{BB962C8B-B14F-4D97-AF65-F5344CB8AC3E}">
        <p14:creationId xmlns:p14="http://schemas.microsoft.com/office/powerpoint/2010/main" val="20403671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2026-10-14T11:54:55.2800000Z</dcterms:created>
  <dcterms:modified xsi:type="dcterms:W3CDTF">2026-10-14T11:54:55.2800000Z</dcterms:modified>
</coreProperties>
</file>