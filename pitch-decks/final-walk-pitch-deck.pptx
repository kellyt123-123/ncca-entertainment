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247db998a648c1" /><Relationship Type="http://schemas.openxmlformats.org/officeDocument/2006/relationships/extended-properties" Target="/docProps/app.xml" Id="R0677fd9723cc4e5b" /><Relationship Type="http://schemas.openxmlformats.org/officeDocument/2006/relationships/officeDocument" Target="/ppt/presentation.xml" Id="Rf791fd45f3d94fd5" /></Relationships>
</file>

<file path=ppt/presentation.xml><?xml version="1.0" encoding="utf-8"?>
<p:presentation xmlns:p="http://schemas.openxmlformats.org/presentationml/2006/main">
  <p:sldMasterIdLst>
    <p:sldMasterId xmlns:r="http://schemas.openxmlformats.org/officeDocument/2006/relationships" id="2147483648" r:id="Rd837e063a20a4c33"/>
  </p:sldMasterIdLst>
  <p:notesMasterIdLst>
    <p:notesMasterId xmlns:r="http://schemas.openxmlformats.org/officeDocument/2006/relationships" r:id="Rad0079386df444e7"/>
  </p:notesMasterIdLst>
  <p:sldIdLst>
    <p:sldId xmlns:r="http://schemas.openxmlformats.org/officeDocument/2006/relationships" id="256" r:id="R2f86fbcd6ba94928"/>
    <p:sldId xmlns:r="http://schemas.openxmlformats.org/officeDocument/2006/relationships" id="257" r:id="Rb28a367a42e049a2"/>
    <p:sldId xmlns:r="http://schemas.openxmlformats.org/officeDocument/2006/relationships" id="258" r:id="R930a68ceb9104393"/>
    <p:sldId xmlns:r="http://schemas.openxmlformats.org/officeDocument/2006/relationships" id="259" r:id="Rb7b3b575d4c04349"/>
    <p:sldId xmlns:r="http://schemas.openxmlformats.org/officeDocument/2006/relationships" id="260" r:id="Rded0a61a40b5461e"/>
    <p:sldId xmlns:r="http://schemas.openxmlformats.org/officeDocument/2006/relationships" id="261" r:id="R7330be15348246ac"/>
    <p:sldId xmlns:r="http://schemas.openxmlformats.org/officeDocument/2006/relationships" id="262" r:id="R0a8a2ce2309644af"/>
    <p:sldId xmlns:r="http://schemas.openxmlformats.org/officeDocument/2006/relationships" id="263" r:id="R1bb04221202c4f38"/>
    <p:sldId xmlns:r="http://schemas.openxmlformats.org/officeDocument/2006/relationships" id="264" r:id="R09fb4da55b624031"/>
    <p:sldId xmlns:r="http://schemas.openxmlformats.org/officeDocument/2006/relationships" id="265" r:id="Rd58c54b13c934989"/>
    <p:sldId xmlns:r="http://schemas.openxmlformats.org/officeDocument/2006/relationships" id="266" r:id="R1e59fce89e194eed"/>
    <p:sldId xmlns:r="http://schemas.openxmlformats.org/officeDocument/2006/relationships" id="267" r:id="R2131b27a40974d6c"/>
    <p:sldId xmlns:r="http://schemas.openxmlformats.org/officeDocument/2006/relationships" id="268" r:id="Ra58901497a1743d5"/>
    <p:sldId xmlns:r="http://schemas.openxmlformats.org/officeDocument/2006/relationships" id="269" r:id="R368dead84cab46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ede9260e6b408b" /><Relationship Type="http://schemas.openxmlformats.org/officeDocument/2006/relationships/slideMaster" Target="/ppt/slideMasters/slideMaster1.xml" Id="Rd837e063a20a4c33" /><Relationship Type="http://schemas.openxmlformats.org/officeDocument/2006/relationships/notesMaster" Target="/ppt/notesMasters/notesMaster1.xml" Id="Rad0079386df444e7" /><Relationship Type="http://schemas.openxmlformats.org/officeDocument/2006/relationships/presProps" Target="/ppt/presProps.xml" Id="R23ab9443be9a4108" /><Relationship Type="http://schemas.openxmlformats.org/officeDocument/2006/relationships/tableStyles" Target="/ppt/tableStyles.xml" Id="R833b4007ecd34ba6" /><Relationship Type="http://schemas.openxmlformats.org/officeDocument/2006/relationships/slide" Target="/ppt/slides/slide1.xml" Id="R2f86fbcd6ba94928" /><Relationship Type="http://schemas.openxmlformats.org/officeDocument/2006/relationships/slide" Target="/ppt/slides/slide2.xml" Id="Rb28a367a42e049a2" /><Relationship Type="http://schemas.openxmlformats.org/officeDocument/2006/relationships/slide" Target="/ppt/slides/slide3.xml" Id="R930a68ceb9104393" /><Relationship Type="http://schemas.openxmlformats.org/officeDocument/2006/relationships/slide" Target="/ppt/slides/slide4.xml" Id="Rb7b3b575d4c04349" /><Relationship Type="http://schemas.openxmlformats.org/officeDocument/2006/relationships/slide" Target="/ppt/slides/slide5.xml" Id="Rded0a61a40b5461e" /><Relationship Type="http://schemas.openxmlformats.org/officeDocument/2006/relationships/slide" Target="/ppt/slides/slide6.xml" Id="R7330be15348246ac" /><Relationship Type="http://schemas.openxmlformats.org/officeDocument/2006/relationships/slide" Target="/ppt/slides/slide7.xml" Id="R0a8a2ce2309644af" /><Relationship Type="http://schemas.openxmlformats.org/officeDocument/2006/relationships/slide" Target="/ppt/slides/slide8.xml" Id="R1bb04221202c4f38" /><Relationship Type="http://schemas.openxmlformats.org/officeDocument/2006/relationships/slide" Target="/ppt/slides/slide9.xml" Id="R09fb4da55b624031" /><Relationship Type="http://schemas.openxmlformats.org/officeDocument/2006/relationships/slide" Target="/ppt/slides/slide10.xml" Id="Rd58c54b13c934989" /><Relationship Type="http://schemas.openxmlformats.org/officeDocument/2006/relationships/slide" Target="/ppt/slides/slide11.xml" Id="R1e59fce89e194eed" /><Relationship Type="http://schemas.openxmlformats.org/officeDocument/2006/relationships/slide" Target="/ppt/slides/slide12.xml" Id="R2131b27a40974d6c" /><Relationship Type="http://schemas.openxmlformats.org/officeDocument/2006/relationships/slide" Target="/ppt/slides/slide13.xml" Id="Ra58901497a1743d5" /><Relationship Type="http://schemas.openxmlformats.org/officeDocument/2006/relationships/slide" Target="/ppt/slides/slide14.xml" Id="R368dead84cab46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077da5bb8d45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23d8f3e00a4f76" /><Relationship Type="http://schemas.openxmlformats.org/officeDocument/2006/relationships/notesMaster" Target="/ppt/notesMasters/notesMaster1.xml" Id="R725bcfdcb77149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e7c44c5fa243a8" /><Relationship Type="http://schemas.openxmlformats.org/officeDocument/2006/relationships/notesMaster" Target="/ppt/notesMasters/notesMaster1.xml" Id="R68c83573dc654e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0bf7cd8907494f" /><Relationship Type="http://schemas.openxmlformats.org/officeDocument/2006/relationships/notesMaster" Target="/ppt/notesMasters/notesMaster1.xml" Id="Re6304fc313f746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bd3562e454430d" /><Relationship Type="http://schemas.openxmlformats.org/officeDocument/2006/relationships/notesMaster" Target="/ppt/notesMasters/notesMaster1.xml" Id="R78be4f16a8b140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5a8eb976dc4776" /><Relationship Type="http://schemas.openxmlformats.org/officeDocument/2006/relationships/notesMaster" Target="/ppt/notesMasters/notesMaster1.xml" Id="Rb47fefe4a02649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aaaa8a1e724d7e" /><Relationship Type="http://schemas.openxmlformats.org/officeDocument/2006/relationships/notesMaster" Target="/ppt/notesMasters/notesMaster1.xml" Id="R0e8a5478efec40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f0b47ad58f400c" /><Relationship Type="http://schemas.openxmlformats.org/officeDocument/2006/relationships/notesMaster" Target="/ppt/notesMasters/notesMaster1.xml" Id="Ra5d6c3aa10644d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36041901c94e70" /><Relationship Type="http://schemas.openxmlformats.org/officeDocument/2006/relationships/notesMaster" Target="/ppt/notesMasters/notesMaster1.xml" Id="Rf669cf26c4ac48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e3cdc00e2f47e8" /><Relationship Type="http://schemas.openxmlformats.org/officeDocument/2006/relationships/notesMaster" Target="/ppt/notesMasters/notesMaster1.xml" Id="R0cd672e5ccd440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a5067bdfcc4c9b" /><Relationship Type="http://schemas.openxmlformats.org/officeDocument/2006/relationships/notesMaster" Target="/ppt/notesMasters/notesMaster1.xml" Id="R52a699010dd546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b09b48d15745b5" /><Relationship Type="http://schemas.openxmlformats.org/officeDocument/2006/relationships/notesMaster" Target="/ppt/notesMasters/notesMaster1.xml" Id="Rcd9976d5f2cb4c3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4b977bb3cc4575" /><Relationship Type="http://schemas.openxmlformats.org/officeDocument/2006/relationships/notesMaster" Target="/ppt/notesMasters/notesMaster1.xml" Id="R1d0cfcacc4b64a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0701644ac2411a" /><Relationship Type="http://schemas.openxmlformats.org/officeDocument/2006/relationships/notesMaster" Target="/ppt/notesMasters/notesMaster1.xml" Id="Rcafe294cce9547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76de1d638884e54" /><Relationship Type="http://schemas.openxmlformats.org/officeDocument/2006/relationships/notesMaster" Target="/ppt/notesMasters/notesMaster1.xml" Id="Rbc52044779164c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Poster: Final Walk  Poster A.png supplied by the producer. Artwork is a raster concept image. Depicted performers are not confirmed cast. Written by Kelly R. Tenney. NCCA Entertainment.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Final Walk One-Pager.pdf, page 1, supplied by the producer. Source facts are summarized on the slides. Slides labeled proposed contain creative pitch interpretation. Casting suggestions are unconfirmed. Netflix and Asian theatrical are source targets,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Final Walk One-Pager.pdf, page 1, supplied by the producer. Source facts are summarized on the slides. Slides labeled proposed contain creative pitch interpretation. Casting suggestions are unconfirmed. Netflix and Asian theatrical are source targets,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Final Walk One-Pager.pdf, page 1, supplied by the producer. Source facts are summarized on the slides. Slides labeled proposed contain creative pitch interpretation. Casting suggestions are unconfirmed. Netflix and Asian theatrical are source targets,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Final Walk One-Pager.pdf, page 1, supplied by the producer. Source facts are summarized on the slides. Slides labeled proposed contain creative pitch interpretation. Casting suggestions are unconfirmed. Netflix and Asian theatrical are source targets,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Final Walk One-Pager.pdf, page 1, supplied by the producer. Source facts are summarized on the slides. Slides labeled proposed contain creative pitch interpretation. Casting suggestions are unconfirmed. Netflix and Asian theatrical are source targets,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Final Walk One-Pager.pdf, page 1, supplied by the producer. Source facts are summarized on the slides. Slides labeled proposed contain creative pitch interpretation. Casting suggestions are unconfirmed. Netflix and Asian theatrical are source targets,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Final Walk One-Pager.pdf, page 1, supplied by the producer. Source facts are summarized on the slides. Slides labeled proposed contain creative pitch interpretation. Casting suggestions are unconfirmed. Netflix and Asian theatrical are source targets,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Final Walk One-Pager.pdf, page 1, supplied by the producer. Source facts are summarized on the slides. Slides labeled proposed contain creative pitch interpretation. Casting suggestions are unconfirmed. Netflix and Asian theatrical are source targets,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Final Walk One-Pager.pdf, page 1, supplied by the producer. Source facts are summarized on the slides. Slides labeled proposed contain creative pitch interpretation. Casting suggestions are unconfirmed. Netflix and Asian theatrical are source targets,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Final Walk One-Pager.pdf, page 1, supplied by the producer. Source facts are summarized on the slides. Slides labeled proposed contain creative pitch interpretation. Casting suggestions are unconfirmed. Netflix and Asian theatrical are source targets,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Final Walk One-Pager.pdf, page 1, supplied by the producer. Source facts are summarized on the slides. Slides labeled proposed contain creative pitch interpretation. Casting suggestions are unconfirmed. Netflix and Asian theatrical are source targets,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Final Walk One-Pager.pdf, page 1, supplied by the producer. Source facts are summarized on the slides. Slides labeled proposed contain creative pitch interpretation. Casting suggestions are unconfirmed. Netflix and Asian theatrical are source targets,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Final Walk One-Pager.pdf, page 1, supplied by the producer. Source facts are summarized on the slides. Slides labeled proposed contain creative pitch interpretation. Casting suggestions are unconfirmed. Netflix and Asian theatrical are source targets, not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a1064951ac4a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c522ee0b5542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81fdf82d4f43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b665f80fde4e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3e816d2f42421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1908b33e1224e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A8B726-FC24-40EB-A091-BBA8F0A87C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C45D1F3-5278-4266-AB40-0D776573BE8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8002059-36E0-4EA9-B224-0C08CE1C0FC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0A4FE7-BBA7-49D1-8A8C-2CE595A9ED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43290EF-B0F5-4920-8D7C-A9C1C5048F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5F4F7E3-DF2E-44CF-9DDC-E2B7AB0455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CAAB80-185A-4983-B1E6-10A36259BE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2672591-555A-4836-8E6E-434370781BA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8C5EAF-8B15-451C-9009-1B68C81D4D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2E1E5E-F407-4AE8-915C-7F6185F0DA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594262ae3946d2" /><Relationship Type="http://schemas.openxmlformats.org/officeDocument/2006/relationships/slideLayout" Target="/ppt/slideLayouts/slideLayout1.xml" Id="R0c881ffa27d2403a" /><Relationship Type="http://schemas.openxmlformats.org/officeDocument/2006/relationships/slideLayout" Target="/ppt/slideLayouts/slideLayout2.xml" Id="Rb17c349f5ca74339" /><Relationship Type="http://schemas.openxmlformats.org/officeDocument/2006/relationships/slideLayout" Target="/ppt/slideLayouts/slideLayout3.xml" Id="R8985823c2b26424c" /><Relationship Type="http://schemas.openxmlformats.org/officeDocument/2006/relationships/slideLayout" Target="/ppt/slideLayouts/slideLayout4.xml" Id="R31ba046927684ed2" /><Relationship Type="http://schemas.openxmlformats.org/officeDocument/2006/relationships/slideLayout" Target="/ppt/slideLayouts/slideLayout5.xml" Id="R1ab303c7c7774ee3" /><Relationship Type="http://schemas.openxmlformats.org/officeDocument/2006/relationships/slideLayout" Target="/ppt/slideLayouts/slideLayout6.xml" Id="R749de7c08bff47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881ffa27d2403a"/>
    <p:sldLayoutId xmlns:r="http://schemas.openxmlformats.org/officeDocument/2006/relationships" id="2147483650" r:id="Rb17c349f5ca74339"/>
    <p:sldLayoutId xmlns:r="http://schemas.openxmlformats.org/officeDocument/2006/relationships" id="2147483651" r:id="R8985823c2b26424c"/>
    <p:sldLayoutId xmlns:r="http://schemas.openxmlformats.org/officeDocument/2006/relationships" id="2147483652" r:id="R31ba046927684ed2"/>
    <p:sldLayoutId xmlns:r="http://schemas.openxmlformats.org/officeDocument/2006/relationships" id="2147483653" r:id="R1ab303c7c7774ee3"/>
    <p:sldLayoutId xmlns:r="http://schemas.openxmlformats.org/officeDocument/2006/relationships" id="2147483654" r:id="R749de7c08bff47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c716b1f06a94fd6" /><Relationship Type="http://schemas.openxmlformats.org/officeDocument/2006/relationships/image" Target="/ppt/media/image.png" Id="R09568093c0a54fdc" /><Relationship Type="http://schemas.openxmlformats.org/officeDocument/2006/relationships/notesSlide" Target="/ppt/notesSlides/notesSlide1.xml" Id="R650a1cb14e044a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a178861690e422e" /><Relationship Type="http://schemas.openxmlformats.org/officeDocument/2006/relationships/notesSlide" Target="/ppt/notesSlides/notesSlide2.xml" Id="Ra291260138dd43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b916bb1c9584741" /><Relationship Type="http://schemas.openxmlformats.org/officeDocument/2006/relationships/notesSlide" Target="/ppt/notesSlides/notesSlide3.xml" Id="Rda77b5e4886a4a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d45e42dcdb4c55" /><Relationship Type="http://schemas.openxmlformats.org/officeDocument/2006/relationships/notesSlide" Target="/ppt/notesSlides/notesSlide4.xml" Id="R452f0874f5dc4b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e82f9ae1b534af5" /><Relationship Type="http://schemas.openxmlformats.org/officeDocument/2006/relationships/notesSlide" Target="/ppt/notesSlides/notesSlide5.xml" Id="Rccb12f999d6249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6154fa280174bc8" /><Relationship Type="http://schemas.openxmlformats.org/officeDocument/2006/relationships/notesSlide" Target="/ppt/notesSlides/notesSlide6.xml" Id="R51182166a1a348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980dd882392483b" /><Relationship Type="http://schemas.openxmlformats.org/officeDocument/2006/relationships/notesSlide" Target="/ppt/notesSlides/notesSlide7.xml" Id="Rd6748558285944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4ef40a46a84d2e" /><Relationship Type="http://schemas.openxmlformats.org/officeDocument/2006/relationships/notesSlide" Target="/ppt/notesSlides/notesSlide8.xml" Id="Ra985fbf9cb664f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083457cc378484c" /><Relationship Type="http://schemas.openxmlformats.org/officeDocument/2006/relationships/notesSlide" Target="/ppt/notesSlides/notesSlide9.xml" Id="R0e4effff1ded47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ba9df036aec456d" /><Relationship Type="http://schemas.openxmlformats.org/officeDocument/2006/relationships/notesSlide" Target="/ppt/notesSlides/notesSlide10.xml" Id="Rb346d99445e2477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575288838dc4b2d" /><Relationship Type="http://schemas.openxmlformats.org/officeDocument/2006/relationships/notesSlide" Target="/ppt/notesSlides/notesSlide11.xml" Id="Raca9b5c6860146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3099b1d4e724c94" /><Relationship Type="http://schemas.openxmlformats.org/officeDocument/2006/relationships/notesSlide" Target="/ppt/notesSlides/notesSlide12.xml" Id="Re2b75df0cc6b4ca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cc61437e90d4b85" /><Relationship Type="http://schemas.openxmlformats.org/officeDocument/2006/relationships/notesSlide" Target="/ppt/notesSlides/notesSlide13.xml" Id="R27801daa7a6542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b69dcd3c94042e1" /><Relationship Type="http://schemas.openxmlformats.org/officeDocument/2006/relationships/notesSlide" Target="/ppt/notesSlides/notesSlide14.xml" Id="Rbd092f66859545b6" /></Relationships>
</file>

<file path=ppt/slides/slide1.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4519391B-D907-44A2-9BA5-49162B8DF841}"/>
              </a:ext>
            </a:extLst>
          </p:cNvPr>
          <p:cNvPicPr>
            <a:picLocks xmlns:a="http://schemas.openxmlformats.org/drawingml/2006/main" noChangeAspect="1"/>
          </p:cNvPicPr>
          <p:nvPr/>
        </p:nvPicPr>
        <p:blipFill>
          <a:blip xmlns:r="http://schemas.openxmlformats.org/officeDocument/2006/relationships" xmlns:a="http://schemas.openxmlformats.org/drawingml/2006/main" r:embed="R09568093c0a54fdc"/>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AA31EA0-BC52-488E-8149-EFAC28D4F39C}"/>
              </a:ext>
            </a:extLst>
          </p:cNvPr>
          <p:cNvSpPr>
            <a:spLocks xmlns:a="http://schemas.openxmlformats.org/drawingml/2006/main" noGrp="1"/>
          </p:cNvSpPr>
          <p:nvPr/>
        </p:nvSpPr>
        <p:spPr>
          <a:xfrm xmlns:a="http://schemas.openxmlformats.org/drawingml/2006/main">
            <a:off x="266700" y="190500"/>
            <a:ext cx="381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C4A548"/>
                </a:solidFill>
                <a:latin typeface="Arial"/>
                <a:ea typeface="Arial"/>
                <a:cs typeface="Arial"/>
              </a:defRPr>
            </a:defPPr>
          </a:lstStyle>
          <a:p xmlns:a="http://schemas.openxmlformats.org/drawingml/2006/main">
            <a:pPr>
              <a:defRPr sz="1200" b="0">
                <a:solidFill>
                  <a:srgbClr val="C4A548"/>
                </a:solidFill>
                <a:latin typeface="Arial"/>
                <a:ea typeface="Arial"/>
                <a:cs typeface="Arial"/>
              </a:defRPr>
            </a:pPr>
            <a:r>
              <a:rPr sz="1200" b="0">
                <a:solidFill>
                  <a:srgbClr val="C4A548"/>
                </a:solidFill>
                <a:latin typeface="Arial"/>
                <a:ea typeface="Arial"/>
                <a:cs typeface="Arial"/>
              </a:rPr>
              <a:t>NCCA ENTERTAINMENT</a:t>
            </a:r>
          </a:p>
        </p:txBody>
      </p:sp>
    </p:spTree>
    <p:extLst>
      <p:ext uri="{BB962C8B-B14F-4D97-AF65-F5344CB8AC3E}">
        <p14:creationId xmlns:p14="http://schemas.microsoft.com/office/powerpoint/2010/main" val="1207593047"/>
      </p:ext>
    </p:extLst>
  </p:cSld>
</p:sld>
</file>

<file path=ppt/slides/slide2.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70B853-E17F-4C6D-A3A9-CC39A525BAD4}"/>
              </a:ext>
            </a:extLst>
          </p:cNvPr>
          <p:cNvSpPr>
            <a:spLocks xmlns:a="http://schemas.openxmlformats.org/drawingml/2006/main" noGrp="1"/>
          </p:cNvSpPr>
          <p:nvPr/>
        </p:nvSpPr>
        <p:spPr>
          <a:xfrm xmlns:a="http://schemas.openxmlformats.org/drawingml/2006/main">
            <a:off x="609600" y="30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4A548"/>
                </a:solidFill>
                <a:latin typeface="Arial"/>
                <a:ea typeface="Arial"/>
                <a:cs typeface="Arial"/>
              </a:defRPr>
            </a:defPPr>
          </a:lstStyle>
          <a:p xmlns:a="http://schemas.openxmlformats.org/drawingml/2006/main">
            <a:pPr>
              <a:defRPr sz="1275" b="0">
                <a:solidFill>
                  <a:srgbClr val="C4A548"/>
                </a:solidFill>
                <a:latin typeface="Arial"/>
                <a:ea typeface="Arial"/>
                <a:cs typeface="Arial"/>
              </a:defRPr>
            </a:pPr>
            <a:r>
              <a:rPr sz="1275" b="0">
                <a:solidFill>
                  <a:srgbClr val="C4A548"/>
                </a:solidFill>
                <a:latin typeface="Arial"/>
                <a:ea typeface="Arial"/>
                <a:cs typeface="Arial"/>
              </a:rPr>
              <a:t>NCCA ENTERTAINMENT</a:t>
            </a:r>
          </a:p>
        </p:txBody>
      </p:sp>
      <p:sp>
        <p:nvSpPr>
          <p:cNvPr id="2" name="">
            <a:extLst xmlns:a="http://schemas.openxmlformats.org/drawingml/2006/main">
              <a:ext uri="{FF2B5EF4-FFF2-40B4-BE49-F238E27FC236}">
                <a16:creationId xmlns:a16="http://schemas.microsoft.com/office/drawing/2014/main" id="{A1B1FF67-8A51-43D8-B41A-3F7708A502E3}"/>
              </a:ext>
            </a:extLst>
          </p:cNvPr>
          <p:cNvSpPr>
            <a:spLocks xmlns:a="http://schemas.openxmlformats.org/drawingml/2006/main" noGrp="1"/>
          </p:cNvSpPr>
          <p:nvPr/>
        </p:nvSpPr>
        <p:spPr>
          <a:xfrm xmlns:a="http://schemas.openxmlformats.org/drawingml/2006/main">
            <a:off x="609600" y="9429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Logline</a:t>
            </a:r>
          </a:p>
        </p:txBody>
      </p:sp>
      <p:sp>
        <p:nvSpPr>
          <p:cNvPr id="3" name="">
            <a:extLst xmlns:a="http://schemas.openxmlformats.org/drawingml/2006/main">
              <a:ext uri="{FF2B5EF4-FFF2-40B4-BE49-F238E27FC236}">
                <a16:creationId xmlns:a16="http://schemas.microsoft.com/office/drawing/2014/main" id="{2CD3ED16-6391-40CF-A200-7AC6B2B9383D}"/>
              </a:ext>
            </a:extLst>
          </p:cNvPr>
          <p:cNvSpPr>
            <a:spLocks xmlns:a="http://schemas.openxmlformats.org/drawingml/2006/main" noGrp="1"/>
          </p:cNvSpPr>
          <p:nvPr/>
        </p:nvSpPr>
        <p:spPr>
          <a:xfrm xmlns:a="http://schemas.openxmlformats.org/drawingml/2006/main">
            <a:off x="6096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5B1A8"/>
                </a:solidFill>
                <a:latin typeface="Arial"/>
                <a:ea typeface="Arial"/>
                <a:cs typeface="Arial"/>
              </a:defRPr>
            </a:defPPr>
          </a:lstStyle>
          <a:p xmlns:a="http://schemas.openxmlformats.org/drawingml/2006/main">
            <a:pPr>
              <a:defRPr sz="1050" b="0">
                <a:solidFill>
                  <a:srgbClr val="B5B1A8"/>
                </a:solidFill>
                <a:latin typeface="Arial"/>
                <a:ea typeface="Arial"/>
                <a:cs typeface="Arial"/>
              </a:defRPr>
            </a:pPr>
            <a:r>
              <a:rPr sz="1050" b="0">
                <a:solidFill>
                  <a:srgbClr val="B5B1A8"/>
                </a:solidFill>
                <a:latin typeface="Arial"/>
                <a:ea typeface="Arial"/>
                <a:cs typeface="Arial"/>
              </a:rPr>
              <a:t>SOURCE: FINAL WALK ONE-PAGER</a:t>
            </a:r>
          </a:p>
        </p:txBody>
      </p:sp>
      <p:sp>
        <p:nvSpPr>
          <p:cNvPr id="4" name="">
            <a:extLst xmlns:a="http://schemas.openxmlformats.org/drawingml/2006/main">
              <a:ext uri="{FF2B5EF4-FFF2-40B4-BE49-F238E27FC236}">
                <a16:creationId xmlns:a16="http://schemas.microsoft.com/office/drawing/2014/main" id="{6052BC0F-73FB-4E72-A5E8-490827028105}"/>
              </a:ext>
            </a:extLst>
          </p:cNvPr>
          <p:cNvSpPr>
            <a:spLocks xmlns:a="http://schemas.openxmlformats.org/drawingml/2006/main" noGrp="1"/>
          </p:cNvSpPr>
          <p:nvPr/>
        </p:nvSpPr>
        <p:spPr>
          <a:xfrm xmlns:a="http://schemas.openxmlformats.org/drawingml/2006/main">
            <a:off x="11049000"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4A548"/>
                </a:solidFill>
                <a:latin typeface="Arial"/>
                <a:ea typeface="Arial"/>
                <a:cs typeface="Arial"/>
              </a:defRPr>
            </a:defPPr>
          </a:lstStyle>
          <a:p xmlns:a="http://schemas.openxmlformats.org/drawingml/2006/main">
            <a:pPr>
              <a:defRPr sz="1050" b="0">
                <a:solidFill>
                  <a:srgbClr val="C4A548"/>
                </a:solidFill>
                <a:latin typeface="Arial"/>
                <a:ea typeface="Arial"/>
                <a:cs typeface="Arial"/>
              </a:defRPr>
            </a:pPr>
            <a:r>
              <a:rPr sz="1050" b="0">
                <a:solidFill>
                  <a:srgbClr val="C4A548"/>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8E44C74-FE6E-4816-B945-142F9BDD1AAC}"/>
              </a:ext>
            </a:extLst>
          </p:cNvPr>
          <p:cNvSpPr>
            <a:spLocks xmlns:a="http://schemas.openxmlformats.org/drawingml/2006/main" noGrp="1"/>
          </p:cNvSpPr>
          <p:nvPr/>
        </p:nvSpPr>
        <p:spPr>
          <a:xfrm xmlns:a="http://schemas.openxmlformats.org/drawingml/2006/main">
            <a:off x="609600" y="2209800"/>
            <a:ext cx="10668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F4F1E9"/>
                </a:solidFill>
                <a:latin typeface="Georgia"/>
                <a:ea typeface="Georgia"/>
                <a:cs typeface="Georgia"/>
              </a:defRPr>
            </a:defPPr>
          </a:lstStyle>
          <a:p xmlns:a="http://schemas.openxmlformats.org/drawingml/2006/main">
            <a:pPr>
              <a:defRPr sz="3225" b="0">
                <a:solidFill>
                  <a:srgbClr val="F4F1E9"/>
                </a:solidFill>
                <a:latin typeface="Georgia"/>
                <a:ea typeface="Georgia"/>
                <a:cs typeface="Georgia"/>
              </a:defRPr>
            </a:pPr>
            <a:r>
              <a:rPr sz="3225" b="0">
                <a:solidFill>
                  <a:srgbClr val="F4F1E9"/>
                </a:solidFill>
                <a:latin typeface="Georgia"/>
                <a:ea typeface="Georgia"/>
                <a:cs typeface="Georgia"/>
              </a:rPr>
              <a:t>A Korean supermodel who has spent eight years smuggling stolen cultural artifacts for an industry crime lord uses one final runway walk to expose him and reclaim herself.</a:t>
            </a:r>
          </a:p>
        </p:txBody>
      </p:sp>
    </p:spTree>
    <p:extLst>
      <p:ext uri="{BB962C8B-B14F-4D97-AF65-F5344CB8AC3E}">
        <p14:creationId xmlns:p14="http://schemas.microsoft.com/office/powerpoint/2010/main" val="911306852"/>
      </p:ext>
    </p:extLst>
  </p:cSld>
</p:sld>
</file>

<file path=ppt/slides/slide3.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A90D90-3035-4D19-89EC-80769CF12EC3}"/>
              </a:ext>
            </a:extLst>
          </p:cNvPr>
          <p:cNvSpPr>
            <a:spLocks xmlns:a="http://schemas.openxmlformats.org/drawingml/2006/main" noGrp="1"/>
          </p:cNvSpPr>
          <p:nvPr/>
        </p:nvSpPr>
        <p:spPr>
          <a:xfrm xmlns:a="http://schemas.openxmlformats.org/drawingml/2006/main">
            <a:off x="609600" y="30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4A548"/>
                </a:solidFill>
                <a:latin typeface="Arial"/>
                <a:ea typeface="Arial"/>
                <a:cs typeface="Arial"/>
              </a:defRPr>
            </a:defPPr>
          </a:lstStyle>
          <a:p xmlns:a="http://schemas.openxmlformats.org/drawingml/2006/main">
            <a:pPr>
              <a:defRPr sz="1275" b="0">
                <a:solidFill>
                  <a:srgbClr val="C4A548"/>
                </a:solidFill>
                <a:latin typeface="Arial"/>
                <a:ea typeface="Arial"/>
                <a:cs typeface="Arial"/>
              </a:defRPr>
            </a:pPr>
            <a:r>
              <a:rPr sz="1275" b="0">
                <a:solidFill>
                  <a:srgbClr val="C4A548"/>
                </a:solidFill>
                <a:latin typeface="Arial"/>
                <a:ea typeface="Arial"/>
                <a:cs typeface="Arial"/>
              </a:rPr>
              <a:t>NCCA ENTERTAINMENT</a:t>
            </a:r>
          </a:p>
        </p:txBody>
      </p:sp>
      <p:sp>
        <p:nvSpPr>
          <p:cNvPr id="2" name="">
            <a:extLst xmlns:a="http://schemas.openxmlformats.org/drawingml/2006/main">
              <a:ext uri="{FF2B5EF4-FFF2-40B4-BE49-F238E27FC236}">
                <a16:creationId xmlns:a16="http://schemas.microsoft.com/office/drawing/2014/main" id="{98F5F3CD-539F-498B-BCAE-416B080D196F}"/>
              </a:ext>
            </a:extLst>
          </p:cNvPr>
          <p:cNvSpPr>
            <a:spLocks xmlns:a="http://schemas.openxmlformats.org/drawingml/2006/main" noGrp="1"/>
          </p:cNvSpPr>
          <p:nvPr/>
        </p:nvSpPr>
        <p:spPr>
          <a:xfrm xmlns:a="http://schemas.openxmlformats.org/drawingml/2006/main">
            <a:off x="609600" y="9429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The hook</a:t>
            </a:r>
          </a:p>
        </p:txBody>
      </p:sp>
      <p:sp>
        <p:nvSpPr>
          <p:cNvPr id="3" name="">
            <a:extLst xmlns:a="http://schemas.openxmlformats.org/drawingml/2006/main">
              <a:ext uri="{FF2B5EF4-FFF2-40B4-BE49-F238E27FC236}">
                <a16:creationId xmlns:a16="http://schemas.microsoft.com/office/drawing/2014/main" id="{1B68ADAB-151C-413D-85DC-45FEFA5C1088}"/>
              </a:ext>
            </a:extLst>
          </p:cNvPr>
          <p:cNvSpPr>
            <a:spLocks xmlns:a="http://schemas.openxmlformats.org/drawingml/2006/main" noGrp="1"/>
          </p:cNvSpPr>
          <p:nvPr/>
        </p:nvSpPr>
        <p:spPr>
          <a:xfrm xmlns:a="http://schemas.openxmlformats.org/drawingml/2006/main">
            <a:off x="6096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5B1A8"/>
                </a:solidFill>
                <a:latin typeface="Arial"/>
                <a:ea typeface="Arial"/>
                <a:cs typeface="Arial"/>
              </a:defRPr>
            </a:defPPr>
          </a:lstStyle>
          <a:p xmlns:a="http://schemas.openxmlformats.org/drawingml/2006/main">
            <a:pPr>
              <a:defRPr sz="1050" b="0">
                <a:solidFill>
                  <a:srgbClr val="B5B1A8"/>
                </a:solidFill>
                <a:latin typeface="Arial"/>
                <a:ea typeface="Arial"/>
                <a:cs typeface="Arial"/>
              </a:defRPr>
            </a:pPr>
            <a:r>
              <a:rPr sz="1050" b="0">
                <a:solidFill>
                  <a:srgbClr val="B5B1A8"/>
                </a:solidFill>
                <a:latin typeface="Arial"/>
                <a:ea typeface="Arial"/>
                <a:cs typeface="Arial"/>
              </a:rPr>
              <a:t>PROPOSED CREATIVE PITCH LANGUAGE</a:t>
            </a:r>
          </a:p>
        </p:txBody>
      </p:sp>
      <p:sp>
        <p:nvSpPr>
          <p:cNvPr id="4" name="">
            <a:extLst xmlns:a="http://schemas.openxmlformats.org/drawingml/2006/main">
              <a:ext uri="{FF2B5EF4-FFF2-40B4-BE49-F238E27FC236}">
                <a16:creationId xmlns:a16="http://schemas.microsoft.com/office/drawing/2014/main" id="{118F181D-0534-465F-AFE9-9BDF63F1244B}"/>
              </a:ext>
            </a:extLst>
          </p:cNvPr>
          <p:cNvSpPr>
            <a:spLocks xmlns:a="http://schemas.openxmlformats.org/drawingml/2006/main" noGrp="1"/>
          </p:cNvSpPr>
          <p:nvPr/>
        </p:nvSpPr>
        <p:spPr>
          <a:xfrm xmlns:a="http://schemas.openxmlformats.org/drawingml/2006/main">
            <a:off x="11049000"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4A548"/>
                </a:solidFill>
                <a:latin typeface="Arial"/>
                <a:ea typeface="Arial"/>
                <a:cs typeface="Arial"/>
              </a:defRPr>
            </a:defPPr>
          </a:lstStyle>
          <a:p xmlns:a="http://schemas.openxmlformats.org/drawingml/2006/main">
            <a:pPr>
              <a:defRPr sz="1050" b="0">
                <a:solidFill>
                  <a:srgbClr val="C4A548"/>
                </a:solidFill>
                <a:latin typeface="Arial"/>
                <a:ea typeface="Arial"/>
                <a:cs typeface="Arial"/>
              </a:defRPr>
            </a:pPr>
            <a:r>
              <a:rPr sz="1050" b="0">
                <a:solidFill>
                  <a:srgbClr val="C4A548"/>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B42330E-789A-44C0-A08D-394F03C7A0C4}"/>
              </a:ext>
            </a:extLst>
          </p:cNvPr>
          <p:cNvSpPr>
            <a:spLocks xmlns:a="http://schemas.openxmlformats.org/drawingml/2006/main" noGrp="1"/>
          </p:cNvSpPr>
          <p:nvPr/>
        </p:nvSpPr>
        <p:spPr>
          <a:xfrm xmlns:a="http://schemas.openxmlformats.org/drawingml/2006/main">
            <a:off x="609600" y="2028825"/>
            <a:ext cx="10763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0">
                <a:solidFill>
                  <a:srgbClr val="F4F1E9"/>
                </a:solidFill>
                <a:latin typeface="Georgia"/>
                <a:ea typeface="Georgia"/>
                <a:cs typeface="Georgia"/>
              </a:defRPr>
            </a:defPPr>
          </a:lstStyle>
          <a:p xmlns:a="http://schemas.openxmlformats.org/drawingml/2006/main">
            <a:pPr>
              <a:defRPr sz="3975" b="0">
                <a:solidFill>
                  <a:srgbClr val="F4F1E9"/>
                </a:solidFill>
                <a:latin typeface="Georgia"/>
                <a:ea typeface="Georgia"/>
                <a:cs typeface="Georgia"/>
              </a:defRPr>
            </a:pPr>
            <a:r>
              <a:rPr sz="3975" b="0">
                <a:solidFill>
                  <a:srgbClr val="F4F1E9"/>
                </a:solidFill>
                <a:latin typeface="Georgia"/>
                <a:ea typeface="Georgia"/>
                <a:cs typeface="Georgia"/>
              </a:rPr>
              <a:t>The woman everyone watches</a:t>
            </a:r>
          </a:p>
          <a:p xmlns:a="http://schemas.openxmlformats.org/drawingml/2006/main">
            <a:pPr>
              <a:defRPr sz="3975" b="0">
                <a:solidFill>
                  <a:srgbClr val="F4F1E9"/>
                </a:solidFill>
                <a:latin typeface="Georgia"/>
                <a:ea typeface="Georgia"/>
                <a:cs typeface="Georgia"/>
              </a:defRPr>
            </a:pPr>
            <a:r>
              <a:rPr sz="3975" b="0">
                <a:solidFill>
                  <a:srgbClr val="F4F1E9"/>
                </a:solidFill>
                <a:latin typeface="Georgia"/>
                <a:ea typeface="Georgia"/>
                <a:cs typeface="Georgia"/>
              </a:rPr>
              <a:t>becomes the woman</a:t>
            </a:r>
          </a:p>
          <a:p xmlns:a="http://schemas.openxmlformats.org/drawingml/2006/main">
            <a:pPr>
              <a:defRPr sz="3975" b="0">
                <a:solidFill>
                  <a:srgbClr val="F4F1E9"/>
                </a:solidFill>
                <a:latin typeface="Georgia"/>
                <a:ea typeface="Georgia"/>
                <a:cs typeface="Georgia"/>
              </a:defRPr>
            </a:pPr>
            <a:r>
              <a:rPr sz="3975" b="0">
                <a:solidFill>
                  <a:srgbClr val="F4F1E9"/>
                </a:solidFill>
                <a:latin typeface="Georgia"/>
                <a:ea typeface="Georgia"/>
                <a:cs typeface="Georgia"/>
              </a:rPr>
              <a:t>no one can silence.</a:t>
            </a:r>
          </a:p>
        </p:txBody>
      </p:sp>
      <p:sp>
        <p:nvSpPr>
          <p:cNvPr id="6" name="">
            <a:extLst xmlns:a="http://schemas.openxmlformats.org/drawingml/2006/main">
              <a:ext uri="{FF2B5EF4-FFF2-40B4-BE49-F238E27FC236}">
                <a16:creationId xmlns:a16="http://schemas.microsoft.com/office/drawing/2014/main" id="{6772D2DF-F6DC-49D8-8C71-66C3249B100D}"/>
              </a:ext>
            </a:extLst>
          </p:cNvPr>
          <p:cNvSpPr>
            <a:spLocks xmlns:a="http://schemas.openxmlformats.org/drawingml/2006/main" noGrp="1"/>
          </p:cNvSpPr>
          <p:nvPr/>
        </p:nvSpPr>
        <p:spPr>
          <a:xfrm xmlns:a="http://schemas.openxmlformats.org/drawingml/2006/main">
            <a:off x="609600" y="4619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B5B1A8"/>
                </a:solidFill>
                <a:latin typeface="Arial"/>
                <a:ea typeface="Arial"/>
                <a:cs typeface="Arial"/>
              </a:defRPr>
            </a:defPPr>
          </a:lstStyle>
          <a:p xmlns:a="http://schemas.openxmlformats.org/drawingml/2006/main">
            <a:pPr>
              <a:defRPr sz="2175" b="0">
                <a:solidFill>
                  <a:srgbClr val="B5B1A8"/>
                </a:solidFill>
                <a:latin typeface="Arial"/>
                <a:ea typeface="Arial"/>
                <a:cs typeface="Arial"/>
              </a:defRPr>
            </a:pPr>
            <a:r>
              <a:rPr sz="2175" b="0">
                <a:solidFill>
                  <a:srgbClr val="B5B1A8"/>
                </a:solidFill>
                <a:latin typeface="Arial"/>
                <a:ea typeface="Arial"/>
                <a:cs typeface="Arial"/>
              </a:rPr>
              <a:t>A global fashion stage becomes the arena for exposing a criminal empire. Six stolen Joseon Dynasty Royal Seals hold the case that can destroy it.</a:t>
            </a:r>
          </a:p>
        </p:txBody>
      </p:sp>
    </p:spTree>
    <p:extLst>
      <p:ext uri="{BB962C8B-B14F-4D97-AF65-F5344CB8AC3E}">
        <p14:creationId xmlns:p14="http://schemas.microsoft.com/office/powerpoint/2010/main" val="67442155"/>
      </p:ext>
    </p:extLst>
  </p:cSld>
</p:sld>
</file>

<file path=ppt/slides/slide4.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F4F178-9108-401A-8883-1552EC9E4D12}"/>
              </a:ext>
            </a:extLst>
          </p:cNvPr>
          <p:cNvSpPr>
            <a:spLocks xmlns:a="http://schemas.openxmlformats.org/drawingml/2006/main" noGrp="1"/>
          </p:cNvSpPr>
          <p:nvPr/>
        </p:nvSpPr>
        <p:spPr>
          <a:xfrm xmlns:a="http://schemas.openxmlformats.org/drawingml/2006/main">
            <a:off x="609600" y="30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4A548"/>
                </a:solidFill>
                <a:latin typeface="Arial"/>
                <a:ea typeface="Arial"/>
                <a:cs typeface="Arial"/>
              </a:defRPr>
            </a:defPPr>
          </a:lstStyle>
          <a:p xmlns:a="http://schemas.openxmlformats.org/drawingml/2006/main">
            <a:pPr>
              <a:defRPr sz="1275" b="0">
                <a:solidFill>
                  <a:srgbClr val="C4A548"/>
                </a:solidFill>
                <a:latin typeface="Arial"/>
                <a:ea typeface="Arial"/>
                <a:cs typeface="Arial"/>
              </a:defRPr>
            </a:pPr>
            <a:r>
              <a:rPr sz="1275" b="0">
                <a:solidFill>
                  <a:srgbClr val="C4A548"/>
                </a:solidFill>
                <a:latin typeface="Arial"/>
                <a:ea typeface="Arial"/>
                <a:cs typeface="Arial"/>
              </a:rPr>
              <a:t>NCCA ENTERTAINMENT</a:t>
            </a:r>
          </a:p>
        </p:txBody>
      </p:sp>
      <p:sp>
        <p:nvSpPr>
          <p:cNvPr id="2" name="">
            <a:extLst xmlns:a="http://schemas.openxmlformats.org/drawingml/2006/main">
              <a:ext uri="{FF2B5EF4-FFF2-40B4-BE49-F238E27FC236}">
                <a16:creationId xmlns:a16="http://schemas.microsoft.com/office/drawing/2014/main" id="{A182AB22-C517-4F58-AC6C-8BDFD016F74D}"/>
              </a:ext>
            </a:extLst>
          </p:cNvPr>
          <p:cNvSpPr>
            <a:spLocks xmlns:a="http://schemas.openxmlformats.org/drawingml/2006/main" noGrp="1"/>
          </p:cNvSpPr>
          <p:nvPr/>
        </p:nvSpPr>
        <p:spPr>
          <a:xfrm xmlns:a="http://schemas.openxmlformats.org/drawingml/2006/main">
            <a:off x="609600" y="9429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Story synopsis</a:t>
            </a:r>
          </a:p>
        </p:txBody>
      </p:sp>
      <p:sp>
        <p:nvSpPr>
          <p:cNvPr id="3" name="">
            <a:extLst xmlns:a="http://schemas.openxmlformats.org/drawingml/2006/main">
              <a:ext uri="{FF2B5EF4-FFF2-40B4-BE49-F238E27FC236}">
                <a16:creationId xmlns:a16="http://schemas.microsoft.com/office/drawing/2014/main" id="{02007845-E147-4879-BA74-4269D81E4287}"/>
              </a:ext>
            </a:extLst>
          </p:cNvPr>
          <p:cNvSpPr>
            <a:spLocks xmlns:a="http://schemas.openxmlformats.org/drawingml/2006/main" noGrp="1"/>
          </p:cNvSpPr>
          <p:nvPr/>
        </p:nvSpPr>
        <p:spPr>
          <a:xfrm xmlns:a="http://schemas.openxmlformats.org/drawingml/2006/main">
            <a:off x="6096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5B1A8"/>
                </a:solidFill>
                <a:latin typeface="Arial"/>
                <a:ea typeface="Arial"/>
                <a:cs typeface="Arial"/>
              </a:defRPr>
            </a:defPPr>
          </a:lstStyle>
          <a:p xmlns:a="http://schemas.openxmlformats.org/drawingml/2006/main">
            <a:pPr>
              <a:defRPr sz="1050" b="0">
                <a:solidFill>
                  <a:srgbClr val="B5B1A8"/>
                </a:solidFill>
                <a:latin typeface="Arial"/>
                <a:ea typeface="Arial"/>
                <a:cs typeface="Arial"/>
              </a:defRPr>
            </a:pPr>
            <a:r>
              <a:rPr sz="1050" b="0">
                <a:solidFill>
                  <a:srgbClr val="B5B1A8"/>
                </a:solidFill>
                <a:latin typeface="Arial"/>
                <a:ea typeface="Arial"/>
                <a:cs typeface="Arial"/>
              </a:rPr>
              <a:t>SOURCE: FINAL WALK ONE-PAGER</a:t>
            </a:r>
          </a:p>
        </p:txBody>
      </p:sp>
      <p:sp>
        <p:nvSpPr>
          <p:cNvPr id="4" name="">
            <a:extLst xmlns:a="http://schemas.openxmlformats.org/drawingml/2006/main">
              <a:ext uri="{FF2B5EF4-FFF2-40B4-BE49-F238E27FC236}">
                <a16:creationId xmlns:a16="http://schemas.microsoft.com/office/drawing/2014/main" id="{D87D4E9B-5627-4714-8986-B78A882D9D6D}"/>
              </a:ext>
            </a:extLst>
          </p:cNvPr>
          <p:cNvSpPr>
            <a:spLocks xmlns:a="http://schemas.openxmlformats.org/drawingml/2006/main" noGrp="1"/>
          </p:cNvSpPr>
          <p:nvPr/>
        </p:nvSpPr>
        <p:spPr>
          <a:xfrm xmlns:a="http://schemas.openxmlformats.org/drawingml/2006/main">
            <a:off x="11049000"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4A548"/>
                </a:solidFill>
                <a:latin typeface="Arial"/>
                <a:ea typeface="Arial"/>
                <a:cs typeface="Arial"/>
              </a:defRPr>
            </a:defPPr>
          </a:lstStyle>
          <a:p xmlns:a="http://schemas.openxmlformats.org/drawingml/2006/main">
            <a:pPr>
              <a:defRPr sz="1050" b="0">
                <a:solidFill>
                  <a:srgbClr val="C4A548"/>
                </a:solidFill>
                <a:latin typeface="Arial"/>
                <a:ea typeface="Arial"/>
                <a:cs typeface="Arial"/>
              </a:defRPr>
            </a:pPr>
            <a:r>
              <a:rPr sz="1050" b="0">
                <a:solidFill>
                  <a:srgbClr val="C4A548"/>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3459A414-C24C-43E8-9559-AF3E1D781798}"/>
              </a:ext>
            </a:extLst>
          </p:cNvPr>
          <p:cNvSpPr>
            <a:spLocks xmlns:a="http://schemas.openxmlformats.org/drawingml/2006/main" noGrp="1"/>
          </p:cNvSpPr>
          <p:nvPr/>
        </p:nvSpPr>
        <p:spPr>
          <a:xfrm xmlns:a="http://schemas.openxmlformats.org/drawingml/2006/main">
            <a:off x="609600" y="2076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EIGHT YEARS OF COERCION</a:t>
            </a:r>
          </a:p>
        </p:txBody>
      </p:sp>
      <p:sp>
        <p:nvSpPr>
          <p:cNvPr id="6" name="">
            <a:extLst xmlns:a="http://schemas.openxmlformats.org/drawingml/2006/main">
              <a:ext uri="{FF2B5EF4-FFF2-40B4-BE49-F238E27FC236}">
                <a16:creationId xmlns:a16="http://schemas.microsoft.com/office/drawing/2014/main" id="{00DE81F3-6AC6-4DCC-B59B-F66C021F4EDB}"/>
              </a:ext>
            </a:extLst>
          </p:cNvPr>
          <p:cNvSpPr>
            <a:spLocks xmlns:a="http://schemas.openxmlformats.org/drawingml/2006/main" noGrp="1"/>
          </p:cNvSpPr>
          <p:nvPr/>
        </p:nvSpPr>
        <p:spPr>
          <a:xfrm xmlns:a="http://schemas.openxmlformats.org/drawingml/2006/main">
            <a:off x="609600" y="2724150"/>
            <a:ext cx="4857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1E9"/>
                </a:solidFill>
                <a:latin typeface="Arial"/>
                <a:ea typeface="Arial"/>
                <a:cs typeface="Arial"/>
              </a:defRPr>
            </a:defPPr>
          </a:lstStyle>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Ji-Yeon Kim walks Asia’s major runways and smuggles contraband through customs. Director Kim Sung-chul poisoned her teenage sister to secure her compliance.</a:t>
            </a:r>
          </a:p>
        </p:txBody>
      </p:sp>
      <p:sp>
        <p:nvSpPr>
          <p:cNvPr id="7" name="">
            <a:extLst xmlns:a="http://schemas.openxmlformats.org/drawingml/2006/main">
              <a:ext uri="{FF2B5EF4-FFF2-40B4-BE49-F238E27FC236}">
                <a16:creationId xmlns:a16="http://schemas.microsoft.com/office/drawing/2014/main" id="{040703C4-9722-4A98-96A0-A3407F107C4B}"/>
              </a:ext>
            </a:extLst>
          </p:cNvPr>
          <p:cNvSpPr>
            <a:spLocks xmlns:a="http://schemas.openxmlformats.org/drawingml/2006/main" noGrp="1"/>
          </p:cNvSpPr>
          <p:nvPr/>
        </p:nvSpPr>
        <p:spPr>
          <a:xfrm xmlns:a="http://schemas.openxmlformats.org/drawingml/2006/main">
            <a:off x="6572250" y="20764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AN UNEXPECTED ALLIANCE</a:t>
            </a:r>
          </a:p>
        </p:txBody>
      </p:sp>
      <p:sp>
        <p:nvSpPr>
          <p:cNvPr id="8" name="">
            <a:extLst xmlns:a="http://schemas.openxmlformats.org/drawingml/2006/main">
              <a:ext uri="{FF2B5EF4-FFF2-40B4-BE49-F238E27FC236}">
                <a16:creationId xmlns:a16="http://schemas.microsoft.com/office/drawing/2014/main" id="{BC640FCA-62CD-4A0C-B446-3154E82CA229}"/>
              </a:ext>
            </a:extLst>
          </p:cNvPr>
          <p:cNvSpPr>
            <a:spLocks xmlns:a="http://schemas.openxmlformats.org/drawingml/2006/main" noGrp="1"/>
          </p:cNvSpPr>
          <p:nvPr/>
        </p:nvSpPr>
        <p:spPr>
          <a:xfrm xmlns:a="http://schemas.openxmlformats.org/drawingml/2006/main">
            <a:off x="6572250" y="2724150"/>
            <a:ext cx="4953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1E9"/>
                </a:solidFill>
                <a:latin typeface="Arial"/>
                <a:ea typeface="Arial"/>
                <a:cs typeface="Arial"/>
              </a:defRPr>
            </a:defPPr>
          </a:lstStyle>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In Singapore, a burned CIA officer crosses her path. Ji-Yeon sees a weapon against Kim. A Singapore intelligence operative joins them.</a:t>
            </a:r>
          </a:p>
        </p:txBody>
      </p:sp>
    </p:spTree>
    <p:extLst>
      <p:ext uri="{BB962C8B-B14F-4D97-AF65-F5344CB8AC3E}">
        <p14:creationId xmlns:p14="http://schemas.microsoft.com/office/powerpoint/2010/main" val="1208086004"/>
      </p:ext>
    </p:extLst>
  </p:cSld>
</p:sld>
</file>

<file path=ppt/slides/slide5.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25B940-EDB6-479C-95F2-8D7F33F15F5F}"/>
              </a:ext>
            </a:extLst>
          </p:cNvPr>
          <p:cNvSpPr>
            <a:spLocks xmlns:a="http://schemas.openxmlformats.org/drawingml/2006/main" noGrp="1"/>
          </p:cNvSpPr>
          <p:nvPr/>
        </p:nvSpPr>
        <p:spPr>
          <a:xfrm xmlns:a="http://schemas.openxmlformats.org/drawingml/2006/main">
            <a:off x="609600" y="30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4A548"/>
                </a:solidFill>
                <a:latin typeface="Arial"/>
                <a:ea typeface="Arial"/>
                <a:cs typeface="Arial"/>
              </a:defRPr>
            </a:defPPr>
          </a:lstStyle>
          <a:p xmlns:a="http://schemas.openxmlformats.org/drawingml/2006/main">
            <a:pPr>
              <a:defRPr sz="1275" b="0">
                <a:solidFill>
                  <a:srgbClr val="C4A548"/>
                </a:solidFill>
                <a:latin typeface="Arial"/>
                <a:ea typeface="Arial"/>
                <a:cs typeface="Arial"/>
              </a:defRPr>
            </a:pPr>
            <a:r>
              <a:rPr sz="1275" b="0">
                <a:solidFill>
                  <a:srgbClr val="C4A548"/>
                </a:solidFill>
                <a:latin typeface="Arial"/>
                <a:ea typeface="Arial"/>
                <a:cs typeface="Arial"/>
              </a:rPr>
              <a:t>NCCA ENTERTAINMENT</a:t>
            </a:r>
          </a:p>
        </p:txBody>
      </p:sp>
      <p:sp>
        <p:nvSpPr>
          <p:cNvPr id="2" name="">
            <a:extLst xmlns:a="http://schemas.openxmlformats.org/drawingml/2006/main">
              <a:ext uri="{FF2B5EF4-FFF2-40B4-BE49-F238E27FC236}">
                <a16:creationId xmlns:a16="http://schemas.microsoft.com/office/drawing/2014/main" id="{4AA9B89B-1FD2-4AB7-9BA7-DB41E756CF34}"/>
              </a:ext>
            </a:extLst>
          </p:cNvPr>
          <p:cNvSpPr>
            <a:spLocks xmlns:a="http://schemas.openxmlformats.org/drawingml/2006/main" noGrp="1"/>
          </p:cNvSpPr>
          <p:nvPr/>
        </p:nvSpPr>
        <p:spPr>
          <a:xfrm xmlns:a="http://schemas.openxmlformats.org/drawingml/2006/main">
            <a:off x="609600" y="9429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The final walk</a:t>
            </a:r>
          </a:p>
        </p:txBody>
      </p:sp>
      <p:sp>
        <p:nvSpPr>
          <p:cNvPr id="3" name="">
            <a:extLst xmlns:a="http://schemas.openxmlformats.org/drawingml/2006/main">
              <a:ext uri="{FF2B5EF4-FFF2-40B4-BE49-F238E27FC236}">
                <a16:creationId xmlns:a16="http://schemas.microsoft.com/office/drawing/2014/main" id="{F6CF8061-918E-46ED-9C41-D0C716AFB038}"/>
              </a:ext>
            </a:extLst>
          </p:cNvPr>
          <p:cNvSpPr>
            <a:spLocks xmlns:a="http://schemas.openxmlformats.org/drawingml/2006/main" noGrp="1"/>
          </p:cNvSpPr>
          <p:nvPr/>
        </p:nvSpPr>
        <p:spPr>
          <a:xfrm xmlns:a="http://schemas.openxmlformats.org/drawingml/2006/main">
            <a:off x="6096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5B1A8"/>
                </a:solidFill>
                <a:latin typeface="Arial"/>
                <a:ea typeface="Arial"/>
                <a:cs typeface="Arial"/>
              </a:defRPr>
            </a:defPPr>
          </a:lstStyle>
          <a:p xmlns:a="http://schemas.openxmlformats.org/drawingml/2006/main">
            <a:pPr>
              <a:defRPr sz="1050" b="0">
                <a:solidFill>
                  <a:srgbClr val="B5B1A8"/>
                </a:solidFill>
                <a:latin typeface="Arial"/>
                <a:ea typeface="Arial"/>
                <a:cs typeface="Arial"/>
              </a:defRPr>
            </a:pPr>
            <a:r>
              <a:rPr sz="1050" b="0">
                <a:solidFill>
                  <a:srgbClr val="B5B1A8"/>
                </a:solidFill>
                <a:latin typeface="Arial"/>
                <a:ea typeface="Arial"/>
                <a:cs typeface="Arial"/>
              </a:rPr>
              <a:t>SOURCE: FINAL WALK ONE-PAGER</a:t>
            </a:r>
          </a:p>
        </p:txBody>
      </p:sp>
      <p:sp>
        <p:nvSpPr>
          <p:cNvPr id="4" name="">
            <a:extLst xmlns:a="http://schemas.openxmlformats.org/drawingml/2006/main">
              <a:ext uri="{FF2B5EF4-FFF2-40B4-BE49-F238E27FC236}">
                <a16:creationId xmlns:a16="http://schemas.microsoft.com/office/drawing/2014/main" id="{40C61D75-D82E-410B-A707-DF9E6C980D8E}"/>
              </a:ext>
            </a:extLst>
          </p:cNvPr>
          <p:cNvSpPr>
            <a:spLocks xmlns:a="http://schemas.openxmlformats.org/drawingml/2006/main" noGrp="1"/>
          </p:cNvSpPr>
          <p:nvPr/>
        </p:nvSpPr>
        <p:spPr>
          <a:xfrm xmlns:a="http://schemas.openxmlformats.org/drawingml/2006/main">
            <a:off x="11049000"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4A548"/>
                </a:solidFill>
                <a:latin typeface="Arial"/>
                <a:ea typeface="Arial"/>
                <a:cs typeface="Arial"/>
              </a:defRPr>
            </a:defPPr>
          </a:lstStyle>
          <a:p xmlns:a="http://schemas.openxmlformats.org/drawingml/2006/main">
            <a:pPr>
              <a:defRPr sz="1050" b="0">
                <a:solidFill>
                  <a:srgbClr val="C4A548"/>
                </a:solidFill>
                <a:latin typeface="Arial"/>
                <a:ea typeface="Arial"/>
                <a:cs typeface="Arial"/>
              </a:defRPr>
            </a:pPr>
            <a:r>
              <a:rPr sz="1050" b="0">
                <a:solidFill>
                  <a:srgbClr val="C4A548"/>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9DA9757-45BD-4A88-BDBE-5926DF60D7D7}"/>
              </a:ext>
            </a:extLst>
          </p:cNvPr>
          <p:cNvSpPr>
            <a:spLocks xmlns:a="http://schemas.openxmlformats.org/drawingml/2006/main" noGrp="1"/>
          </p:cNvSpPr>
          <p:nvPr/>
        </p:nvSpPr>
        <p:spPr>
          <a:xfrm xmlns:a="http://schemas.openxmlformats.org/drawingml/2006/main">
            <a:off x="609600" y="2038350"/>
            <a:ext cx="10572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C4A548"/>
                </a:solidFill>
                <a:latin typeface="Georgia"/>
                <a:ea typeface="Georgia"/>
                <a:cs typeface="Georgia"/>
              </a:defRPr>
            </a:defPPr>
          </a:lstStyle>
          <a:p xmlns:a="http://schemas.openxmlformats.org/drawingml/2006/main">
            <a:pPr>
              <a:defRPr sz="3900" b="0">
                <a:solidFill>
                  <a:srgbClr val="C4A548"/>
                </a:solidFill>
                <a:latin typeface="Georgia"/>
                <a:ea typeface="Georgia"/>
                <a:cs typeface="Georgia"/>
              </a:defRPr>
            </a:pPr>
            <a:r>
              <a:rPr sz="3900" b="0">
                <a:solidFill>
                  <a:srgbClr val="C4A548"/>
                </a:solidFill>
                <a:latin typeface="Georgia"/>
                <a:ea typeface="Georgia"/>
                <a:cs typeface="Georgia"/>
              </a:rPr>
              <a:t>Six stolen seals.</a:t>
            </a:r>
          </a:p>
          <a:p xmlns:a="http://schemas.openxmlformats.org/drawingml/2006/main">
            <a:pPr>
              <a:defRPr sz="3900" b="0">
                <a:solidFill>
                  <a:srgbClr val="C4A548"/>
                </a:solidFill>
                <a:latin typeface="Georgia"/>
                <a:ea typeface="Georgia"/>
                <a:cs typeface="Georgia"/>
              </a:defRPr>
            </a:pPr>
            <a:r>
              <a:rPr sz="3900" b="0">
                <a:solidFill>
                  <a:srgbClr val="C4A548"/>
                </a:solidFill>
                <a:latin typeface="Georgia"/>
                <a:ea typeface="Georgia"/>
                <a:cs typeface="Georgia"/>
              </a:rPr>
              <a:t>One devastating case.</a:t>
            </a:r>
          </a:p>
          <a:p xmlns:a="http://schemas.openxmlformats.org/drawingml/2006/main">
            <a:pPr>
              <a:defRPr sz="3900" b="0">
                <a:solidFill>
                  <a:srgbClr val="C4A548"/>
                </a:solidFill>
                <a:latin typeface="Georgia"/>
                <a:ea typeface="Georgia"/>
                <a:cs typeface="Georgia"/>
              </a:defRPr>
            </a:pPr>
            <a:r>
              <a:rPr sz="3900" b="0">
                <a:solidFill>
                  <a:srgbClr val="C4A548"/>
                </a:solidFill>
                <a:latin typeface="Georgia"/>
                <a:ea typeface="Georgia"/>
                <a:cs typeface="Georgia"/>
              </a:rPr>
              <a:t>One final runway.</a:t>
            </a:r>
          </a:p>
        </p:txBody>
      </p:sp>
      <p:sp>
        <p:nvSpPr>
          <p:cNvPr id="6" name="">
            <a:extLst xmlns:a="http://schemas.openxmlformats.org/drawingml/2006/main">
              <a:ext uri="{FF2B5EF4-FFF2-40B4-BE49-F238E27FC236}">
                <a16:creationId xmlns:a16="http://schemas.microsoft.com/office/drawing/2014/main" id="{D279FDC1-B389-455C-AE22-F5E894F1B47B}"/>
              </a:ext>
            </a:extLst>
          </p:cNvPr>
          <p:cNvSpPr>
            <a:spLocks xmlns:a="http://schemas.openxmlformats.org/drawingml/2006/main" noGrp="1"/>
          </p:cNvSpPr>
          <p:nvPr/>
        </p:nvSpPr>
        <p:spPr>
          <a:xfrm xmlns:a="http://schemas.openxmlformats.org/drawingml/2006/main">
            <a:off x="609600" y="4638675"/>
            <a:ext cx="10477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1E9"/>
                </a:solidFill>
                <a:latin typeface="Arial"/>
                <a:ea typeface="Arial"/>
                <a:cs typeface="Arial"/>
              </a:defRPr>
            </a:defPPr>
          </a:lstStyle>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Together, the allies assemble evidence encoded in six stolen Joseon Dynasty Royal Seals. Ji-Yeon’s final runway walk gives her the stage to expose Director Kim before the world.</a:t>
            </a:r>
          </a:p>
        </p:txBody>
      </p:sp>
    </p:spTree>
    <p:extLst>
      <p:ext uri="{BB962C8B-B14F-4D97-AF65-F5344CB8AC3E}">
        <p14:creationId xmlns:p14="http://schemas.microsoft.com/office/powerpoint/2010/main" val="1214309384"/>
      </p:ext>
    </p:extLst>
  </p:cSld>
</p:sld>
</file>

<file path=ppt/slides/slide6.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D929D4-08B2-48D2-866B-68A39FCD0251}"/>
              </a:ext>
            </a:extLst>
          </p:cNvPr>
          <p:cNvSpPr>
            <a:spLocks xmlns:a="http://schemas.openxmlformats.org/drawingml/2006/main" noGrp="1"/>
          </p:cNvSpPr>
          <p:nvPr/>
        </p:nvSpPr>
        <p:spPr>
          <a:xfrm xmlns:a="http://schemas.openxmlformats.org/drawingml/2006/main">
            <a:off x="609600" y="30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4A548"/>
                </a:solidFill>
                <a:latin typeface="Arial"/>
                <a:ea typeface="Arial"/>
                <a:cs typeface="Arial"/>
              </a:defRPr>
            </a:defPPr>
          </a:lstStyle>
          <a:p xmlns:a="http://schemas.openxmlformats.org/drawingml/2006/main">
            <a:pPr>
              <a:defRPr sz="1275" b="0">
                <a:solidFill>
                  <a:srgbClr val="C4A548"/>
                </a:solidFill>
                <a:latin typeface="Arial"/>
                <a:ea typeface="Arial"/>
                <a:cs typeface="Arial"/>
              </a:defRPr>
            </a:pPr>
            <a:r>
              <a:rPr sz="1275" b="0">
                <a:solidFill>
                  <a:srgbClr val="C4A548"/>
                </a:solidFill>
                <a:latin typeface="Arial"/>
                <a:ea typeface="Arial"/>
                <a:cs typeface="Arial"/>
              </a:rPr>
              <a:t>NCCA ENTERTAINMENT</a:t>
            </a:r>
          </a:p>
        </p:txBody>
      </p:sp>
      <p:sp>
        <p:nvSpPr>
          <p:cNvPr id="2" name="">
            <a:extLst xmlns:a="http://schemas.openxmlformats.org/drawingml/2006/main">
              <a:ext uri="{FF2B5EF4-FFF2-40B4-BE49-F238E27FC236}">
                <a16:creationId xmlns:a16="http://schemas.microsoft.com/office/drawing/2014/main" id="{9821C91E-01CF-4EBB-9664-E49CA7551872}"/>
              </a:ext>
            </a:extLst>
          </p:cNvPr>
          <p:cNvSpPr>
            <a:spLocks xmlns:a="http://schemas.openxmlformats.org/drawingml/2006/main" noGrp="1"/>
          </p:cNvSpPr>
          <p:nvPr/>
        </p:nvSpPr>
        <p:spPr>
          <a:xfrm xmlns:a="http://schemas.openxmlformats.org/drawingml/2006/main">
            <a:off x="609600" y="9429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The people at the center</a:t>
            </a:r>
          </a:p>
        </p:txBody>
      </p:sp>
      <p:sp>
        <p:nvSpPr>
          <p:cNvPr id="3" name="">
            <a:extLst xmlns:a="http://schemas.openxmlformats.org/drawingml/2006/main">
              <a:ext uri="{FF2B5EF4-FFF2-40B4-BE49-F238E27FC236}">
                <a16:creationId xmlns:a16="http://schemas.microsoft.com/office/drawing/2014/main" id="{B48E5E94-099C-4C3E-98C3-1BB84EFBC6CF}"/>
              </a:ext>
            </a:extLst>
          </p:cNvPr>
          <p:cNvSpPr>
            <a:spLocks xmlns:a="http://schemas.openxmlformats.org/drawingml/2006/main" noGrp="1"/>
          </p:cNvSpPr>
          <p:nvPr/>
        </p:nvSpPr>
        <p:spPr>
          <a:xfrm xmlns:a="http://schemas.openxmlformats.org/drawingml/2006/main">
            <a:off x="6096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5B1A8"/>
                </a:solidFill>
                <a:latin typeface="Arial"/>
                <a:ea typeface="Arial"/>
                <a:cs typeface="Arial"/>
              </a:defRPr>
            </a:defPPr>
          </a:lstStyle>
          <a:p xmlns:a="http://schemas.openxmlformats.org/drawingml/2006/main">
            <a:pPr>
              <a:defRPr sz="1050" b="0">
                <a:solidFill>
                  <a:srgbClr val="B5B1A8"/>
                </a:solidFill>
                <a:latin typeface="Arial"/>
                <a:ea typeface="Arial"/>
                <a:cs typeface="Arial"/>
              </a:defRPr>
            </a:pPr>
            <a:r>
              <a:rPr sz="1050" b="0">
                <a:solidFill>
                  <a:srgbClr val="B5B1A8"/>
                </a:solidFill>
                <a:latin typeface="Arial"/>
                <a:ea typeface="Arial"/>
                <a:cs typeface="Arial"/>
              </a:rPr>
              <a:t>SOURCE: FINAL WALK ONE-PAGER</a:t>
            </a:r>
          </a:p>
        </p:txBody>
      </p:sp>
      <p:sp>
        <p:nvSpPr>
          <p:cNvPr id="4" name="">
            <a:extLst xmlns:a="http://schemas.openxmlformats.org/drawingml/2006/main">
              <a:ext uri="{FF2B5EF4-FFF2-40B4-BE49-F238E27FC236}">
                <a16:creationId xmlns:a16="http://schemas.microsoft.com/office/drawing/2014/main" id="{7740D802-2B28-4F5C-BD5F-C3DFDD0C419E}"/>
              </a:ext>
            </a:extLst>
          </p:cNvPr>
          <p:cNvSpPr>
            <a:spLocks xmlns:a="http://schemas.openxmlformats.org/drawingml/2006/main" noGrp="1"/>
          </p:cNvSpPr>
          <p:nvPr/>
        </p:nvSpPr>
        <p:spPr>
          <a:xfrm xmlns:a="http://schemas.openxmlformats.org/drawingml/2006/main">
            <a:off x="11049000"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4A548"/>
                </a:solidFill>
                <a:latin typeface="Arial"/>
                <a:ea typeface="Arial"/>
                <a:cs typeface="Arial"/>
              </a:defRPr>
            </a:defPPr>
          </a:lstStyle>
          <a:p xmlns:a="http://schemas.openxmlformats.org/drawingml/2006/main">
            <a:pPr>
              <a:defRPr sz="1050" b="0">
                <a:solidFill>
                  <a:srgbClr val="C4A548"/>
                </a:solidFill>
                <a:latin typeface="Arial"/>
                <a:ea typeface="Arial"/>
                <a:cs typeface="Arial"/>
              </a:defRPr>
            </a:pPr>
            <a:r>
              <a:rPr sz="1050" b="0">
                <a:solidFill>
                  <a:srgbClr val="C4A548"/>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610FEAD0-0B76-42E9-868C-BA0DF310D42F}"/>
              </a:ext>
            </a:extLst>
          </p:cNvPr>
          <p:cNvSpPr>
            <a:spLocks xmlns:a="http://schemas.openxmlformats.org/drawingml/2006/main" noGrp="1"/>
          </p:cNvSpPr>
          <p:nvPr/>
        </p:nvSpPr>
        <p:spPr>
          <a:xfrm xmlns:a="http://schemas.openxmlformats.org/drawingml/2006/main">
            <a:off x="609600" y="2076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JI-YEON KIM</a:t>
            </a:r>
          </a:p>
        </p:txBody>
      </p:sp>
      <p:sp>
        <p:nvSpPr>
          <p:cNvPr id="6" name="">
            <a:extLst xmlns:a="http://schemas.openxmlformats.org/drawingml/2006/main">
              <a:ext uri="{FF2B5EF4-FFF2-40B4-BE49-F238E27FC236}">
                <a16:creationId xmlns:a16="http://schemas.microsoft.com/office/drawing/2014/main" id="{E1FE7E2D-4371-4A4D-8AD7-E1C71F972226}"/>
              </a:ext>
            </a:extLst>
          </p:cNvPr>
          <p:cNvSpPr>
            <a:spLocks xmlns:a="http://schemas.openxmlformats.org/drawingml/2006/main" noGrp="1"/>
          </p:cNvSpPr>
          <p:nvPr/>
        </p:nvSpPr>
        <p:spPr>
          <a:xfrm xmlns:a="http://schemas.openxmlformats.org/drawingml/2006/main">
            <a:off x="609600" y="2724150"/>
            <a:ext cx="4857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1E9"/>
                </a:solidFill>
                <a:latin typeface="Arial"/>
                <a:ea typeface="Arial"/>
                <a:cs typeface="Arial"/>
              </a:defRPr>
            </a:defPPr>
          </a:lstStyle>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A Korean supermodel coerced into smuggling for eight years. Her sister’s poisoning binds her to Kim. Her final walk offers a chance to reclaim herself.</a:t>
            </a:r>
          </a:p>
        </p:txBody>
      </p:sp>
      <p:sp>
        <p:nvSpPr>
          <p:cNvPr id="7" name="">
            <a:extLst xmlns:a="http://schemas.openxmlformats.org/drawingml/2006/main">
              <a:ext uri="{FF2B5EF4-FFF2-40B4-BE49-F238E27FC236}">
                <a16:creationId xmlns:a16="http://schemas.microsoft.com/office/drawing/2014/main" id="{423F8B40-13F6-496F-9C88-2F06E3ABD89F}"/>
              </a:ext>
            </a:extLst>
          </p:cNvPr>
          <p:cNvSpPr>
            <a:spLocks xmlns:a="http://schemas.openxmlformats.org/drawingml/2006/main" noGrp="1"/>
          </p:cNvSpPr>
          <p:nvPr/>
        </p:nvSpPr>
        <p:spPr>
          <a:xfrm xmlns:a="http://schemas.openxmlformats.org/drawingml/2006/main">
            <a:off x="6572250" y="20764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CALEB MILLER</a:t>
            </a:r>
          </a:p>
        </p:txBody>
      </p:sp>
      <p:sp>
        <p:nvSpPr>
          <p:cNvPr id="8" name="">
            <a:extLst xmlns:a="http://schemas.openxmlformats.org/drawingml/2006/main">
              <a:ext uri="{FF2B5EF4-FFF2-40B4-BE49-F238E27FC236}">
                <a16:creationId xmlns:a16="http://schemas.microsoft.com/office/drawing/2014/main" id="{5B8DB93A-A447-45AF-A860-400E665D8088}"/>
              </a:ext>
            </a:extLst>
          </p:cNvPr>
          <p:cNvSpPr>
            <a:spLocks xmlns:a="http://schemas.openxmlformats.org/drawingml/2006/main" noGrp="1"/>
          </p:cNvSpPr>
          <p:nvPr/>
        </p:nvSpPr>
        <p:spPr>
          <a:xfrm xmlns:a="http://schemas.openxmlformats.org/drawingml/2006/main">
            <a:off x="6572250" y="2724150"/>
            <a:ext cx="4953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1E9"/>
                </a:solidFill>
                <a:latin typeface="Arial"/>
                <a:ea typeface="Arial"/>
                <a:cs typeface="Arial"/>
              </a:defRPr>
            </a:defPPr>
          </a:lstStyle>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The burned CIA officer Ji-Yeon encounters in Singapore. Their alliance gives her a means to challenge the man who controls her.</a:t>
            </a:r>
          </a:p>
        </p:txBody>
      </p:sp>
    </p:spTree>
    <p:extLst>
      <p:ext uri="{BB962C8B-B14F-4D97-AF65-F5344CB8AC3E}">
        <p14:creationId xmlns:p14="http://schemas.microsoft.com/office/powerpoint/2010/main" val="1536674231"/>
      </p:ext>
    </p:extLst>
  </p:cSld>
</p:sld>
</file>

<file path=ppt/slides/slide7.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7E97FAE-A1F9-4C6B-899B-C217358544A5}"/>
              </a:ext>
            </a:extLst>
          </p:cNvPr>
          <p:cNvSpPr>
            <a:spLocks xmlns:a="http://schemas.openxmlformats.org/drawingml/2006/main" noGrp="1"/>
          </p:cNvSpPr>
          <p:nvPr/>
        </p:nvSpPr>
        <p:spPr>
          <a:xfrm xmlns:a="http://schemas.openxmlformats.org/drawingml/2006/main">
            <a:off x="609600" y="30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4A548"/>
                </a:solidFill>
                <a:latin typeface="Arial"/>
                <a:ea typeface="Arial"/>
                <a:cs typeface="Arial"/>
              </a:defRPr>
            </a:defPPr>
          </a:lstStyle>
          <a:p xmlns:a="http://schemas.openxmlformats.org/drawingml/2006/main">
            <a:pPr>
              <a:defRPr sz="1275" b="0">
                <a:solidFill>
                  <a:srgbClr val="C4A548"/>
                </a:solidFill>
                <a:latin typeface="Arial"/>
                <a:ea typeface="Arial"/>
                <a:cs typeface="Arial"/>
              </a:defRPr>
            </a:pPr>
            <a:r>
              <a:rPr sz="1275" b="0">
                <a:solidFill>
                  <a:srgbClr val="C4A548"/>
                </a:solidFill>
                <a:latin typeface="Arial"/>
                <a:ea typeface="Arial"/>
                <a:cs typeface="Arial"/>
              </a:rPr>
              <a:t>NCCA ENTERTAINMENT</a:t>
            </a:r>
          </a:p>
        </p:txBody>
      </p:sp>
      <p:sp>
        <p:nvSpPr>
          <p:cNvPr id="2" name="">
            <a:extLst xmlns:a="http://schemas.openxmlformats.org/drawingml/2006/main">
              <a:ext uri="{FF2B5EF4-FFF2-40B4-BE49-F238E27FC236}">
                <a16:creationId xmlns:a16="http://schemas.microsoft.com/office/drawing/2014/main" id="{416FDE17-2225-40FA-8665-3633967ADCA0}"/>
              </a:ext>
            </a:extLst>
          </p:cNvPr>
          <p:cNvSpPr>
            <a:spLocks xmlns:a="http://schemas.openxmlformats.org/drawingml/2006/main" noGrp="1"/>
          </p:cNvSpPr>
          <p:nvPr/>
        </p:nvSpPr>
        <p:spPr>
          <a:xfrm xmlns:a="http://schemas.openxmlformats.org/drawingml/2006/main">
            <a:off x="609600" y="9429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Power, family and alliance</a:t>
            </a:r>
          </a:p>
        </p:txBody>
      </p:sp>
      <p:sp>
        <p:nvSpPr>
          <p:cNvPr id="3" name="">
            <a:extLst xmlns:a="http://schemas.openxmlformats.org/drawingml/2006/main">
              <a:ext uri="{FF2B5EF4-FFF2-40B4-BE49-F238E27FC236}">
                <a16:creationId xmlns:a16="http://schemas.microsoft.com/office/drawing/2014/main" id="{D24303C9-1189-4C1E-B059-3D1257F552B4}"/>
              </a:ext>
            </a:extLst>
          </p:cNvPr>
          <p:cNvSpPr>
            <a:spLocks xmlns:a="http://schemas.openxmlformats.org/drawingml/2006/main" noGrp="1"/>
          </p:cNvSpPr>
          <p:nvPr/>
        </p:nvSpPr>
        <p:spPr>
          <a:xfrm xmlns:a="http://schemas.openxmlformats.org/drawingml/2006/main">
            <a:off x="6096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5B1A8"/>
                </a:solidFill>
                <a:latin typeface="Arial"/>
                <a:ea typeface="Arial"/>
                <a:cs typeface="Arial"/>
              </a:defRPr>
            </a:defPPr>
          </a:lstStyle>
          <a:p xmlns:a="http://schemas.openxmlformats.org/drawingml/2006/main">
            <a:pPr>
              <a:defRPr sz="1050" b="0">
                <a:solidFill>
                  <a:srgbClr val="B5B1A8"/>
                </a:solidFill>
                <a:latin typeface="Arial"/>
                <a:ea typeface="Arial"/>
                <a:cs typeface="Arial"/>
              </a:defRPr>
            </a:pPr>
            <a:r>
              <a:rPr sz="1050" b="0">
                <a:solidFill>
                  <a:srgbClr val="B5B1A8"/>
                </a:solidFill>
                <a:latin typeface="Arial"/>
                <a:ea typeface="Arial"/>
                <a:cs typeface="Arial"/>
              </a:rPr>
              <a:t>SOURCE: FINAL WALK ONE-PAGER</a:t>
            </a:r>
          </a:p>
        </p:txBody>
      </p:sp>
      <p:sp>
        <p:nvSpPr>
          <p:cNvPr id="4" name="">
            <a:extLst xmlns:a="http://schemas.openxmlformats.org/drawingml/2006/main">
              <a:ext uri="{FF2B5EF4-FFF2-40B4-BE49-F238E27FC236}">
                <a16:creationId xmlns:a16="http://schemas.microsoft.com/office/drawing/2014/main" id="{DAFAC691-5161-4AAA-9593-7A283BEB4D1E}"/>
              </a:ext>
            </a:extLst>
          </p:cNvPr>
          <p:cNvSpPr>
            <a:spLocks xmlns:a="http://schemas.openxmlformats.org/drawingml/2006/main" noGrp="1"/>
          </p:cNvSpPr>
          <p:nvPr/>
        </p:nvSpPr>
        <p:spPr>
          <a:xfrm xmlns:a="http://schemas.openxmlformats.org/drawingml/2006/main">
            <a:off x="11049000"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4A548"/>
                </a:solidFill>
                <a:latin typeface="Arial"/>
                <a:ea typeface="Arial"/>
                <a:cs typeface="Arial"/>
              </a:defRPr>
            </a:defPPr>
          </a:lstStyle>
          <a:p xmlns:a="http://schemas.openxmlformats.org/drawingml/2006/main">
            <a:pPr>
              <a:defRPr sz="1050" b="0">
                <a:solidFill>
                  <a:srgbClr val="C4A548"/>
                </a:solidFill>
                <a:latin typeface="Arial"/>
                <a:ea typeface="Arial"/>
                <a:cs typeface="Arial"/>
              </a:defRPr>
            </a:pPr>
            <a:r>
              <a:rPr sz="1050" b="0">
                <a:solidFill>
                  <a:srgbClr val="C4A548"/>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6500EC9E-075C-4A86-9DCC-C0CBB73AD184}"/>
              </a:ext>
            </a:extLst>
          </p:cNvPr>
          <p:cNvSpPr>
            <a:spLocks xmlns:a="http://schemas.openxmlformats.org/drawingml/2006/main" noGrp="1"/>
          </p:cNvSpPr>
          <p:nvPr/>
        </p:nvSpPr>
        <p:spPr>
          <a:xfrm xmlns:a="http://schemas.openxmlformats.org/drawingml/2006/main">
            <a:off x="609600" y="19907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DIRECTOR KIM SUNG-CHUL</a:t>
            </a:r>
          </a:p>
        </p:txBody>
      </p:sp>
      <p:sp>
        <p:nvSpPr>
          <p:cNvPr id="6" name="">
            <a:extLst xmlns:a="http://schemas.openxmlformats.org/drawingml/2006/main">
              <a:ext uri="{FF2B5EF4-FFF2-40B4-BE49-F238E27FC236}">
                <a16:creationId xmlns:a16="http://schemas.microsoft.com/office/drawing/2014/main" id="{F09DB64E-5B42-4D2A-AB06-87EEBAFDA939}"/>
              </a:ext>
            </a:extLst>
          </p:cNvPr>
          <p:cNvSpPr>
            <a:spLocks xmlns:a="http://schemas.openxmlformats.org/drawingml/2006/main" noGrp="1"/>
          </p:cNvSpPr>
          <p:nvPr/>
        </p:nvSpPr>
        <p:spPr>
          <a:xfrm xmlns:a="http://schemas.openxmlformats.org/drawingml/2006/main">
            <a:off x="609600" y="2524125"/>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4F1E9"/>
                </a:solidFill>
                <a:latin typeface="Arial"/>
                <a:ea typeface="Arial"/>
                <a:cs typeface="Arial"/>
              </a:defRPr>
            </a:defPPr>
          </a:lstStyle>
          <a:p xmlns:a="http://schemas.openxmlformats.org/drawingml/2006/main">
            <a:pPr>
              <a:defRPr sz="2025" b="0">
                <a:solidFill>
                  <a:srgbClr val="F4F1E9"/>
                </a:solidFill>
                <a:latin typeface="Arial"/>
                <a:ea typeface="Arial"/>
                <a:cs typeface="Arial"/>
              </a:defRPr>
            </a:pPr>
            <a:r>
              <a:rPr sz="2025" b="0">
                <a:solidFill>
                  <a:srgbClr val="F4F1E9"/>
                </a:solidFill>
                <a:latin typeface="Arial"/>
                <a:ea typeface="Arial"/>
                <a:cs typeface="Arial"/>
              </a:rPr>
              <a:t>An industry kingmaker whose hold on Ji-Yeon rests on coercion and her sister’s poisoning.</a:t>
            </a:r>
          </a:p>
        </p:txBody>
      </p:sp>
      <p:sp>
        <p:nvSpPr>
          <p:cNvPr id="7" name="">
            <a:extLst xmlns:a="http://schemas.openxmlformats.org/drawingml/2006/main">
              <a:ext uri="{FF2B5EF4-FFF2-40B4-BE49-F238E27FC236}">
                <a16:creationId xmlns:a16="http://schemas.microsoft.com/office/drawing/2014/main" id="{E3E0B8CA-52EF-4171-835E-72250E1B05D5}"/>
              </a:ext>
            </a:extLst>
          </p:cNvPr>
          <p:cNvSpPr>
            <a:spLocks xmlns:a="http://schemas.openxmlformats.org/drawingml/2006/main" noGrp="1"/>
          </p:cNvSpPr>
          <p:nvPr/>
        </p:nvSpPr>
        <p:spPr>
          <a:xfrm xmlns:a="http://schemas.openxmlformats.org/drawingml/2006/main">
            <a:off x="6572250" y="19907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MIN-JI KIM</a:t>
            </a:r>
          </a:p>
        </p:txBody>
      </p:sp>
      <p:sp>
        <p:nvSpPr>
          <p:cNvPr id="8" name="">
            <a:extLst xmlns:a="http://schemas.openxmlformats.org/drawingml/2006/main">
              <a:ext uri="{FF2B5EF4-FFF2-40B4-BE49-F238E27FC236}">
                <a16:creationId xmlns:a16="http://schemas.microsoft.com/office/drawing/2014/main" id="{25B55CD1-C997-4813-BBB7-7E58B7627744}"/>
              </a:ext>
            </a:extLst>
          </p:cNvPr>
          <p:cNvSpPr>
            <a:spLocks xmlns:a="http://schemas.openxmlformats.org/drawingml/2006/main" noGrp="1"/>
          </p:cNvSpPr>
          <p:nvPr/>
        </p:nvSpPr>
        <p:spPr>
          <a:xfrm xmlns:a="http://schemas.openxmlformats.org/drawingml/2006/main">
            <a:off x="6572250" y="252412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4F1E9"/>
                </a:solidFill>
                <a:latin typeface="Arial"/>
                <a:ea typeface="Arial"/>
                <a:cs typeface="Arial"/>
              </a:defRPr>
            </a:defPPr>
          </a:lstStyle>
          <a:p xmlns:a="http://schemas.openxmlformats.org/drawingml/2006/main">
            <a:pPr>
              <a:defRPr sz="2025" b="0">
                <a:solidFill>
                  <a:srgbClr val="F4F1E9"/>
                </a:solidFill>
                <a:latin typeface="Arial"/>
                <a:ea typeface="Arial"/>
                <a:cs typeface="Arial"/>
              </a:defRPr>
            </a:pPr>
            <a:r>
              <a:rPr sz="2025" b="0">
                <a:solidFill>
                  <a:srgbClr val="F4F1E9"/>
                </a:solidFill>
                <a:latin typeface="Arial"/>
                <a:ea typeface="Arial"/>
                <a:cs typeface="Arial"/>
              </a:rPr>
              <a:t>Ji-Yeon’s teenage sister. Her poisoning is the leverage behind eight years of compliance.</a:t>
            </a:r>
          </a:p>
        </p:txBody>
      </p:sp>
      <p:sp>
        <p:nvSpPr>
          <p:cNvPr id="9" name="">
            <a:extLst xmlns:a="http://schemas.openxmlformats.org/drawingml/2006/main">
              <a:ext uri="{FF2B5EF4-FFF2-40B4-BE49-F238E27FC236}">
                <a16:creationId xmlns:a16="http://schemas.microsoft.com/office/drawing/2014/main" id="{E1EE117E-5756-4CDC-B55D-BB751084FE7A}"/>
              </a:ext>
            </a:extLst>
          </p:cNvPr>
          <p:cNvSpPr>
            <a:spLocks xmlns:a="http://schemas.openxmlformats.org/drawingml/2006/main" noGrp="1"/>
          </p:cNvSpPr>
          <p:nvPr/>
        </p:nvSpPr>
        <p:spPr>
          <a:xfrm xmlns:a="http://schemas.openxmlformats.org/drawingml/2006/main">
            <a:off x="609600" y="40671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FATIMAH</a:t>
            </a:r>
          </a:p>
        </p:txBody>
      </p:sp>
      <p:sp>
        <p:nvSpPr>
          <p:cNvPr id="10" name="">
            <a:extLst xmlns:a="http://schemas.openxmlformats.org/drawingml/2006/main">
              <a:ext uri="{FF2B5EF4-FFF2-40B4-BE49-F238E27FC236}">
                <a16:creationId xmlns:a16="http://schemas.microsoft.com/office/drawing/2014/main" id="{C33B78C6-D698-4565-8E7A-3E3EB98660FE}"/>
              </a:ext>
            </a:extLst>
          </p:cNvPr>
          <p:cNvSpPr>
            <a:spLocks xmlns:a="http://schemas.openxmlformats.org/drawingml/2006/main" noGrp="1"/>
          </p:cNvSpPr>
          <p:nvPr/>
        </p:nvSpPr>
        <p:spPr>
          <a:xfrm xmlns:a="http://schemas.openxmlformats.org/drawingml/2006/main">
            <a:off x="609600" y="4600575"/>
            <a:ext cx="5238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4F1E9"/>
                </a:solidFill>
                <a:latin typeface="Arial"/>
                <a:ea typeface="Arial"/>
                <a:cs typeface="Arial"/>
              </a:defRPr>
            </a:defPPr>
          </a:lstStyle>
          <a:p xmlns:a="http://schemas.openxmlformats.org/drawingml/2006/main">
            <a:pPr>
              <a:defRPr sz="2025" b="0">
                <a:solidFill>
                  <a:srgbClr val="F4F1E9"/>
                </a:solidFill>
                <a:latin typeface="Arial"/>
                <a:ea typeface="Arial"/>
                <a:cs typeface="Arial"/>
              </a:defRPr>
            </a:pPr>
            <a:r>
              <a:rPr sz="2025" b="0">
                <a:solidFill>
                  <a:srgbClr val="F4F1E9"/>
                </a:solidFill>
                <a:latin typeface="Arial"/>
                <a:ea typeface="Arial"/>
                <a:cs typeface="Arial"/>
              </a:rPr>
              <a:t>The Singapore intelligence ally who helps assemble the case against Kim.</a:t>
            </a:r>
          </a:p>
        </p:txBody>
      </p:sp>
      <p:sp>
        <p:nvSpPr>
          <p:cNvPr id="11" name="">
            <a:extLst xmlns:a="http://schemas.openxmlformats.org/drawingml/2006/main">
              <a:ext uri="{FF2B5EF4-FFF2-40B4-BE49-F238E27FC236}">
                <a16:creationId xmlns:a16="http://schemas.microsoft.com/office/drawing/2014/main" id="{19E5F025-D2D9-46AE-83B9-69CEEBA1D70E}"/>
              </a:ext>
            </a:extLst>
          </p:cNvPr>
          <p:cNvSpPr>
            <a:spLocks xmlns:a="http://schemas.openxmlformats.org/drawingml/2006/main" noGrp="1"/>
          </p:cNvSpPr>
          <p:nvPr/>
        </p:nvSpPr>
        <p:spPr>
          <a:xfrm xmlns:a="http://schemas.openxmlformats.org/drawingml/2006/main">
            <a:off x="6572250" y="40671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TAE-SIK KWON</a:t>
            </a:r>
          </a:p>
        </p:txBody>
      </p:sp>
      <p:sp>
        <p:nvSpPr>
          <p:cNvPr id="12" name="">
            <a:extLst xmlns:a="http://schemas.openxmlformats.org/drawingml/2006/main">
              <a:ext uri="{FF2B5EF4-FFF2-40B4-BE49-F238E27FC236}">
                <a16:creationId xmlns:a16="http://schemas.microsoft.com/office/drawing/2014/main" id="{7D28B3DA-56C0-4E95-9701-4434CA44135E}"/>
              </a:ext>
            </a:extLst>
          </p:cNvPr>
          <p:cNvSpPr>
            <a:spLocks xmlns:a="http://schemas.openxmlformats.org/drawingml/2006/main" noGrp="1"/>
          </p:cNvSpPr>
          <p:nvPr/>
        </p:nvSpPr>
        <p:spPr>
          <a:xfrm xmlns:a="http://schemas.openxmlformats.org/drawingml/2006/main">
            <a:off x="6572250" y="4600575"/>
            <a:ext cx="485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4F1E9"/>
                </a:solidFill>
                <a:latin typeface="Arial"/>
                <a:ea typeface="Arial"/>
                <a:cs typeface="Arial"/>
              </a:defRPr>
            </a:defPPr>
          </a:lstStyle>
          <a:p xmlns:a="http://schemas.openxmlformats.org/drawingml/2006/main">
            <a:pPr>
              <a:defRPr sz="2025" b="0">
                <a:solidFill>
                  <a:srgbClr val="F4F1E9"/>
                </a:solidFill>
                <a:latin typeface="Arial"/>
                <a:ea typeface="Arial"/>
                <a:cs typeface="Arial"/>
              </a:defRPr>
            </a:pPr>
            <a:r>
              <a:rPr sz="2025" b="0">
                <a:solidFill>
                  <a:srgbClr val="F4F1E9"/>
                </a:solidFill>
                <a:latin typeface="Arial"/>
                <a:ea typeface="Arial"/>
                <a:cs typeface="Arial"/>
              </a:rPr>
              <a:t>Named in the source casting list. The one-pager does not specify his story role.</a:t>
            </a:r>
          </a:p>
        </p:txBody>
      </p:sp>
    </p:spTree>
    <p:extLst>
      <p:ext uri="{BB962C8B-B14F-4D97-AF65-F5344CB8AC3E}">
        <p14:creationId xmlns:p14="http://schemas.microsoft.com/office/powerpoint/2010/main" val="1556362141"/>
      </p:ext>
    </p:extLst>
  </p:cSld>
</p:sld>
</file>

<file path=ppt/slides/slide8.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AB419D-2EC9-4144-9B75-9A83C64CE4BA}"/>
              </a:ext>
            </a:extLst>
          </p:cNvPr>
          <p:cNvSpPr>
            <a:spLocks xmlns:a="http://schemas.openxmlformats.org/drawingml/2006/main" noGrp="1"/>
          </p:cNvSpPr>
          <p:nvPr/>
        </p:nvSpPr>
        <p:spPr>
          <a:xfrm xmlns:a="http://schemas.openxmlformats.org/drawingml/2006/main">
            <a:off x="609600" y="30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4A548"/>
                </a:solidFill>
                <a:latin typeface="Arial"/>
                <a:ea typeface="Arial"/>
                <a:cs typeface="Arial"/>
              </a:defRPr>
            </a:defPPr>
          </a:lstStyle>
          <a:p xmlns:a="http://schemas.openxmlformats.org/drawingml/2006/main">
            <a:pPr>
              <a:defRPr sz="1275" b="0">
                <a:solidFill>
                  <a:srgbClr val="C4A548"/>
                </a:solidFill>
                <a:latin typeface="Arial"/>
                <a:ea typeface="Arial"/>
                <a:cs typeface="Arial"/>
              </a:defRPr>
            </a:pPr>
            <a:r>
              <a:rPr sz="1275" b="0">
                <a:solidFill>
                  <a:srgbClr val="C4A548"/>
                </a:solidFill>
                <a:latin typeface="Arial"/>
                <a:ea typeface="Arial"/>
                <a:cs typeface="Arial"/>
              </a:rPr>
              <a:t>NCCA ENTERTAINMENT</a:t>
            </a:r>
          </a:p>
        </p:txBody>
      </p:sp>
      <p:sp>
        <p:nvSpPr>
          <p:cNvPr id="2" name="">
            <a:extLst xmlns:a="http://schemas.openxmlformats.org/drawingml/2006/main">
              <a:ext uri="{FF2B5EF4-FFF2-40B4-BE49-F238E27FC236}">
                <a16:creationId xmlns:a16="http://schemas.microsoft.com/office/drawing/2014/main" id="{FB15BF05-F5C1-49A5-9167-602C9C67B64D}"/>
              </a:ext>
            </a:extLst>
          </p:cNvPr>
          <p:cNvSpPr>
            <a:spLocks xmlns:a="http://schemas.openxmlformats.org/drawingml/2006/main" noGrp="1"/>
          </p:cNvSpPr>
          <p:nvPr/>
        </p:nvSpPr>
        <p:spPr>
          <a:xfrm xmlns:a="http://schemas.openxmlformats.org/drawingml/2006/main">
            <a:off x="609600" y="9429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World and locations</a:t>
            </a:r>
          </a:p>
        </p:txBody>
      </p:sp>
      <p:sp>
        <p:nvSpPr>
          <p:cNvPr id="3" name="">
            <a:extLst xmlns:a="http://schemas.openxmlformats.org/drawingml/2006/main">
              <a:ext uri="{FF2B5EF4-FFF2-40B4-BE49-F238E27FC236}">
                <a16:creationId xmlns:a16="http://schemas.microsoft.com/office/drawing/2014/main" id="{5630B4C3-76A9-4A20-90C9-A15039B52040}"/>
              </a:ext>
            </a:extLst>
          </p:cNvPr>
          <p:cNvSpPr>
            <a:spLocks xmlns:a="http://schemas.openxmlformats.org/drawingml/2006/main" noGrp="1"/>
          </p:cNvSpPr>
          <p:nvPr/>
        </p:nvSpPr>
        <p:spPr>
          <a:xfrm xmlns:a="http://schemas.openxmlformats.org/drawingml/2006/main">
            <a:off x="6096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5B1A8"/>
                </a:solidFill>
                <a:latin typeface="Arial"/>
                <a:ea typeface="Arial"/>
                <a:cs typeface="Arial"/>
              </a:defRPr>
            </a:defPPr>
          </a:lstStyle>
          <a:p xmlns:a="http://schemas.openxmlformats.org/drawingml/2006/main">
            <a:pPr>
              <a:defRPr sz="1050" b="0">
                <a:solidFill>
                  <a:srgbClr val="B5B1A8"/>
                </a:solidFill>
                <a:latin typeface="Arial"/>
                <a:ea typeface="Arial"/>
                <a:cs typeface="Arial"/>
              </a:defRPr>
            </a:pPr>
            <a:r>
              <a:rPr sz="1050" b="0">
                <a:solidFill>
                  <a:srgbClr val="B5B1A8"/>
                </a:solidFill>
                <a:latin typeface="Arial"/>
                <a:ea typeface="Arial"/>
                <a:cs typeface="Arial"/>
              </a:rPr>
              <a:t>SOURCE: FINAL WALK ONE-PAGER</a:t>
            </a:r>
          </a:p>
        </p:txBody>
      </p:sp>
      <p:sp>
        <p:nvSpPr>
          <p:cNvPr id="4" name="">
            <a:extLst xmlns:a="http://schemas.openxmlformats.org/drawingml/2006/main">
              <a:ext uri="{FF2B5EF4-FFF2-40B4-BE49-F238E27FC236}">
                <a16:creationId xmlns:a16="http://schemas.microsoft.com/office/drawing/2014/main" id="{7A87086F-8F5E-481F-9B16-60168B0B70B3}"/>
              </a:ext>
            </a:extLst>
          </p:cNvPr>
          <p:cNvSpPr>
            <a:spLocks xmlns:a="http://schemas.openxmlformats.org/drawingml/2006/main" noGrp="1"/>
          </p:cNvSpPr>
          <p:nvPr/>
        </p:nvSpPr>
        <p:spPr>
          <a:xfrm xmlns:a="http://schemas.openxmlformats.org/drawingml/2006/main">
            <a:off x="11049000"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4A548"/>
                </a:solidFill>
                <a:latin typeface="Arial"/>
                <a:ea typeface="Arial"/>
                <a:cs typeface="Arial"/>
              </a:defRPr>
            </a:defPPr>
          </a:lstStyle>
          <a:p xmlns:a="http://schemas.openxmlformats.org/drawingml/2006/main">
            <a:pPr>
              <a:defRPr sz="1050" b="0">
                <a:solidFill>
                  <a:srgbClr val="C4A548"/>
                </a:solidFill>
                <a:latin typeface="Arial"/>
                <a:ea typeface="Arial"/>
                <a:cs typeface="Arial"/>
              </a:defRPr>
            </a:pPr>
            <a:r>
              <a:rPr sz="1050" b="0">
                <a:solidFill>
                  <a:srgbClr val="C4A548"/>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9C9C6D02-BFB6-496C-858D-26EF3DBD3B1B}"/>
              </a:ext>
            </a:extLst>
          </p:cNvPr>
          <p:cNvSpPr>
            <a:spLocks xmlns:a="http://schemas.openxmlformats.org/drawingml/2006/main" noGrp="1"/>
          </p:cNvSpPr>
          <p:nvPr/>
        </p:nvSpPr>
        <p:spPr>
          <a:xfrm xmlns:a="http://schemas.openxmlformats.org/drawingml/2006/main">
            <a:off x="609600" y="21145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C4A548"/>
                </a:solidFill>
                <a:latin typeface="Arial"/>
                <a:ea typeface="Arial"/>
                <a:cs typeface="Arial"/>
              </a:defRPr>
            </a:defPPr>
          </a:lstStyle>
          <a:p xmlns:a="http://schemas.openxmlformats.org/drawingml/2006/main">
            <a:pPr>
              <a:defRPr sz="2400" b="0">
                <a:solidFill>
                  <a:srgbClr val="C4A548"/>
                </a:solidFill>
                <a:latin typeface="Arial"/>
                <a:ea typeface="Arial"/>
                <a:cs typeface="Arial"/>
              </a:defRPr>
            </a:pPr>
            <a:r>
              <a:rPr sz="2400" b="0">
                <a:solidFill>
                  <a:srgbClr val="C4A548"/>
                </a:solidFill>
                <a:latin typeface="Arial"/>
                <a:ea typeface="Arial"/>
                <a:cs typeface="Arial"/>
              </a:rPr>
              <a:t>SEOUL</a:t>
            </a:r>
          </a:p>
        </p:txBody>
      </p:sp>
      <p:sp>
        <p:nvSpPr>
          <p:cNvPr id="6" name="">
            <a:extLst xmlns:a="http://schemas.openxmlformats.org/drawingml/2006/main">
              <a:ext uri="{FF2B5EF4-FFF2-40B4-BE49-F238E27FC236}">
                <a16:creationId xmlns:a16="http://schemas.microsoft.com/office/drawing/2014/main" id="{8995EB2F-8A34-4529-986C-5AC0EFDE06DC}"/>
              </a:ext>
            </a:extLst>
          </p:cNvPr>
          <p:cNvSpPr>
            <a:spLocks xmlns:a="http://schemas.openxmlformats.org/drawingml/2006/main" noGrp="1"/>
          </p:cNvSpPr>
          <p:nvPr/>
        </p:nvSpPr>
        <p:spPr>
          <a:xfrm xmlns:a="http://schemas.openxmlformats.org/drawingml/2006/main">
            <a:off x="4352925" y="211455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C4A548"/>
                </a:solidFill>
                <a:latin typeface="Arial"/>
                <a:ea typeface="Arial"/>
                <a:cs typeface="Arial"/>
              </a:defRPr>
            </a:defPPr>
          </a:lstStyle>
          <a:p xmlns:a="http://schemas.openxmlformats.org/drawingml/2006/main">
            <a:pPr>
              <a:defRPr sz="2400" b="0">
                <a:solidFill>
                  <a:srgbClr val="C4A548"/>
                </a:solidFill>
                <a:latin typeface="Arial"/>
                <a:ea typeface="Arial"/>
                <a:cs typeface="Arial"/>
              </a:defRPr>
            </a:pPr>
            <a:r>
              <a:rPr sz="2400" b="0">
                <a:solidFill>
                  <a:srgbClr val="C4A548"/>
                </a:solidFill>
                <a:latin typeface="Arial"/>
                <a:ea typeface="Arial"/>
                <a:cs typeface="Arial"/>
              </a:rPr>
              <a:t>SINGAPORE</a:t>
            </a:r>
          </a:p>
        </p:txBody>
      </p:sp>
      <p:sp>
        <p:nvSpPr>
          <p:cNvPr id="7" name="">
            <a:extLst xmlns:a="http://schemas.openxmlformats.org/drawingml/2006/main">
              <a:ext uri="{FF2B5EF4-FFF2-40B4-BE49-F238E27FC236}">
                <a16:creationId xmlns:a16="http://schemas.microsoft.com/office/drawing/2014/main" id="{00CD515A-CFF7-4EC5-8661-D87BE7FBA85E}"/>
              </a:ext>
            </a:extLst>
          </p:cNvPr>
          <p:cNvSpPr>
            <a:spLocks xmlns:a="http://schemas.openxmlformats.org/drawingml/2006/main" noGrp="1"/>
          </p:cNvSpPr>
          <p:nvPr/>
        </p:nvSpPr>
        <p:spPr>
          <a:xfrm xmlns:a="http://schemas.openxmlformats.org/drawingml/2006/main">
            <a:off x="8096250" y="211455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C4A548"/>
                </a:solidFill>
                <a:latin typeface="Arial"/>
                <a:ea typeface="Arial"/>
                <a:cs typeface="Arial"/>
              </a:defRPr>
            </a:defPPr>
          </a:lstStyle>
          <a:p xmlns:a="http://schemas.openxmlformats.org/drawingml/2006/main">
            <a:pPr>
              <a:defRPr sz="2400" b="0">
                <a:solidFill>
                  <a:srgbClr val="C4A548"/>
                </a:solidFill>
                <a:latin typeface="Arial"/>
                <a:ea typeface="Arial"/>
                <a:cs typeface="Arial"/>
              </a:defRPr>
            </a:pPr>
            <a:r>
              <a:rPr sz="2400" b="0">
                <a:solidFill>
                  <a:srgbClr val="C4A548"/>
                </a:solidFill>
                <a:latin typeface="Arial"/>
                <a:ea typeface="Arial"/>
                <a:cs typeface="Arial"/>
              </a:rPr>
              <a:t>KUALA LUMPUR</a:t>
            </a:r>
          </a:p>
        </p:txBody>
      </p:sp>
      <p:sp>
        <p:nvSpPr>
          <p:cNvPr id="8" name="">
            <a:extLst xmlns:a="http://schemas.openxmlformats.org/drawingml/2006/main">
              <a:ext uri="{FF2B5EF4-FFF2-40B4-BE49-F238E27FC236}">
                <a16:creationId xmlns:a16="http://schemas.microsoft.com/office/drawing/2014/main" id="{D467E0D6-E1DA-4DCC-9D79-436F70C19579}"/>
              </a:ext>
            </a:extLst>
          </p:cNvPr>
          <p:cNvSpPr>
            <a:spLocks xmlns:a="http://schemas.openxmlformats.org/drawingml/2006/main" noGrp="1"/>
          </p:cNvSpPr>
          <p:nvPr/>
        </p:nvSpPr>
        <p:spPr>
          <a:xfrm xmlns:a="http://schemas.openxmlformats.org/drawingml/2006/main">
            <a:off x="609600" y="29241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4F1E9"/>
                </a:solidFill>
                <a:latin typeface="Georgia"/>
                <a:ea typeface="Georgia"/>
                <a:cs typeface="Georgia"/>
              </a:defRPr>
            </a:defPPr>
          </a:lstStyle>
          <a:p xmlns:a="http://schemas.openxmlformats.org/drawingml/2006/main">
            <a:pPr>
              <a:defRPr sz="2550" b="0">
                <a:solidFill>
                  <a:srgbClr val="F4F1E9"/>
                </a:solidFill>
                <a:latin typeface="Georgia"/>
                <a:ea typeface="Georgia"/>
                <a:cs typeface="Georgia"/>
              </a:defRPr>
            </a:pPr>
            <a:r>
              <a:rPr sz="2550" b="0">
                <a:solidFill>
                  <a:srgbClr val="F4F1E9"/>
                </a:solidFill>
                <a:latin typeface="Georgia"/>
                <a:ea typeface="Georgia"/>
                <a:cs typeface="Georgia"/>
              </a:rPr>
              <a:t>DDP</a:t>
            </a:r>
          </a:p>
        </p:txBody>
      </p:sp>
      <p:sp>
        <p:nvSpPr>
          <p:cNvPr id="9" name="">
            <a:extLst xmlns:a="http://schemas.openxmlformats.org/drawingml/2006/main">
              <a:ext uri="{FF2B5EF4-FFF2-40B4-BE49-F238E27FC236}">
                <a16:creationId xmlns:a16="http://schemas.microsoft.com/office/drawing/2014/main" id="{74B4722A-E6DD-4219-87B2-5117BD5F6926}"/>
              </a:ext>
            </a:extLst>
          </p:cNvPr>
          <p:cNvSpPr>
            <a:spLocks xmlns:a="http://schemas.openxmlformats.org/drawingml/2006/main" noGrp="1"/>
          </p:cNvSpPr>
          <p:nvPr/>
        </p:nvSpPr>
        <p:spPr>
          <a:xfrm xmlns:a="http://schemas.openxmlformats.org/drawingml/2006/main">
            <a:off x="4352925" y="29241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4F1E9"/>
                </a:solidFill>
                <a:latin typeface="Georgia"/>
                <a:ea typeface="Georgia"/>
                <a:cs typeface="Georgia"/>
              </a:defRPr>
            </a:defPPr>
          </a:lstStyle>
          <a:p xmlns:a="http://schemas.openxmlformats.org/drawingml/2006/main">
            <a:pPr>
              <a:defRPr sz="2550" b="0">
                <a:solidFill>
                  <a:srgbClr val="F4F1E9"/>
                </a:solidFill>
                <a:latin typeface="Georgia"/>
                <a:ea typeface="Georgia"/>
                <a:cs typeface="Georgia"/>
              </a:defRPr>
            </a:pPr>
            <a:r>
              <a:rPr sz="2550" b="0">
                <a:solidFill>
                  <a:srgbClr val="F4F1E9"/>
                </a:solidFill>
                <a:latin typeface="Georgia"/>
                <a:ea typeface="Georgia"/>
                <a:cs typeface="Georgia"/>
              </a:rPr>
              <a:t>Marina Bay</a:t>
            </a:r>
          </a:p>
        </p:txBody>
      </p:sp>
      <p:sp>
        <p:nvSpPr>
          <p:cNvPr id="10" name="">
            <a:extLst xmlns:a="http://schemas.openxmlformats.org/drawingml/2006/main">
              <a:ext uri="{FF2B5EF4-FFF2-40B4-BE49-F238E27FC236}">
                <a16:creationId xmlns:a16="http://schemas.microsoft.com/office/drawing/2014/main" id="{B26C1D07-DAAA-4951-9079-BDA1EC25660F}"/>
              </a:ext>
            </a:extLst>
          </p:cNvPr>
          <p:cNvSpPr>
            <a:spLocks xmlns:a="http://schemas.openxmlformats.org/drawingml/2006/main" noGrp="1"/>
          </p:cNvSpPr>
          <p:nvPr/>
        </p:nvSpPr>
        <p:spPr>
          <a:xfrm xmlns:a="http://schemas.openxmlformats.org/drawingml/2006/main">
            <a:off x="8096250" y="29241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4F1E9"/>
                </a:solidFill>
                <a:latin typeface="Georgia"/>
                <a:ea typeface="Georgia"/>
                <a:cs typeface="Georgia"/>
              </a:defRPr>
            </a:defPPr>
          </a:lstStyle>
          <a:p xmlns:a="http://schemas.openxmlformats.org/drawingml/2006/main">
            <a:pPr>
              <a:defRPr sz="2550" b="0">
                <a:solidFill>
                  <a:srgbClr val="F4F1E9"/>
                </a:solidFill>
                <a:latin typeface="Georgia"/>
                <a:ea typeface="Georgia"/>
                <a:cs typeface="Georgia"/>
              </a:defRPr>
            </a:pPr>
            <a:r>
              <a:rPr sz="2550" b="0">
                <a:solidFill>
                  <a:srgbClr val="F4F1E9"/>
                </a:solidFill>
                <a:latin typeface="Georgia"/>
                <a:ea typeface="Georgia"/>
                <a:cs typeface="Georgia"/>
              </a:rPr>
              <a:t>Petronas</a:t>
            </a:r>
          </a:p>
        </p:txBody>
      </p:sp>
      <p:sp>
        <p:nvSpPr>
          <p:cNvPr id="11" name="">
            <a:extLst xmlns:a="http://schemas.openxmlformats.org/drawingml/2006/main">
              <a:ext uri="{FF2B5EF4-FFF2-40B4-BE49-F238E27FC236}">
                <a16:creationId xmlns:a16="http://schemas.microsoft.com/office/drawing/2014/main" id="{6ACF6DAF-955D-4E6C-8A3F-DF72CD367DCE}"/>
              </a:ext>
            </a:extLst>
          </p:cNvPr>
          <p:cNvSpPr>
            <a:spLocks xmlns:a="http://schemas.openxmlformats.org/drawingml/2006/main" noGrp="1"/>
          </p:cNvSpPr>
          <p:nvPr/>
        </p:nvSpPr>
        <p:spPr>
          <a:xfrm xmlns:a="http://schemas.openxmlformats.org/drawingml/2006/main">
            <a:off x="609600" y="4333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F4F1E9"/>
                </a:solidFill>
                <a:latin typeface="Georgia"/>
                <a:ea typeface="Georgia"/>
                <a:cs typeface="Georgia"/>
              </a:defRPr>
            </a:defPPr>
          </a:lstStyle>
          <a:p xmlns:a="http://schemas.openxmlformats.org/drawingml/2006/main">
            <a:pPr>
              <a:defRPr sz="2925" b="0">
                <a:solidFill>
                  <a:srgbClr val="F4F1E9"/>
                </a:solidFill>
                <a:latin typeface="Georgia"/>
                <a:ea typeface="Georgia"/>
                <a:cs typeface="Georgia"/>
              </a:defRPr>
            </a:pPr>
            <a:r>
              <a:rPr sz="2925" b="0">
                <a:solidFill>
                  <a:srgbClr val="F4F1E9"/>
                </a:solidFill>
                <a:latin typeface="Georgia"/>
                <a:ea typeface="Georgia"/>
                <a:cs typeface="Georgia"/>
              </a:rPr>
              <a:t>Asia’s fashion circuit meets stolen national heritage.</a:t>
            </a:r>
          </a:p>
        </p:txBody>
      </p:sp>
      <p:sp>
        <p:nvSpPr>
          <p:cNvPr id="12" name="">
            <a:extLst xmlns:a="http://schemas.openxmlformats.org/drawingml/2006/main">
              <a:ext uri="{FF2B5EF4-FFF2-40B4-BE49-F238E27FC236}">
                <a16:creationId xmlns:a16="http://schemas.microsoft.com/office/drawing/2014/main" id="{02E1E7B4-7D7E-427B-BFBA-D630DD0DA188}"/>
              </a:ext>
            </a:extLst>
          </p:cNvPr>
          <p:cNvSpPr>
            <a:spLocks xmlns:a="http://schemas.openxmlformats.org/drawingml/2006/main" noGrp="1"/>
          </p:cNvSpPr>
          <p:nvPr/>
        </p:nvSpPr>
        <p:spPr>
          <a:xfrm xmlns:a="http://schemas.openxmlformats.org/drawingml/2006/main">
            <a:off x="609600" y="53721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5B1A8"/>
                </a:solidFill>
                <a:latin typeface="Arial"/>
                <a:ea typeface="Arial"/>
                <a:cs typeface="Arial"/>
              </a:defRPr>
            </a:defPPr>
          </a:lstStyle>
          <a:p xmlns:a="http://schemas.openxmlformats.org/drawingml/2006/main">
            <a:pPr>
              <a:defRPr sz="1725" b="0">
                <a:solidFill>
                  <a:srgbClr val="B5B1A8"/>
                </a:solidFill>
                <a:latin typeface="Arial"/>
                <a:ea typeface="Arial"/>
                <a:cs typeface="Arial"/>
              </a:defRPr>
            </a:pPr>
            <a:r>
              <a:rPr sz="1725" b="0">
                <a:solidFill>
                  <a:srgbClr val="B5B1A8"/>
                </a:solidFill>
                <a:latin typeface="Arial"/>
                <a:ea typeface="Arial"/>
                <a:cs typeface="Arial"/>
              </a:rPr>
              <a:t>Story settings and cultural landmarks identified in the one-pager. Filming locations and access remain to be confirmed.</a:t>
            </a:r>
          </a:p>
        </p:txBody>
      </p:sp>
    </p:spTree>
    <p:extLst>
      <p:ext uri="{BB962C8B-B14F-4D97-AF65-F5344CB8AC3E}">
        <p14:creationId xmlns:p14="http://schemas.microsoft.com/office/powerpoint/2010/main" val="1330163087"/>
      </p:ext>
    </p:extLst>
  </p:cSld>
</p:sld>
</file>

<file path=ppt/slides/slide9.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959658-0E33-43B0-AB65-28D2C1F55B36}"/>
              </a:ext>
            </a:extLst>
          </p:cNvPr>
          <p:cNvSpPr>
            <a:spLocks xmlns:a="http://schemas.openxmlformats.org/drawingml/2006/main" noGrp="1"/>
          </p:cNvSpPr>
          <p:nvPr/>
        </p:nvSpPr>
        <p:spPr>
          <a:xfrm xmlns:a="http://schemas.openxmlformats.org/drawingml/2006/main">
            <a:off x="609600" y="30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4A548"/>
                </a:solidFill>
                <a:latin typeface="Arial"/>
                <a:ea typeface="Arial"/>
                <a:cs typeface="Arial"/>
              </a:defRPr>
            </a:defPPr>
          </a:lstStyle>
          <a:p xmlns:a="http://schemas.openxmlformats.org/drawingml/2006/main">
            <a:pPr>
              <a:defRPr sz="1275" b="0">
                <a:solidFill>
                  <a:srgbClr val="C4A548"/>
                </a:solidFill>
                <a:latin typeface="Arial"/>
                <a:ea typeface="Arial"/>
                <a:cs typeface="Arial"/>
              </a:defRPr>
            </a:pPr>
            <a:r>
              <a:rPr sz="1275" b="0">
                <a:solidFill>
                  <a:srgbClr val="C4A548"/>
                </a:solidFill>
                <a:latin typeface="Arial"/>
                <a:ea typeface="Arial"/>
                <a:cs typeface="Arial"/>
              </a:rPr>
              <a:t>NCCA ENTERTAINMENT</a:t>
            </a:r>
          </a:p>
        </p:txBody>
      </p:sp>
      <p:sp>
        <p:nvSpPr>
          <p:cNvPr id="2" name="">
            <a:extLst xmlns:a="http://schemas.openxmlformats.org/drawingml/2006/main">
              <a:ext uri="{FF2B5EF4-FFF2-40B4-BE49-F238E27FC236}">
                <a16:creationId xmlns:a16="http://schemas.microsoft.com/office/drawing/2014/main" id="{19EDDBB2-7FD2-42A0-9467-F10746223CCD}"/>
              </a:ext>
            </a:extLst>
          </p:cNvPr>
          <p:cNvSpPr>
            <a:spLocks xmlns:a="http://schemas.openxmlformats.org/drawingml/2006/main" noGrp="1"/>
          </p:cNvSpPr>
          <p:nvPr/>
        </p:nvSpPr>
        <p:spPr>
          <a:xfrm xmlns:a="http://schemas.openxmlformats.org/drawingml/2006/main">
            <a:off x="609600" y="9429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Themes</a:t>
            </a:r>
          </a:p>
        </p:txBody>
      </p:sp>
      <p:sp>
        <p:nvSpPr>
          <p:cNvPr id="3" name="">
            <a:extLst xmlns:a="http://schemas.openxmlformats.org/drawingml/2006/main">
              <a:ext uri="{FF2B5EF4-FFF2-40B4-BE49-F238E27FC236}">
                <a16:creationId xmlns:a16="http://schemas.microsoft.com/office/drawing/2014/main" id="{38AA20EA-7CA7-4D39-9F25-F1857534E077}"/>
              </a:ext>
            </a:extLst>
          </p:cNvPr>
          <p:cNvSpPr>
            <a:spLocks xmlns:a="http://schemas.openxmlformats.org/drawingml/2006/main" noGrp="1"/>
          </p:cNvSpPr>
          <p:nvPr/>
        </p:nvSpPr>
        <p:spPr>
          <a:xfrm xmlns:a="http://schemas.openxmlformats.org/drawingml/2006/main">
            <a:off x="6096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5B1A8"/>
                </a:solidFill>
                <a:latin typeface="Arial"/>
                <a:ea typeface="Arial"/>
                <a:cs typeface="Arial"/>
              </a:defRPr>
            </a:defPPr>
          </a:lstStyle>
          <a:p xmlns:a="http://schemas.openxmlformats.org/drawingml/2006/main">
            <a:pPr>
              <a:defRPr sz="1050" b="0">
                <a:solidFill>
                  <a:srgbClr val="B5B1A8"/>
                </a:solidFill>
                <a:latin typeface="Arial"/>
                <a:ea typeface="Arial"/>
                <a:cs typeface="Arial"/>
              </a:defRPr>
            </a:pPr>
            <a:r>
              <a:rPr sz="1050" b="0">
                <a:solidFill>
                  <a:srgbClr val="B5B1A8"/>
                </a:solidFill>
                <a:latin typeface="Arial"/>
                <a:ea typeface="Arial"/>
                <a:cs typeface="Arial"/>
              </a:rPr>
              <a:t>PROPOSED THEMATIC PITCH</a:t>
            </a:r>
          </a:p>
        </p:txBody>
      </p:sp>
      <p:sp>
        <p:nvSpPr>
          <p:cNvPr id="4" name="">
            <a:extLst xmlns:a="http://schemas.openxmlformats.org/drawingml/2006/main">
              <a:ext uri="{FF2B5EF4-FFF2-40B4-BE49-F238E27FC236}">
                <a16:creationId xmlns:a16="http://schemas.microsoft.com/office/drawing/2014/main" id="{F52C428B-095B-4A75-9E0C-C94A31843DFE}"/>
              </a:ext>
            </a:extLst>
          </p:cNvPr>
          <p:cNvSpPr>
            <a:spLocks xmlns:a="http://schemas.openxmlformats.org/drawingml/2006/main" noGrp="1"/>
          </p:cNvSpPr>
          <p:nvPr/>
        </p:nvSpPr>
        <p:spPr>
          <a:xfrm xmlns:a="http://schemas.openxmlformats.org/drawingml/2006/main">
            <a:off x="11049000"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4A548"/>
                </a:solidFill>
                <a:latin typeface="Arial"/>
                <a:ea typeface="Arial"/>
                <a:cs typeface="Arial"/>
              </a:defRPr>
            </a:defPPr>
          </a:lstStyle>
          <a:p xmlns:a="http://schemas.openxmlformats.org/drawingml/2006/main">
            <a:pPr>
              <a:defRPr sz="1050" b="0">
                <a:solidFill>
                  <a:srgbClr val="C4A548"/>
                </a:solidFill>
                <a:latin typeface="Arial"/>
                <a:ea typeface="Arial"/>
                <a:cs typeface="Arial"/>
              </a:defRPr>
            </a:pPr>
            <a:r>
              <a:rPr sz="1050" b="0">
                <a:solidFill>
                  <a:srgbClr val="C4A548"/>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0FECAC25-AD3F-406D-8B15-D2DFC4ECEA59}"/>
              </a:ext>
            </a:extLst>
          </p:cNvPr>
          <p:cNvSpPr>
            <a:spLocks xmlns:a="http://schemas.openxmlformats.org/drawingml/2006/main" noGrp="1"/>
          </p:cNvSpPr>
          <p:nvPr/>
        </p:nvSpPr>
        <p:spPr>
          <a:xfrm xmlns:a="http://schemas.openxmlformats.org/drawingml/2006/main">
            <a:off x="609600" y="2076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RECLAIMING AGENCY</a:t>
            </a:r>
          </a:p>
        </p:txBody>
      </p:sp>
      <p:sp>
        <p:nvSpPr>
          <p:cNvPr id="6" name="">
            <a:extLst xmlns:a="http://schemas.openxmlformats.org/drawingml/2006/main">
              <a:ext uri="{FF2B5EF4-FFF2-40B4-BE49-F238E27FC236}">
                <a16:creationId xmlns:a16="http://schemas.microsoft.com/office/drawing/2014/main" id="{07C5285B-BE97-46C2-87FD-2FA4799A9E7E}"/>
              </a:ext>
            </a:extLst>
          </p:cNvPr>
          <p:cNvSpPr>
            <a:spLocks xmlns:a="http://schemas.openxmlformats.org/drawingml/2006/main" noGrp="1"/>
          </p:cNvSpPr>
          <p:nvPr/>
        </p:nvSpPr>
        <p:spPr>
          <a:xfrm xmlns:a="http://schemas.openxmlformats.org/drawingml/2006/main">
            <a:off x="609600" y="2724150"/>
            <a:ext cx="4857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1E9"/>
                </a:solidFill>
                <a:latin typeface="Arial"/>
                <a:ea typeface="Arial"/>
                <a:cs typeface="Arial"/>
              </a:defRPr>
            </a:defPPr>
          </a:lstStyle>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Ji-Yeon turns the visibility that helped conceal her exploitation into a means of resistance. Her public image and private choices finally converge.</a:t>
            </a:r>
          </a:p>
        </p:txBody>
      </p:sp>
      <p:sp>
        <p:nvSpPr>
          <p:cNvPr id="7" name="">
            <a:extLst xmlns:a="http://schemas.openxmlformats.org/drawingml/2006/main">
              <a:ext uri="{FF2B5EF4-FFF2-40B4-BE49-F238E27FC236}">
                <a16:creationId xmlns:a16="http://schemas.microsoft.com/office/drawing/2014/main" id="{3202B3E0-7587-471F-8EE7-69F4B72B811D}"/>
              </a:ext>
            </a:extLst>
          </p:cNvPr>
          <p:cNvSpPr>
            <a:spLocks xmlns:a="http://schemas.openxmlformats.org/drawingml/2006/main" noGrp="1"/>
          </p:cNvSpPr>
          <p:nvPr/>
        </p:nvSpPr>
        <p:spPr>
          <a:xfrm xmlns:a="http://schemas.openxmlformats.org/drawingml/2006/main">
            <a:off x="6572250" y="20764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HERITAGE AND OWNERSHIP</a:t>
            </a:r>
          </a:p>
        </p:txBody>
      </p:sp>
      <p:sp>
        <p:nvSpPr>
          <p:cNvPr id="8" name="">
            <a:extLst xmlns:a="http://schemas.openxmlformats.org/drawingml/2006/main">
              <a:ext uri="{FF2B5EF4-FFF2-40B4-BE49-F238E27FC236}">
                <a16:creationId xmlns:a16="http://schemas.microsoft.com/office/drawing/2014/main" id="{EF6A70F9-DCBB-47C7-BEEB-15BAE1575E35}"/>
              </a:ext>
            </a:extLst>
          </p:cNvPr>
          <p:cNvSpPr>
            <a:spLocks xmlns:a="http://schemas.openxmlformats.org/drawingml/2006/main" noGrp="1"/>
          </p:cNvSpPr>
          <p:nvPr/>
        </p:nvSpPr>
        <p:spPr>
          <a:xfrm xmlns:a="http://schemas.openxmlformats.org/drawingml/2006/main">
            <a:off x="6572250" y="2724150"/>
            <a:ext cx="4953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1E9"/>
                </a:solidFill>
                <a:latin typeface="Arial"/>
                <a:ea typeface="Arial"/>
                <a:cs typeface="Arial"/>
              </a:defRPr>
            </a:defPPr>
          </a:lstStyle>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The stolen seals connect personal coercion to the theft of national heritage. The pitch asks who controls a woman’s image and a culture’s history.</a:t>
            </a:r>
          </a:p>
        </p:txBody>
      </p:sp>
    </p:spTree>
    <p:extLst>
      <p:ext uri="{BB962C8B-B14F-4D97-AF65-F5344CB8AC3E}">
        <p14:creationId xmlns:p14="http://schemas.microsoft.com/office/powerpoint/2010/main" val="1004607312"/>
      </p:ext>
    </p:extLst>
  </p:cSld>
</p:sld>
</file>

<file path=ppt/slides/slide10.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8F2739-3C51-4342-84EA-597376B1BFC0}"/>
              </a:ext>
            </a:extLst>
          </p:cNvPr>
          <p:cNvSpPr>
            <a:spLocks xmlns:a="http://schemas.openxmlformats.org/drawingml/2006/main" noGrp="1"/>
          </p:cNvSpPr>
          <p:nvPr/>
        </p:nvSpPr>
        <p:spPr>
          <a:xfrm xmlns:a="http://schemas.openxmlformats.org/drawingml/2006/main">
            <a:off x="609600" y="30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4A548"/>
                </a:solidFill>
                <a:latin typeface="Arial"/>
                <a:ea typeface="Arial"/>
                <a:cs typeface="Arial"/>
              </a:defRPr>
            </a:defPPr>
          </a:lstStyle>
          <a:p xmlns:a="http://schemas.openxmlformats.org/drawingml/2006/main">
            <a:pPr>
              <a:defRPr sz="1275" b="0">
                <a:solidFill>
                  <a:srgbClr val="C4A548"/>
                </a:solidFill>
                <a:latin typeface="Arial"/>
                <a:ea typeface="Arial"/>
                <a:cs typeface="Arial"/>
              </a:defRPr>
            </a:pPr>
            <a:r>
              <a:rPr sz="1275" b="0">
                <a:solidFill>
                  <a:srgbClr val="C4A548"/>
                </a:solidFill>
                <a:latin typeface="Arial"/>
                <a:ea typeface="Arial"/>
                <a:cs typeface="Arial"/>
              </a:rPr>
              <a:t>NCCA ENTERTAINMENT</a:t>
            </a:r>
          </a:p>
        </p:txBody>
      </p:sp>
      <p:sp>
        <p:nvSpPr>
          <p:cNvPr id="2" name="">
            <a:extLst xmlns:a="http://schemas.openxmlformats.org/drawingml/2006/main">
              <a:ext uri="{FF2B5EF4-FFF2-40B4-BE49-F238E27FC236}">
                <a16:creationId xmlns:a16="http://schemas.microsoft.com/office/drawing/2014/main" id="{3D971E77-B9F2-4CCA-A983-80660223D179}"/>
              </a:ext>
            </a:extLst>
          </p:cNvPr>
          <p:cNvSpPr>
            <a:spLocks xmlns:a="http://schemas.openxmlformats.org/drawingml/2006/main" noGrp="1"/>
          </p:cNvSpPr>
          <p:nvPr/>
        </p:nvSpPr>
        <p:spPr>
          <a:xfrm xmlns:a="http://schemas.openxmlformats.org/drawingml/2006/main">
            <a:off x="609600" y="9429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Tone and comparables</a:t>
            </a:r>
          </a:p>
        </p:txBody>
      </p:sp>
      <p:sp>
        <p:nvSpPr>
          <p:cNvPr id="3" name="">
            <a:extLst xmlns:a="http://schemas.openxmlformats.org/drawingml/2006/main">
              <a:ext uri="{FF2B5EF4-FFF2-40B4-BE49-F238E27FC236}">
                <a16:creationId xmlns:a16="http://schemas.microsoft.com/office/drawing/2014/main" id="{9A991CB7-A307-4F38-8E96-888E6CE1707C}"/>
              </a:ext>
            </a:extLst>
          </p:cNvPr>
          <p:cNvSpPr>
            <a:spLocks xmlns:a="http://schemas.openxmlformats.org/drawingml/2006/main" noGrp="1"/>
          </p:cNvSpPr>
          <p:nvPr/>
        </p:nvSpPr>
        <p:spPr>
          <a:xfrm xmlns:a="http://schemas.openxmlformats.org/drawingml/2006/main">
            <a:off x="6096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5B1A8"/>
                </a:solidFill>
                <a:latin typeface="Arial"/>
                <a:ea typeface="Arial"/>
                <a:cs typeface="Arial"/>
              </a:defRPr>
            </a:defPPr>
          </a:lstStyle>
          <a:p xmlns:a="http://schemas.openxmlformats.org/drawingml/2006/main">
            <a:pPr>
              <a:defRPr sz="1050" b="0">
                <a:solidFill>
                  <a:srgbClr val="B5B1A8"/>
                </a:solidFill>
                <a:latin typeface="Arial"/>
                <a:ea typeface="Arial"/>
                <a:cs typeface="Arial"/>
              </a:defRPr>
            </a:pPr>
            <a:r>
              <a:rPr sz="1050" b="0">
                <a:solidFill>
                  <a:srgbClr val="B5B1A8"/>
                </a:solidFill>
                <a:latin typeface="Arial"/>
                <a:ea typeface="Arial"/>
                <a:cs typeface="Arial"/>
              </a:rPr>
              <a:t>SOURCE COMPS · PROPOSED TONAL INTERPRETATION</a:t>
            </a:r>
          </a:p>
        </p:txBody>
      </p:sp>
      <p:sp>
        <p:nvSpPr>
          <p:cNvPr id="4" name="">
            <a:extLst xmlns:a="http://schemas.openxmlformats.org/drawingml/2006/main">
              <a:ext uri="{FF2B5EF4-FFF2-40B4-BE49-F238E27FC236}">
                <a16:creationId xmlns:a16="http://schemas.microsoft.com/office/drawing/2014/main" id="{4E4D9B2B-497F-4671-BF07-FA1C66C0B324}"/>
              </a:ext>
            </a:extLst>
          </p:cNvPr>
          <p:cNvSpPr>
            <a:spLocks xmlns:a="http://schemas.openxmlformats.org/drawingml/2006/main" noGrp="1"/>
          </p:cNvSpPr>
          <p:nvPr/>
        </p:nvSpPr>
        <p:spPr>
          <a:xfrm xmlns:a="http://schemas.openxmlformats.org/drawingml/2006/main">
            <a:off x="11049000"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4A548"/>
                </a:solidFill>
                <a:latin typeface="Arial"/>
                <a:ea typeface="Arial"/>
                <a:cs typeface="Arial"/>
              </a:defRPr>
            </a:defPPr>
          </a:lstStyle>
          <a:p xmlns:a="http://schemas.openxmlformats.org/drawingml/2006/main">
            <a:pPr>
              <a:defRPr sz="1050" b="0">
                <a:solidFill>
                  <a:srgbClr val="C4A548"/>
                </a:solidFill>
                <a:latin typeface="Arial"/>
                <a:ea typeface="Arial"/>
                <a:cs typeface="Arial"/>
              </a:defRPr>
            </a:pPr>
            <a:r>
              <a:rPr sz="1050" b="0">
                <a:solidFill>
                  <a:srgbClr val="C4A548"/>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A2CA35B1-AB6F-4212-A701-F7028C716708}"/>
              </a:ext>
            </a:extLst>
          </p:cNvPr>
          <p:cNvSpPr>
            <a:spLocks xmlns:a="http://schemas.openxmlformats.org/drawingml/2006/main" noGrp="1"/>
          </p:cNvSpPr>
          <p:nvPr/>
        </p:nvSpPr>
        <p:spPr>
          <a:xfrm xmlns:a="http://schemas.openxmlformats.org/drawingml/2006/main">
            <a:off x="609600" y="19716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C4A548"/>
                </a:solidFill>
                <a:latin typeface="Georgia"/>
                <a:ea typeface="Georgia"/>
                <a:cs typeface="Georgia"/>
              </a:defRPr>
            </a:defPPr>
          </a:lstStyle>
          <a:p xmlns:a="http://schemas.openxmlformats.org/drawingml/2006/main">
            <a:pPr>
              <a:defRPr sz="2775" b="0">
                <a:solidFill>
                  <a:srgbClr val="C4A548"/>
                </a:solidFill>
                <a:latin typeface="Georgia"/>
                <a:ea typeface="Georgia"/>
                <a:cs typeface="Georgia"/>
              </a:defRPr>
            </a:pPr>
            <a:r>
              <a:rPr sz="2775" b="0">
                <a:solidFill>
                  <a:srgbClr val="C4A548"/>
                </a:solidFill>
                <a:latin typeface="Georgia"/>
                <a:ea typeface="Georgia"/>
                <a:cs typeface="Georgia"/>
              </a:rPr>
              <a:t>Prestige drama with an action-thriller engine</a:t>
            </a:r>
          </a:p>
        </p:txBody>
      </p:sp>
      <p:sp>
        <p:nvSpPr>
          <p:cNvPr id="6" name="">
            <a:extLst xmlns:a="http://schemas.openxmlformats.org/drawingml/2006/main">
              <a:ext uri="{FF2B5EF4-FFF2-40B4-BE49-F238E27FC236}">
                <a16:creationId xmlns:a16="http://schemas.microsoft.com/office/drawing/2014/main" id="{E917CA11-0486-473B-AFC7-1F3377141CDE}"/>
              </a:ext>
            </a:extLst>
          </p:cNvPr>
          <p:cNvSpPr>
            <a:spLocks xmlns:a="http://schemas.openxmlformats.org/drawingml/2006/main" noGrp="1"/>
          </p:cNvSpPr>
          <p:nvPr/>
        </p:nvSpPr>
        <p:spPr>
          <a:xfrm xmlns:a="http://schemas.openxmlformats.org/drawingml/2006/main">
            <a:off x="609600" y="3105150"/>
            <a:ext cx="4381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4F1E9"/>
                </a:solidFill>
                <a:latin typeface="Arial"/>
                <a:ea typeface="Arial"/>
                <a:cs typeface="Arial"/>
              </a:defRPr>
            </a:defPPr>
          </a:lstStyle>
          <a:p xmlns:a="http://schemas.openxmlformats.org/drawingml/2006/main">
            <a:pPr>
              <a:defRPr sz="2250" b="0">
                <a:solidFill>
                  <a:srgbClr val="F4F1E9"/>
                </a:solidFill>
                <a:latin typeface="Arial"/>
                <a:ea typeface="Arial"/>
                <a:cs typeface="Arial"/>
              </a:defRPr>
            </a:pPr>
            <a:r>
              <a:rPr sz="2250" b="0">
                <a:solidFill>
                  <a:srgbClr val="F4F1E9"/>
                </a:solidFill>
                <a:latin typeface="Arial"/>
                <a:ea typeface="Arial"/>
                <a:cs typeface="Arial"/>
              </a:rPr>
              <a:t>Pachinko</a:t>
            </a:r>
          </a:p>
          <a:p xmlns:a="http://schemas.openxmlformats.org/drawingml/2006/main">
            <a:pPr>
              <a:defRPr sz="2250" b="0">
                <a:solidFill>
                  <a:srgbClr val="F4F1E9"/>
                </a:solidFill>
                <a:latin typeface="Arial"/>
                <a:ea typeface="Arial"/>
                <a:cs typeface="Arial"/>
              </a:defRPr>
            </a:pPr>
            <a:r>
              <a:rPr sz="2250" b="0">
                <a:solidFill>
                  <a:srgbClr val="F4F1E9"/>
                </a:solidFill>
                <a:latin typeface="Arial"/>
                <a:ea typeface="Arial"/>
                <a:cs typeface="Arial"/>
              </a:rPr>
              <a:t>The Diplomat</a:t>
            </a:r>
          </a:p>
          <a:p xmlns:a="http://schemas.openxmlformats.org/drawingml/2006/main">
            <a:pPr>
              <a:defRPr sz="2250" b="0">
                <a:solidFill>
                  <a:srgbClr val="F4F1E9"/>
                </a:solidFill>
                <a:latin typeface="Arial"/>
                <a:ea typeface="Arial"/>
                <a:cs typeface="Arial"/>
              </a:defRPr>
            </a:pPr>
            <a:r>
              <a:rPr sz="2250" b="0">
                <a:solidFill>
                  <a:srgbClr val="F4F1E9"/>
                </a:solidFill>
                <a:latin typeface="Arial"/>
                <a:ea typeface="Arial"/>
                <a:cs typeface="Arial"/>
              </a:rPr>
              <a:t>Parasite</a:t>
            </a:r>
          </a:p>
          <a:p xmlns:a="http://schemas.openxmlformats.org/drawingml/2006/main">
            <a:pPr>
              <a:defRPr sz="2250" b="0">
                <a:solidFill>
                  <a:srgbClr val="F4F1E9"/>
                </a:solidFill>
                <a:latin typeface="Arial"/>
                <a:ea typeface="Arial"/>
                <a:cs typeface="Arial"/>
              </a:defRPr>
            </a:pPr>
            <a:r>
              <a:rPr sz="2250" b="0">
                <a:solidFill>
                  <a:srgbClr val="F4F1E9"/>
                </a:solidFill>
                <a:latin typeface="Arial"/>
                <a:ea typeface="Arial"/>
                <a:cs typeface="Arial"/>
              </a:rPr>
              <a:t>Assassination (2015)</a:t>
            </a:r>
          </a:p>
          <a:p xmlns:a="http://schemas.openxmlformats.org/drawingml/2006/main">
            <a:pPr>
              <a:defRPr sz="2250" b="0">
                <a:solidFill>
                  <a:srgbClr val="F4F1E9"/>
                </a:solidFill>
                <a:latin typeface="Arial"/>
                <a:ea typeface="Arial"/>
                <a:cs typeface="Arial"/>
              </a:defRPr>
            </a:pPr>
            <a:r>
              <a:rPr sz="2250" b="0">
                <a:solidFill>
                  <a:srgbClr val="F4F1E9"/>
                </a:solidFill>
                <a:latin typeface="Arial"/>
                <a:ea typeface="Arial"/>
                <a:cs typeface="Arial"/>
              </a:rPr>
              <a:t>Squid Game</a:t>
            </a:r>
          </a:p>
        </p:txBody>
      </p:sp>
      <p:sp>
        <p:nvSpPr>
          <p:cNvPr id="7" name="">
            <a:extLst xmlns:a="http://schemas.openxmlformats.org/drawingml/2006/main">
              <a:ext uri="{FF2B5EF4-FFF2-40B4-BE49-F238E27FC236}">
                <a16:creationId xmlns:a16="http://schemas.microsoft.com/office/drawing/2014/main" id="{7A2A9D6A-3EEE-456E-90E4-94C06323FF8A}"/>
              </a:ext>
            </a:extLst>
          </p:cNvPr>
          <p:cNvSpPr>
            <a:spLocks xmlns:a="http://schemas.openxmlformats.org/drawingml/2006/main" noGrp="1"/>
          </p:cNvSpPr>
          <p:nvPr/>
        </p:nvSpPr>
        <p:spPr>
          <a:xfrm xmlns:a="http://schemas.openxmlformats.org/drawingml/2006/main">
            <a:off x="5238750" y="3105150"/>
            <a:ext cx="6286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5B1A8"/>
                </a:solidFill>
                <a:latin typeface="Arial"/>
                <a:ea typeface="Arial"/>
                <a:cs typeface="Arial"/>
              </a:defRPr>
            </a:defPPr>
          </a:lstStyle>
          <a:p xmlns:a="http://schemas.openxmlformats.org/drawingml/2006/main">
            <a:pPr>
              <a:defRPr sz="2025" b="0">
                <a:solidFill>
                  <a:srgbClr val="B5B1A8"/>
                </a:solidFill>
                <a:latin typeface="Arial"/>
                <a:ea typeface="Arial"/>
                <a:cs typeface="Arial"/>
              </a:defRPr>
            </a:pPr>
            <a:r>
              <a:rPr sz="2025" b="0">
                <a:solidFill>
                  <a:srgbClr val="B5B1A8"/>
                </a:solidFill>
                <a:latin typeface="Arial"/>
                <a:ea typeface="Arial"/>
                <a:cs typeface="Arial"/>
              </a:rPr>
              <a:t>Cultural specificity and emotional weight</a:t>
            </a:r>
          </a:p>
          <a:p xmlns:a="http://schemas.openxmlformats.org/drawingml/2006/main">
            <a:pPr>
              <a:defRPr sz="2025" b="0">
                <a:solidFill>
                  <a:srgbClr val="B5B1A8"/>
                </a:solidFill>
                <a:latin typeface="Arial"/>
                <a:ea typeface="Arial"/>
                <a:cs typeface="Arial"/>
              </a:defRPr>
            </a:pPr>
            <a:r>
              <a:rPr sz="2025" b="0">
                <a:solidFill>
                  <a:srgbClr val="B5B1A8"/>
                </a:solidFill>
                <a:latin typeface="Arial"/>
                <a:ea typeface="Arial"/>
                <a:cs typeface="Arial"/>
              </a:rPr>
              <a:t>Intelligence stakes and institutional power</a:t>
            </a:r>
          </a:p>
          <a:p xmlns:a="http://schemas.openxmlformats.org/drawingml/2006/main">
            <a:pPr>
              <a:defRPr sz="2025" b="0">
                <a:solidFill>
                  <a:srgbClr val="B5B1A8"/>
                </a:solidFill>
                <a:latin typeface="Arial"/>
                <a:ea typeface="Arial"/>
                <a:cs typeface="Arial"/>
              </a:defRPr>
            </a:pPr>
            <a:r>
              <a:rPr sz="2025" b="0">
                <a:solidFill>
                  <a:srgbClr val="B5B1A8"/>
                </a:solidFill>
                <a:latin typeface="Arial"/>
                <a:ea typeface="Arial"/>
                <a:cs typeface="Arial"/>
              </a:rPr>
              <a:t>Class tension beneath polished surfaces</a:t>
            </a:r>
          </a:p>
          <a:p xmlns:a="http://schemas.openxmlformats.org/drawingml/2006/main">
            <a:pPr>
              <a:defRPr sz="2025" b="0">
                <a:solidFill>
                  <a:srgbClr val="B5B1A8"/>
                </a:solidFill>
                <a:latin typeface="Arial"/>
                <a:ea typeface="Arial"/>
                <a:cs typeface="Arial"/>
              </a:defRPr>
            </a:pPr>
            <a:r>
              <a:rPr sz="2025" b="0">
                <a:solidFill>
                  <a:srgbClr val="B5B1A8"/>
                </a:solidFill>
                <a:latin typeface="Arial"/>
                <a:ea typeface="Arial"/>
                <a:cs typeface="Arial"/>
              </a:rPr>
              <a:t>Korean action and historical resonance</a:t>
            </a:r>
          </a:p>
          <a:p xmlns:a="http://schemas.openxmlformats.org/drawingml/2006/main">
            <a:pPr>
              <a:defRPr sz="2025" b="0">
                <a:solidFill>
                  <a:srgbClr val="B5B1A8"/>
                </a:solidFill>
                <a:latin typeface="Arial"/>
                <a:ea typeface="Arial"/>
                <a:cs typeface="Arial"/>
              </a:defRPr>
            </a:pPr>
            <a:r>
              <a:rPr sz="2025" b="0">
                <a:solidFill>
                  <a:srgbClr val="B5B1A8"/>
                </a:solidFill>
                <a:latin typeface="Arial"/>
                <a:ea typeface="Arial"/>
                <a:cs typeface="Arial"/>
              </a:rPr>
              <a:t>Korean storytelling with global accessibility</a:t>
            </a:r>
          </a:p>
        </p:txBody>
      </p:sp>
    </p:spTree>
    <p:extLst>
      <p:ext uri="{BB962C8B-B14F-4D97-AF65-F5344CB8AC3E}">
        <p14:creationId xmlns:p14="http://schemas.microsoft.com/office/powerpoint/2010/main" val="1347129417"/>
      </p:ext>
    </p:extLst>
  </p:cSld>
</p:sld>
</file>

<file path=ppt/slides/slide11.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BF6865F-F5B8-4B15-AD31-79A89D027746}"/>
              </a:ext>
            </a:extLst>
          </p:cNvPr>
          <p:cNvSpPr>
            <a:spLocks xmlns:a="http://schemas.openxmlformats.org/drawingml/2006/main" noGrp="1"/>
          </p:cNvSpPr>
          <p:nvPr/>
        </p:nvSpPr>
        <p:spPr>
          <a:xfrm xmlns:a="http://schemas.openxmlformats.org/drawingml/2006/main">
            <a:off x="609600" y="30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4A548"/>
                </a:solidFill>
                <a:latin typeface="Arial"/>
                <a:ea typeface="Arial"/>
                <a:cs typeface="Arial"/>
              </a:defRPr>
            </a:defPPr>
          </a:lstStyle>
          <a:p xmlns:a="http://schemas.openxmlformats.org/drawingml/2006/main">
            <a:pPr>
              <a:defRPr sz="1275" b="0">
                <a:solidFill>
                  <a:srgbClr val="C4A548"/>
                </a:solidFill>
                <a:latin typeface="Arial"/>
                <a:ea typeface="Arial"/>
                <a:cs typeface="Arial"/>
              </a:defRPr>
            </a:pPr>
            <a:r>
              <a:rPr sz="1275" b="0">
                <a:solidFill>
                  <a:srgbClr val="C4A548"/>
                </a:solidFill>
                <a:latin typeface="Arial"/>
                <a:ea typeface="Arial"/>
                <a:cs typeface="Arial"/>
              </a:rPr>
              <a:t>NCCA ENTERTAINMENT</a:t>
            </a:r>
          </a:p>
        </p:txBody>
      </p:sp>
      <p:sp>
        <p:nvSpPr>
          <p:cNvPr id="2" name="">
            <a:extLst xmlns:a="http://schemas.openxmlformats.org/drawingml/2006/main">
              <a:ext uri="{FF2B5EF4-FFF2-40B4-BE49-F238E27FC236}">
                <a16:creationId xmlns:a16="http://schemas.microsoft.com/office/drawing/2014/main" id="{11839EA9-BEBC-4F51-8CEE-F0456E2863F9}"/>
              </a:ext>
            </a:extLst>
          </p:cNvPr>
          <p:cNvSpPr>
            <a:spLocks xmlns:a="http://schemas.openxmlformats.org/drawingml/2006/main" noGrp="1"/>
          </p:cNvSpPr>
          <p:nvPr/>
        </p:nvSpPr>
        <p:spPr>
          <a:xfrm xmlns:a="http://schemas.openxmlformats.org/drawingml/2006/main">
            <a:off x="609600" y="9429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Audience and platform</a:t>
            </a:r>
          </a:p>
        </p:txBody>
      </p:sp>
      <p:sp>
        <p:nvSpPr>
          <p:cNvPr id="3" name="">
            <a:extLst xmlns:a="http://schemas.openxmlformats.org/drawingml/2006/main">
              <a:ext uri="{FF2B5EF4-FFF2-40B4-BE49-F238E27FC236}">
                <a16:creationId xmlns:a16="http://schemas.microsoft.com/office/drawing/2014/main" id="{FD8CED79-5920-4F66-85F9-29E7B18DD97D}"/>
              </a:ext>
            </a:extLst>
          </p:cNvPr>
          <p:cNvSpPr>
            <a:spLocks xmlns:a="http://schemas.openxmlformats.org/drawingml/2006/main" noGrp="1"/>
          </p:cNvSpPr>
          <p:nvPr/>
        </p:nvSpPr>
        <p:spPr>
          <a:xfrm xmlns:a="http://schemas.openxmlformats.org/drawingml/2006/main">
            <a:off x="6096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5B1A8"/>
                </a:solidFill>
                <a:latin typeface="Arial"/>
                <a:ea typeface="Arial"/>
                <a:cs typeface="Arial"/>
              </a:defRPr>
            </a:defPPr>
          </a:lstStyle>
          <a:p xmlns:a="http://schemas.openxmlformats.org/drawingml/2006/main">
            <a:pPr>
              <a:defRPr sz="1050" b="0">
                <a:solidFill>
                  <a:srgbClr val="B5B1A8"/>
                </a:solidFill>
                <a:latin typeface="Arial"/>
                <a:ea typeface="Arial"/>
                <a:cs typeface="Arial"/>
              </a:defRPr>
            </a:pPr>
            <a:r>
              <a:rPr sz="1050" b="0">
                <a:solidFill>
                  <a:srgbClr val="B5B1A8"/>
                </a:solidFill>
                <a:latin typeface="Arial"/>
                <a:ea typeface="Arial"/>
                <a:cs typeface="Arial"/>
              </a:rPr>
              <a:t>SOURCE PLATFORM TARGETS · PROPOSED AUDIENCE POSITIONING</a:t>
            </a:r>
          </a:p>
        </p:txBody>
      </p:sp>
      <p:sp>
        <p:nvSpPr>
          <p:cNvPr id="4" name="">
            <a:extLst xmlns:a="http://schemas.openxmlformats.org/drawingml/2006/main">
              <a:ext uri="{FF2B5EF4-FFF2-40B4-BE49-F238E27FC236}">
                <a16:creationId xmlns:a16="http://schemas.microsoft.com/office/drawing/2014/main" id="{5681BB97-5D57-456B-84AF-5430870D37F8}"/>
              </a:ext>
            </a:extLst>
          </p:cNvPr>
          <p:cNvSpPr>
            <a:spLocks xmlns:a="http://schemas.openxmlformats.org/drawingml/2006/main" noGrp="1"/>
          </p:cNvSpPr>
          <p:nvPr/>
        </p:nvSpPr>
        <p:spPr>
          <a:xfrm xmlns:a="http://schemas.openxmlformats.org/drawingml/2006/main">
            <a:off x="11049000"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4A548"/>
                </a:solidFill>
                <a:latin typeface="Arial"/>
                <a:ea typeface="Arial"/>
                <a:cs typeface="Arial"/>
              </a:defRPr>
            </a:defPPr>
          </a:lstStyle>
          <a:p xmlns:a="http://schemas.openxmlformats.org/drawingml/2006/main">
            <a:pPr>
              <a:defRPr sz="1050" b="0">
                <a:solidFill>
                  <a:srgbClr val="C4A548"/>
                </a:solidFill>
                <a:latin typeface="Arial"/>
                <a:ea typeface="Arial"/>
                <a:cs typeface="Arial"/>
              </a:defRPr>
            </a:pPr>
            <a:r>
              <a:rPr sz="1050" b="0">
                <a:solidFill>
                  <a:srgbClr val="C4A548"/>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1B3EAA75-6506-45EE-9735-ED2294A72A35}"/>
              </a:ext>
            </a:extLst>
          </p:cNvPr>
          <p:cNvSpPr>
            <a:spLocks xmlns:a="http://schemas.openxmlformats.org/drawingml/2006/main" noGrp="1"/>
          </p:cNvSpPr>
          <p:nvPr/>
        </p:nvSpPr>
        <p:spPr>
          <a:xfrm xmlns:a="http://schemas.openxmlformats.org/drawingml/2006/main">
            <a:off x="609600" y="2076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SOURCE TARGETS</a:t>
            </a:r>
          </a:p>
        </p:txBody>
      </p:sp>
      <p:sp>
        <p:nvSpPr>
          <p:cNvPr id="6" name="">
            <a:extLst xmlns:a="http://schemas.openxmlformats.org/drawingml/2006/main">
              <a:ext uri="{FF2B5EF4-FFF2-40B4-BE49-F238E27FC236}">
                <a16:creationId xmlns:a16="http://schemas.microsoft.com/office/drawing/2014/main" id="{F8CBF8DD-F016-4CA6-A665-2E87AFFCD58C}"/>
              </a:ext>
            </a:extLst>
          </p:cNvPr>
          <p:cNvSpPr>
            <a:spLocks xmlns:a="http://schemas.openxmlformats.org/drawingml/2006/main" noGrp="1"/>
          </p:cNvSpPr>
          <p:nvPr/>
        </p:nvSpPr>
        <p:spPr>
          <a:xfrm xmlns:a="http://schemas.openxmlformats.org/drawingml/2006/main">
            <a:off x="609600" y="2724150"/>
            <a:ext cx="4857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1E9"/>
                </a:solidFill>
                <a:latin typeface="Arial"/>
                <a:ea typeface="Arial"/>
                <a:cs typeface="Arial"/>
              </a:defRPr>
            </a:defPPr>
          </a:lstStyle>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Netflix and Asian theatrical.</a:t>
            </a:r>
          </a:p>
          <a:p xmlns:a="http://schemas.openxmlformats.org/drawingml/2006/main">
            <a:r>
              <a:t/>
            </a:r>
          </a:p>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A Korean / English feature centered on a K-fashion heroine, with a story spanning three Asian cities.</a:t>
            </a:r>
          </a:p>
        </p:txBody>
      </p:sp>
      <p:sp>
        <p:nvSpPr>
          <p:cNvPr id="7" name="">
            <a:extLst xmlns:a="http://schemas.openxmlformats.org/drawingml/2006/main">
              <a:ext uri="{FF2B5EF4-FFF2-40B4-BE49-F238E27FC236}">
                <a16:creationId xmlns:a16="http://schemas.microsoft.com/office/drawing/2014/main" id="{2A0BD392-A382-4748-9F28-917B7D20164B}"/>
              </a:ext>
            </a:extLst>
          </p:cNvPr>
          <p:cNvSpPr>
            <a:spLocks xmlns:a="http://schemas.openxmlformats.org/drawingml/2006/main" noGrp="1"/>
          </p:cNvSpPr>
          <p:nvPr/>
        </p:nvSpPr>
        <p:spPr>
          <a:xfrm xmlns:a="http://schemas.openxmlformats.org/drawingml/2006/main">
            <a:off x="6572250" y="20764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PROPOSED AUDIENCE</a:t>
            </a:r>
          </a:p>
        </p:txBody>
      </p:sp>
      <p:sp>
        <p:nvSpPr>
          <p:cNvPr id="8" name="">
            <a:extLst xmlns:a="http://schemas.openxmlformats.org/drawingml/2006/main">
              <a:ext uri="{FF2B5EF4-FFF2-40B4-BE49-F238E27FC236}">
                <a16:creationId xmlns:a16="http://schemas.microsoft.com/office/drawing/2014/main" id="{3EF1F8E1-64B5-42F7-A567-D9CB83B93660}"/>
              </a:ext>
            </a:extLst>
          </p:cNvPr>
          <p:cNvSpPr>
            <a:spLocks xmlns:a="http://schemas.openxmlformats.org/drawingml/2006/main" noGrp="1"/>
          </p:cNvSpPr>
          <p:nvPr/>
        </p:nvSpPr>
        <p:spPr>
          <a:xfrm xmlns:a="http://schemas.openxmlformats.org/drawingml/2006/main">
            <a:off x="6572250" y="2724150"/>
            <a:ext cx="4953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1E9"/>
                </a:solidFill>
                <a:latin typeface="Arial"/>
                <a:ea typeface="Arial"/>
                <a:cs typeface="Arial"/>
              </a:defRPr>
            </a:defPPr>
          </a:lstStyle>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Adults drawn to Korean prestige storytelling, intelligence thrillers and female-led action. Fashion and cultural heritage offer additional points of entry.</a:t>
            </a:r>
          </a:p>
        </p:txBody>
      </p:sp>
      <p:sp>
        <p:nvSpPr>
          <p:cNvPr id="9" name="">
            <a:extLst xmlns:a="http://schemas.openxmlformats.org/drawingml/2006/main">
              <a:ext uri="{FF2B5EF4-FFF2-40B4-BE49-F238E27FC236}">
                <a16:creationId xmlns:a16="http://schemas.microsoft.com/office/drawing/2014/main" id="{04299938-2DA8-4C2C-8DCB-38C84F329D46}"/>
              </a:ext>
            </a:extLst>
          </p:cNvPr>
          <p:cNvSpPr>
            <a:spLocks xmlns:a="http://schemas.openxmlformats.org/drawingml/2006/main" noGrp="1"/>
          </p:cNvSpPr>
          <p:nvPr/>
        </p:nvSpPr>
        <p:spPr>
          <a:xfrm xmlns:a="http://schemas.openxmlformats.org/drawingml/2006/main">
            <a:off x="609600" y="57721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B5B1A8"/>
                </a:solidFill>
                <a:latin typeface="Arial"/>
                <a:ea typeface="Arial"/>
                <a:cs typeface="Arial"/>
              </a:defRPr>
            </a:defPPr>
          </a:lstStyle>
          <a:p xmlns:a="http://schemas.openxmlformats.org/drawingml/2006/main">
            <a:pPr>
              <a:defRPr sz="1425" b="0">
                <a:solidFill>
                  <a:srgbClr val="B5B1A8"/>
                </a:solidFill>
                <a:latin typeface="Arial"/>
                <a:ea typeface="Arial"/>
                <a:cs typeface="Arial"/>
              </a:defRPr>
            </a:pPr>
            <a:r>
              <a:rPr sz="1425" b="0">
                <a:solidFill>
                  <a:srgbClr val="B5B1A8"/>
                </a:solidFill>
                <a:latin typeface="Arial"/>
                <a:ea typeface="Arial"/>
                <a:cs typeface="Arial"/>
              </a:rPr>
              <a:t>Positioning proposal only. No platform commitment or distribution deal is asserted.</a:t>
            </a:r>
          </a:p>
        </p:txBody>
      </p:sp>
    </p:spTree>
    <p:extLst>
      <p:ext uri="{BB962C8B-B14F-4D97-AF65-F5344CB8AC3E}">
        <p14:creationId xmlns:p14="http://schemas.microsoft.com/office/powerpoint/2010/main" val="629687963"/>
      </p:ext>
    </p:extLst>
  </p:cSld>
</p:sld>
</file>

<file path=ppt/slides/slide12.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3B7D084-B0F8-433F-800F-8C16791BDF41}"/>
              </a:ext>
            </a:extLst>
          </p:cNvPr>
          <p:cNvSpPr>
            <a:spLocks xmlns:a="http://schemas.openxmlformats.org/drawingml/2006/main" noGrp="1"/>
          </p:cNvSpPr>
          <p:nvPr/>
        </p:nvSpPr>
        <p:spPr>
          <a:xfrm xmlns:a="http://schemas.openxmlformats.org/drawingml/2006/main">
            <a:off x="609600" y="30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4A548"/>
                </a:solidFill>
                <a:latin typeface="Arial"/>
                <a:ea typeface="Arial"/>
                <a:cs typeface="Arial"/>
              </a:defRPr>
            </a:defPPr>
          </a:lstStyle>
          <a:p xmlns:a="http://schemas.openxmlformats.org/drawingml/2006/main">
            <a:pPr>
              <a:defRPr sz="1275" b="0">
                <a:solidFill>
                  <a:srgbClr val="C4A548"/>
                </a:solidFill>
                <a:latin typeface="Arial"/>
                <a:ea typeface="Arial"/>
                <a:cs typeface="Arial"/>
              </a:defRPr>
            </a:pPr>
            <a:r>
              <a:rPr sz="1275" b="0">
                <a:solidFill>
                  <a:srgbClr val="C4A548"/>
                </a:solidFill>
                <a:latin typeface="Arial"/>
                <a:ea typeface="Arial"/>
                <a:cs typeface="Arial"/>
              </a:rPr>
              <a:t>NCCA ENTERTAINMENT</a:t>
            </a:r>
          </a:p>
        </p:txBody>
      </p:sp>
      <p:sp>
        <p:nvSpPr>
          <p:cNvPr id="2" name="">
            <a:extLst xmlns:a="http://schemas.openxmlformats.org/drawingml/2006/main">
              <a:ext uri="{FF2B5EF4-FFF2-40B4-BE49-F238E27FC236}">
                <a16:creationId xmlns:a16="http://schemas.microsoft.com/office/drawing/2014/main" id="{10141051-B959-4B2D-8815-466C0CFF8A0C}"/>
              </a:ext>
            </a:extLst>
          </p:cNvPr>
          <p:cNvSpPr>
            <a:spLocks xmlns:a="http://schemas.openxmlformats.org/drawingml/2006/main" noGrp="1"/>
          </p:cNvSpPr>
          <p:nvPr/>
        </p:nvSpPr>
        <p:spPr>
          <a:xfrm xmlns:a="http://schemas.openxmlformats.org/drawingml/2006/main">
            <a:off x="609600" y="9429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Suggested casting</a:t>
            </a:r>
          </a:p>
        </p:txBody>
      </p:sp>
      <p:sp>
        <p:nvSpPr>
          <p:cNvPr id="3" name="">
            <a:extLst xmlns:a="http://schemas.openxmlformats.org/drawingml/2006/main">
              <a:ext uri="{FF2B5EF4-FFF2-40B4-BE49-F238E27FC236}">
                <a16:creationId xmlns:a16="http://schemas.microsoft.com/office/drawing/2014/main" id="{FF217DDE-8305-49DC-A5AC-B1F3F8259C2F}"/>
              </a:ext>
            </a:extLst>
          </p:cNvPr>
          <p:cNvSpPr>
            <a:spLocks xmlns:a="http://schemas.openxmlformats.org/drawingml/2006/main" noGrp="1"/>
          </p:cNvSpPr>
          <p:nvPr/>
        </p:nvSpPr>
        <p:spPr>
          <a:xfrm xmlns:a="http://schemas.openxmlformats.org/drawingml/2006/main">
            <a:off x="6096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5B1A8"/>
                </a:solidFill>
                <a:latin typeface="Arial"/>
                <a:ea typeface="Arial"/>
                <a:cs typeface="Arial"/>
              </a:defRPr>
            </a:defPPr>
          </a:lstStyle>
          <a:p xmlns:a="http://schemas.openxmlformats.org/drawingml/2006/main">
            <a:pPr>
              <a:defRPr sz="1050" b="0">
                <a:solidFill>
                  <a:srgbClr val="B5B1A8"/>
                </a:solidFill>
                <a:latin typeface="Arial"/>
                <a:ea typeface="Arial"/>
                <a:cs typeface="Arial"/>
              </a:defRPr>
            </a:pPr>
            <a:r>
              <a:rPr sz="1050" b="0">
                <a:solidFill>
                  <a:srgbClr val="B5B1A8"/>
                </a:solidFill>
                <a:latin typeface="Arial"/>
                <a:ea typeface="Arial"/>
                <a:cs typeface="Arial"/>
              </a:rPr>
              <a:t>ALL CASTING UNCONFIRMED · SOURCE SUGGESTIONS ONLY</a:t>
            </a:r>
          </a:p>
        </p:txBody>
      </p:sp>
      <p:sp>
        <p:nvSpPr>
          <p:cNvPr id="4" name="">
            <a:extLst xmlns:a="http://schemas.openxmlformats.org/drawingml/2006/main">
              <a:ext uri="{FF2B5EF4-FFF2-40B4-BE49-F238E27FC236}">
                <a16:creationId xmlns:a16="http://schemas.microsoft.com/office/drawing/2014/main" id="{5D7125CF-5FA4-4ED3-B121-F8141F44E790}"/>
              </a:ext>
            </a:extLst>
          </p:cNvPr>
          <p:cNvSpPr>
            <a:spLocks xmlns:a="http://schemas.openxmlformats.org/drawingml/2006/main" noGrp="1"/>
          </p:cNvSpPr>
          <p:nvPr/>
        </p:nvSpPr>
        <p:spPr>
          <a:xfrm xmlns:a="http://schemas.openxmlformats.org/drawingml/2006/main">
            <a:off x="11049000"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4A548"/>
                </a:solidFill>
                <a:latin typeface="Arial"/>
                <a:ea typeface="Arial"/>
                <a:cs typeface="Arial"/>
              </a:defRPr>
            </a:defPPr>
          </a:lstStyle>
          <a:p xmlns:a="http://schemas.openxmlformats.org/drawingml/2006/main">
            <a:pPr>
              <a:defRPr sz="1050" b="0">
                <a:solidFill>
                  <a:srgbClr val="C4A548"/>
                </a:solidFill>
                <a:latin typeface="Arial"/>
                <a:ea typeface="Arial"/>
                <a:cs typeface="Arial"/>
              </a:defRPr>
            </a:pPr>
            <a:r>
              <a:rPr sz="1050" b="0">
                <a:solidFill>
                  <a:srgbClr val="C4A548"/>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932E57D5-EE19-46D5-94A3-5290B2FE4608}"/>
              </a:ext>
            </a:extLst>
          </p:cNvPr>
          <p:cNvSpPr>
            <a:spLocks xmlns:a="http://schemas.openxmlformats.org/drawingml/2006/main" noGrp="1"/>
          </p:cNvSpPr>
          <p:nvPr/>
        </p:nvSpPr>
        <p:spPr>
          <a:xfrm xmlns:a="http://schemas.openxmlformats.org/drawingml/2006/main">
            <a:off x="609600" y="19907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4A548"/>
                </a:solidFill>
                <a:latin typeface="Arial"/>
                <a:ea typeface="Arial"/>
                <a:cs typeface="Arial"/>
              </a:defRPr>
            </a:defPPr>
          </a:lstStyle>
          <a:p xmlns:a="http://schemas.openxmlformats.org/drawingml/2006/main">
            <a:pPr>
              <a:defRPr sz="1500" b="0">
                <a:solidFill>
                  <a:srgbClr val="C4A548"/>
                </a:solidFill>
                <a:latin typeface="Arial"/>
                <a:ea typeface="Arial"/>
                <a:cs typeface="Arial"/>
              </a:defRPr>
            </a:pPr>
            <a:r>
              <a:rPr sz="1500" b="0">
                <a:solidFill>
                  <a:srgbClr val="C4A548"/>
                </a:solidFill>
                <a:latin typeface="Arial"/>
                <a:ea typeface="Arial"/>
                <a:cs typeface="Arial"/>
              </a:rPr>
              <a:t>JI-YEON KIM</a:t>
            </a:r>
          </a:p>
        </p:txBody>
      </p:sp>
      <p:sp>
        <p:nvSpPr>
          <p:cNvPr id="6" name="">
            <a:extLst xmlns:a="http://schemas.openxmlformats.org/drawingml/2006/main">
              <a:ext uri="{FF2B5EF4-FFF2-40B4-BE49-F238E27FC236}">
                <a16:creationId xmlns:a16="http://schemas.microsoft.com/office/drawing/2014/main" id="{EDFD239C-E849-4AB2-B48B-75D052F7C382}"/>
              </a:ext>
            </a:extLst>
          </p:cNvPr>
          <p:cNvSpPr>
            <a:spLocks xmlns:a="http://schemas.openxmlformats.org/drawingml/2006/main" noGrp="1"/>
          </p:cNvSpPr>
          <p:nvPr/>
        </p:nvSpPr>
        <p:spPr>
          <a:xfrm xmlns:a="http://schemas.openxmlformats.org/drawingml/2006/main">
            <a:off x="609600" y="23241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4F1E9"/>
                </a:solidFill>
                <a:latin typeface="Arial"/>
                <a:ea typeface="Arial"/>
                <a:cs typeface="Arial"/>
              </a:defRPr>
            </a:defPPr>
          </a:lstStyle>
          <a:p xmlns:a="http://schemas.openxmlformats.org/drawingml/2006/main">
            <a:pPr>
              <a:defRPr sz="2400" b="1">
                <a:solidFill>
                  <a:srgbClr val="F4F1E9"/>
                </a:solidFill>
                <a:latin typeface="Arial"/>
                <a:ea typeface="Arial"/>
                <a:cs typeface="Arial"/>
              </a:defRPr>
            </a:pPr>
            <a:r>
              <a:rPr sz="2400" b="1">
                <a:solidFill>
                  <a:srgbClr val="F4F1E9"/>
                </a:solidFill>
                <a:latin typeface="Arial"/>
                <a:ea typeface="Arial"/>
                <a:cs typeface="Arial"/>
              </a:rPr>
              <a:t>Jung Ho-yeon</a:t>
            </a:r>
          </a:p>
        </p:txBody>
      </p:sp>
      <p:sp>
        <p:nvSpPr>
          <p:cNvPr id="7" name="">
            <a:extLst xmlns:a="http://schemas.openxmlformats.org/drawingml/2006/main">
              <a:ext uri="{FF2B5EF4-FFF2-40B4-BE49-F238E27FC236}">
                <a16:creationId xmlns:a16="http://schemas.microsoft.com/office/drawing/2014/main" id="{33464FFC-BDFF-4FD9-A8A2-2320EFBE3AC4}"/>
              </a:ext>
            </a:extLst>
          </p:cNvPr>
          <p:cNvSpPr>
            <a:spLocks xmlns:a="http://schemas.openxmlformats.org/drawingml/2006/main" noGrp="1"/>
          </p:cNvSpPr>
          <p:nvPr/>
        </p:nvSpPr>
        <p:spPr>
          <a:xfrm xmlns:a="http://schemas.openxmlformats.org/drawingml/2006/main">
            <a:off x="609600" y="27717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B5B1A8"/>
                </a:solidFill>
                <a:latin typeface="Arial"/>
                <a:ea typeface="Arial"/>
                <a:cs typeface="Arial"/>
              </a:defRPr>
            </a:defPPr>
          </a:lstStyle>
          <a:p xmlns:a="http://schemas.openxmlformats.org/drawingml/2006/main">
            <a:pPr>
              <a:defRPr sz="1575" b="0">
                <a:solidFill>
                  <a:srgbClr val="B5B1A8"/>
                </a:solidFill>
                <a:latin typeface="Arial"/>
                <a:ea typeface="Arial"/>
                <a:cs typeface="Arial"/>
              </a:defRPr>
            </a:pPr>
            <a:r>
              <a:rPr sz="1575" b="0">
                <a:solidFill>
                  <a:srgbClr val="B5B1A8"/>
                </a:solidFill>
                <a:latin typeface="Arial"/>
                <a:ea typeface="Arial"/>
                <a:cs typeface="Arial"/>
              </a:rPr>
              <a:t>Alternatives: Han So-hee / Kim Go-eun</a:t>
            </a:r>
          </a:p>
        </p:txBody>
      </p:sp>
      <p:sp>
        <p:nvSpPr>
          <p:cNvPr id="8" name="">
            <a:extLst xmlns:a="http://schemas.openxmlformats.org/drawingml/2006/main">
              <a:ext uri="{FF2B5EF4-FFF2-40B4-BE49-F238E27FC236}">
                <a16:creationId xmlns:a16="http://schemas.microsoft.com/office/drawing/2014/main" id="{92D98938-B502-435D-8038-1D51C1B93F4E}"/>
              </a:ext>
            </a:extLst>
          </p:cNvPr>
          <p:cNvSpPr>
            <a:spLocks xmlns:a="http://schemas.openxmlformats.org/drawingml/2006/main" noGrp="1"/>
          </p:cNvSpPr>
          <p:nvPr/>
        </p:nvSpPr>
        <p:spPr>
          <a:xfrm xmlns:a="http://schemas.openxmlformats.org/drawingml/2006/main">
            <a:off x="6572250" y="19907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4A548"/>
                </a:solidFill>
                <a:latin typeface="Arial"/>
                <a:ea typeface="Arial"/>
                <a:cs typeface="Arial"/>
              </a:defRPr>
            </a:defPPr>
          </a:lstStyle>
          <a:p xmlns:a="http://schemas.openxmlformats.org/drawingml/2006/main">
            <a:pPr>
              <a:defRPr sz="1500" b="0">
                <a:solidFill>
                  <a:srgbClr val="C4A548"/>
                </a:solidFill>
                <a:latin typeface="Arial"/>
                <a:ea typeface="Arial"/>
                <a:cs typeface="Arial"/>
              </a:defRPr>
            </a:pPr>
            <a:r>
              <a:rPr sz="1500" b="0">
                <a:solidFill>
                  <a:srgbClr val="C4A548"/>
                </a:solidFill>
                <a:latin typeface="Arial"/>
                <a:ea typeface="Arial"/>
                <a:cs typeface="Arial"/>
              </a:rPr>
              <a:t>CALEB MILLER</a:t>
            </a:r>
          </a:p>
        </p:txBody>
      </p:sp>
      <p:sp>
        <p:nvSpPr>
          <p:cNvPr id="9" name="">
            <a:extLst xmlns:a="http://schemas.openxmlformats.org/drawingml/2006/main">
              <a:ext uri="{FF2B5EF4-FFF2-40B4-BE49-F238E27FC236}">
                <a16:creationId xmlns:a16="http://schemas.microsoft.com/office/drawing/2014/main" id="{C146F3A3-6FCB-4572-965B-7FA5CE215259}"/>
              </a:ext>
            </a:extLst>
          </p:cNvPr>
          <p:cNvSpPr>
            <a:spLocks xmlns:a="http://schemas.openxmlformats.org/drawingml/2006/main" noGrp="1"/>
          </p:cNvSpPr>
          <p:nvPr/>
        </p:nvSpPr>
        <p:spPr>
          <a:xfrm xmlns:a="http://schemas.openxmlformats.org/drawingml/2006/main">
            <a:off x="6572250" y="23241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4F1E9"/>
                </a:solidFill>
                <a:latin typeface="Arial"/>
                <a:ea typeface="Arial"/>
                <a:cs typeface="Arial"/>
              </a:defRPr>
            </a:defPPr>
          </a:lstStyle>
          <a:p xmlns:a="http://schemas.openxmlformats.org/drawingml/2006/main">
            <a:pPr>
              <a:defRPr sz="2400" b="1">
                <a:solidFill>
                  <a:srgbClr val="F4F1E9"/>
                </a:solidFill>
                <a:latin typeface="Arial"/>
                <a:ea typeface="Arial"/>
                <a:cs typeface="Arial"/>
              </a:defRPr>
            </a:pPr>
            <a:r>
              <a:rPr sz="2400" b="1">
                <a:solidFill>
                  <a:srgbClr val="F4F1E9"/>
                </a:solidFill>
                <a:latin typeface="Arial"/>
                <a:ea typeface="Arial"/>
                <a:cs typeface="Arial"/>
              </a:rPr>
              <a:t>Steven Yeun</a:t>
            </a:r>
          </a:p>
        </p:txBody>
      </p:sp>
      <p:sp>
        <p:nvSpPr>
          <p:cNvPr id="10" name="">
            <a:extLst xmlns:a="http://schemas.openxmlformats.org/drawingml/2006/main">
              <a:ext uri="{FF2B5EF4-FFF2-40B4-BE49-F238E27FC236}">
                <a16:creationId xmlns:a16="http://schemas.microsoft.com/office/drawing/2014/main" id="{96549704-73A9-4769-9315-AC37D34C78EA}"/>
              </a:ext>
            </a:extLst>
          </p:cNvPr>
          <p:cNvSpPr>
            <a:spLocks xmlns:a="http://schemas.openxmlformats.org/drawingml/2006/main" noGrp="1"/>
          </p:cNvSpPr>
          <p:nvPr/>
        </p:nvSpPr>
        <p:spPr>
          <a:xfrm xmlns:a="http://schemas.openxmlformats.org/drawingml/2006/main">
            <a:off x="6572250" y="27717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B5B1A8"/>
                </a:solidFill>
                <a:latin typeface="Arial"/>
                <a:ea typeface="Arial"/>
                <a:cs typeface="Arial"/>
              </a:defRPr>
            </a:defPPr>
          </a:lstStyle>
          <a:p xmlns:a="http://schemas.openxmlformats.org/drawingml/2006/main">
            <a:pPr>
              <a:defRPr sz="1575" b="0">
                <a:solidFill>
                  <a:srgbClr val="B5B1A8"/>
                </a:solidFill>
                <a:latin typeface="Arial"/>
                <a:ea typeface="Arial"/>
                <a:cs typeface="Arial"/>
              </a:defRPr>
            </a:pPr>
            <a:r>
              <a:rPr sz="1575" b="0">
                <a:solidFill>
                  <a:srgbClr val="B5B1A8"/>
                </a:solidFill>
                <a:latin typeface="Arial"/>
                <a:ea typeface="Arial"/>
                <a:cs typeface="Arial"/>
              </a:rPr>
              <a:t>Alternatives: Justin H. Min / John Cho</a:t>
            </a:r>
          </a:p>
        </p:txBody>
      </p:sp>
      <p:sp>
        <p:nvSpPr>
          <p:cNvPr id="11" name="">
            <a:extLst xmlns:a="http://schemas.openxmlformats.org/drawingml/2006/main">
              <a:ext uri="{FF2B5EF4-FFF2-40B4-BE49-F238E27FC236}">
                <a16:creationId xmlns:a16="http://schemas.microsoft.com/office/drawing/2014/main" id="{0B05E329-76E5-440A-83CE-91DBABCC66EE}"/>
              </a:ext>
            </a:extLst>
          </p:cNvPr>
          <p:cNvSpPr>
            <a:spLocks xmlns:a="http://schemas.openxmlformats.org/drawingml/2006/main" noGrp="1"/>
          </p:cNvSpPr>
          <p:nvPr/>
        </p:nvSpPr>
        <p:spPr>
          <a:xfrm xmlns:a="http://schemas.openxmlformats.org/drawingml/2006/main">
            <a:off x="609600" y="33337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4A548"/>
                </a:solidFill>
                <a:latin typeface="Arial"/>
                <a:ea typeface="Arial"/>
                <a:cs typeface="Arial"/>
              </a:defRPr>
            </a:defPPr>
          </a:lstStyle>
          <a:p xmlns:a="http://schemas.openxmlformats.org/drawingml/2006/main">
            <a:pPr>
              <a:defRPr sz="1500" b="0">
                <a:solidFill>
                  <a:srgbClr val="C4A548"/>
                </a:solidFill>
                <a:latin typeface="Arial"/>
                <a:ea typeface="Arial"/>
                <a:cs typeface="Arial"/>
              </a:defRPr>
            </a:pPr>
            <a:r>
              <a:rPr sz="1500" b="0">
                <a:solidFill>
                  <a:srgbClr val="C4A548"/>
                </a:solidFill>
                <a:latin typeface="Arial"/>
                <a:ea typeface="Arial"/>
                <a:cs typeface="Arial"/>
              </a:rPr>
              <a:t>DIRECTOR KIM SUNG-CHUL</a:t>
            </a:r>
          </a:p>
        </p:txBody>
      </p:sp>
      <p:sp>
        <p:nvSpPr>
          <p:cNvPr id="12" name="">
            <a:extLst xmlns:a="http://schemas.openxmlformats.org/drawingml/2006/main">
              <a:ext uri="{FF2B5EF4-FFF2-40B4-BE49-F238E27FC236}">
                <a16:creationId xmlns:a16="http://schemas.microsoft.com/office/drawing/2014/main" id="{A481F06B-FA52-4587-B609-F8E25BCEDF8E}"/>
              </a:ext>
            </a:extLst>
          </p:cNvPr>
          <p:cNvSpPr>
            <a:spLocks xmlns:a="http://schemas.openxmlformats.org/drawingml/2006/main" noGrp="1"/>
          </p:cNvSpPr>
          <p:nvPr/>
        </p:nvSpPr>
        <p:spPr>
          <a:xfrm xmlns:a="http://schemas.openxmlformats.org/drawingml/2006/main">
            <a:off x="609600" y="36671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4F1E9"/>
                </a:solidFill>
                <a:latin typeface="Arial"/>
                <a:ea typeface="Arial"/>
                <a:cs typeface="Arial"/>
              </a:defRPr>
            </a:defPPr>
          </a:lstStyle>
          <a:p xmlns:a="http://schemas.openxmlformats.org/drawingml/2006/main">
            <a:pPr>
              <a:defRPr sz="2400" b="1">
                <a:solidFill>
                  <a:srgbClr val="F4F1E9"/>
                </a:solidFill>
                <a:latin typeface="Arial"/>
                <a:ea typeface="Arial"/>
                <a:cs typeface="Arial"/>
              </a:defRPr>
            </a:pPr>
            <a:r>
              <a:rPr sz="2400" b="1">
                <a:solidFill>
                  <a:srgbClr val="F4F1E9"/>
                </a:solidFill>
                <a:latin typeface="Arial"/>
                <a:ea typeface="Arial"/>
                <a:cs typeface="Arial"/>
              </a:rPr>
              <a:t>Lee Sung-min</a:t>
            </a:r>
          </a:p>
        </p:txBody>
      </p:sp>
      <p:sp>
        <p:nvSpPr>
          <p:cNvPr id="13" name="">
            <a:extLst xmlns:a="http://schemas.openxmlformats.org/drawingml/2006/main">
              <a:ext uri="{FF2B5EF4-FFF2-40B4-BE49-F238E27FC236}">
                <a16:creationId xmlns:a16="http://schemas.microsoft.com/office/drawing/2014/main" id="{12317B04-E6B6-4BD8-9AFC-E539795896B7}"/>
              </a:ext>
            </a:extLst>
          </p:cNvPr>
          <p:cNvSpPr>
            <a:spLocks xmlns:a="http://schemas.openxmlformats.org/drawingml/2006/main" noGrp="1"/>
          </p:cNvSpPr>
          <p:nvPr/>
        </p:nvSpPr>
        <p:spPr>
          <a:xfrm xmlns:a="http://schemas.openxmlformats.org/drawingml/2006/main">
            <a:off x="609600" y="41148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B5B1A8"/>
                </a:solidFill>
                <a:latin typeface="Arial"/>
                <a:ea typeface="Arial"/>
                <a:cs typeface="Arial"/>
              </a:defRPr>
            </a:defPPr>
          </a:lstStyle>
          <a:p xmlns:a="http://schemas.openxmlformats.org/drawingml/2006/main">
            <a:pPr>
              <a:defRPr sz="1575" b="0">
                <a:solidFill>
                  <a:srgbClr val="B5B1A8"/>
                </a:solidFill>
                <a:latin typeface="Arial"/>
                <a:ea typeface="Arial"/>
                <a:cs typeface="Arial"/>
              </a:defRPr>
            </a:pPr>
            <a:r>
              <a:rPr sz="1575" b="0">
                <a:solidFill>
                  <a:srgbClr val="B5B1A8"/>
                </a:solidFill>
                <a:latin typeface="Arial"/>
                <a:ea typeface="Arial"/>
                <a:cs typeface="Arial"/>
              </a:rPr>
              <a:t>Alternatives: Park Hae-joon / Kim Eui-sung</a:t>
            </a:r>
          </a:p>
        </p:txBody>
      </p:sp>
      <p:sp>
        <p:nvSpPr>
          <p:cNvPr id="14" name="">
            <a:extLst xmlns:a="http://schemas.openxmlformats.org/drawingml/2006/main">
              <a:ext uri="{FF2B5EF4-FFF2-40B4-BE49-F238E27FC236}">
                <a16:creationId xmlns:a16="http://schemas.microsoft.com/office/drawing/2014/main" id="{AED6A243-9912-4CEC-8130-403B095678E9}"/>
              </a:ext>
            </a:extLst>
          </p:cNvPr>
          <p:cNvSpPr>
            <a:spLocks xmlns:a="http://schemas.openxmlformats.org/drawingml/2006/main" noGrp="1"/>
          </p:cNvSpPr>
          <p:nvPr/>
        </p:nvSpPr>
        <p:spPr>
          <a:xfrm xmlns:a="http://schemas.openxmlformats.org/drawingml/2006/main">
            <a:off x="6572250" y="33337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4A548"/>
                </a:solidFill>
                <a:latin typeface="Arial"/>
                <a:ea typeface="Arial"/>
                <a:cs typeface="Arial"/>
              </a:defRPr>
            </a:defPPr>
          </a:lstStyle>
          <a:p xmlns:a="http://schemas.openxmlformats.org/drawingml/2006/main">
            <a:pPr>
              <a:defRPr sz="1500" b="0">
                <a:solidFill>
                  <a:srgbClr val="C4A548"/>
                </a:solidFill>
                <a:latin typeface="Arial"/>
                <a:ea typeface="Arial"/>
                <a:cs typeface="Arial"/>
              </a:defRPr>
            </a:pPr>
            <a:r>
              <a:rPr sz="1500" b="0">
                <a:solidFill>
                  <a:srgbClr val="C4A548"/>
                </a:solidFill>
                <a:latin typeface="Arial"/>
                <a:ea typeface="Arial"/>
                <a:cs typeface="Arial"/>
              </a:rPr>
              <a:t>TAE-SIK KWON</a:t>
            </a:r>
          </a:p>
        </p:txBody>
      </p:sp>
      <p:sp>
        <p:nvSpPr>
          <p:cNvPr id="15" name="">
            <a:extLst xmlns:a="http://schemas.openxmlformats.org/drawingml/2006/main">
              <a:ext uri="{FF2B5EF4-FFF2-40B4-BE49-F238E27FC236}">
                <a16:creationId xmlns:a16="http://schemas.microsoft.com/office/drawing/2014/main" id="{1F750277-F79F-49B1-B1DE-33BDD92CF484}"/>
              </a:ext>
            </a:extLst>
          </p:cNvPr>
          <p:cNvSpPr>
            <a:spLocks xmlns:a="http://schemas.openxmlformats.org/drawingml/2006/main" noGrp="1"/>
          </p:cNvSpPr>
          <p:nvPr/>
        </p:nvSpPr>
        <p:spPr>
          <a:xfrm xmlns:a="http://schemas.openxmlformats.org/drawingml/2006/main">
            <a:off x="6572250" y="36671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4F1E9"/>
                </a:solidFill>
                <a:latin typeface="Arial"/>
                <a:ea typeface="Arial"/>
                <a:cs typeface="Arial"/>
              </a:defRPr>
            </a:defPPr>
          </a:lstStyle>
          <a:p xmlns:a="http://schemas.openxmlformats.org/drawingml/2006/main">
            <a:pPr>
              <a:defRPr sz="2400" b="1">
                <a:solidFill>
                  <a:srgbClr val="F4F1E9"/>
                </a:solidFill>
                <a:latin typeface="Arial"/>
                <a:ea typeface="Arial"/>
                <a:cs typeface="Arial"/>
              </a:defRPr>
            </a:pPr>
            <a:r>
              <a:rPr sz="2400" b="1">
                <a:solidFill>
                  <a:srgbClr val="F4F1E9"/>
                </a:solidFill>
                <a:latin typeface="Arial"/>
                <a:ea typeface="Arial"/>
                <a:cs typeface="Arial"/>
              </a:rPr>
              <a:t>Kim Woo-bin</a:t>
            </a:r>
          </a:p>
        </p:txBody>
      </p:sp>
      <p:sp>
        <p:nvSpPr>
          <p:cNvPr id="16" name="">
            <a:extLst xmlns:a="http://schemas.openxmlformats.org/drawingml/2006/main">
              <a:ext uri="{FF2B5EF4-FFF2-40B4-BE49-F238E27FC236}">
                <a16:creationId xmlns:a16="http://schemas.microsoft.com/office/drawing/2014/main" id="{28A2C518-3D1B-404B-B821-305EF2702026}"/>
              </a:ext>
            </a:extLst>
          </p:cNvPr>
          <p:cNvSpPr>
            <a:spLocks xmlns:a="http://schemas.openxmlformats.org/drawingml/2006/main" noGrp="1"/>
          </p:cNvSpPr>
          <p:nvPr/>
        </p:nvSpPr>
        <p:spPr>
          <a:xfrm xmlns:a="http://schemas.openxmlformats.org/drawingml/2006/main">
            <a:off x="6572250" y="41148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B5B1A8"/>
                </a:solidFill>
                <a:latin typeface="Arial"/>
                <a:ea typeface="Arial"/>
                <a:cs typeface="Arial"/>
              </a:defRPr>
            </a:defPPr>
          </a:lstStyle>
          <a:p xmlns:a="http://schemas.openxmlformats.org/drawingml/2006/main">
            <a:pPr>
              <a:defRPr sz="1575" b="0">
                <a:solidFill>
                  <a:srgbClr val="B5B1A8"/>
                </a:solidFill>
                <a:latin typeface="Arial"/>
                <a:ea typeface="Arial"/>
                <a:cs typeface="Arial"/>
              </a:defRPr>
            </a:pPr>
            <a:r>
              <a:rPr sz="1575" b="0">
                <a:solidFill>
                  <a:srgbClr val="B5B1A8"/>
                </a:solidFill>
                <a:latin typeface="Arial"/>
                <a:ea typeface="Arial"/>
                <a:cs typeface="Arial"/>
              </a:rPr>
              <a:t>Alternatives: Jung Kyung-ho / Lee Joon-gi</a:t>
            </a:r>
          </a:p>
        </p:txBody>
      </p:sp>
      <p:sp>
        <p:nvSpPr>
          <p:cNvPr id="17" name="">
            <a:extLst xmlns:a="http://schemas.openxmlformats.org/drawingml/2006/main">
              <a:ext uri="{FF2B5EF4-FFF2-40B4-BE49-F238E27FC236}">
                <a16:creationId xmlns:a16="http://schemas.microsoft.com/office/drawing/2014/main" id="{FF697096-4D20-4106-8E89-B7CCB2AAD277}"/>
              </a:ext>
            </a:extLst>
          </p:cNvPr>
          <p:cNvSpPr>
            <a:spLocks xmlns:a="http://schemas.openxmlformats.org/drawingml/2006/main" noGrp="1"/>
          </p:cNvSpPr>
          <p:nvPr/>
        </p:nvSpPr>
        <p:spPr>
          <a:xfrm xmlns:a="http://schemas.openxmlformats.org/drawingml/2006/main">
            <a:off x="609600" y="467677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4A548"/>
                </a:solidFill>
                <a:latin typeface="Arial"/>
                <a:ea typeface="Arial"/>
                <a:cs typeface="Arial"/>
              </a:defRPr>
            </a:defPPr>
          </a:lstStyle>
          <a:p xmlns:a="http://schemas.openxmlformats.org/drawingml/2006/main">
            <a:pPr>
              <a:defRPr sz="1500" b="0">
                <a:solidFill>
                  <a:srgbClr val="C4A548"/>
                </a:solidFill>
                <a:latin typeface="Arial"/>
                <a:ea typeface="Arial"/>
                <a:cs typeface="Arial"/>
              </a:defRPr>
            </a:pPr>
            <a:r>
              <a:rPr sz="1500" b="0">
                <a:solidFill>
                  <a:srgbClr val="C4A548"/>
                </a:solidFill>
                <a:latin typeface="Arial"/>
                <a:ea typeface="Arial"/>
                <a:cs typeface="Arial"/>
              </a:rPr>
              <a:t>MIN-JI KIM</a:t>
            </a:r>
          </a:p>
        </p:txBody>
      </p:sp>
      <p:sp>
        <p:nvSpPr>
          <p:cNvPr id="18" name="">
            <a:extLst xmlns:a="http://schemas.openxmlformats.org/drawingml/2006/main">
              <a:ext uri="{FF2B5EF4-FFF2-40B4-BE49-F238E27FC236}">
                <a16:creationId xmlns:a16="http://schemas.microsoft.com/office/drawing/2014/main" id="{E0D00037-DB2E-4BAC-B8A9-1E7B7F749860}"/>
              </a:ext>
            </a:extLst>
          </p:cNvPr>
          <p:cNvSpPr>
            <a:spLocks xmlns:a="http://schemas.openxmlformats.org/drawingml/2006/main" noGrp="1"/>
          </p:cNvSpPr>
          <p:nvPr/>
        </p:nvSpPr>
        <p:spPr>
          <a:xfrm xmlns:a="http://schemas.openxmlformats.org/drawingml/2006/main">
            <a:off x="609600" y="50101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4F1E9"/>
                </a:solidFill>
                <a:latin typeface="Arial"/>
                <a:ea typeface="Arial"/>
                <a:cs typeface="Arial"/>
              </a:defRPr>
            </a:defPPr>
          </a:lstStyle>
          <a:p xmlns:a="http://schemas.openxmlformats.org/drawingml/2006/main">
            <a:pPr>
              <a:defRPr sz="2400" b="1">
                <a:solidFill>
                  <a:srgbClr val="F4F1E9"/>
                </a:solidFill>
                <a:latin typeface="Arial"/>
                <a:ea typeface="Arial"/>
                <a:cs typeface="Arial"/>
              </a:defRPr>
            </a:pPr>
            <a:r>
              <a:rPr sz="2400" b="1">
                <a:solidFill>
                  <a:srgbClr val="F4F1E9"/>
                </a:solidFill>
                <a:latin typeface="Arial"/>
                <a:ea typeface="Arial"/>
                <a:cs typeface="Arial"/>
              </a:rPr>
              <a:t>Park Ji-hu</a:t>
            </a:r>
          </a:p>
        </p:txBody>
      </p:sp>
      <p:sp>
        <p:nvSpPr>
          <p:cNvPr id="19" name="">
            <a:extLst xmlns:a="http://schemas.openxmlformats.org/drawingml/2006/main">
              <a:ext uri="{FF2B5EF4-FFF2-40B4-BE49-F238E27FC236}">
                <a16:creationId xmlns:a16="http://schemas.microsoft.com/office/drawing/2014/main" id="{106AFB62-97F3-4D44-B784-D9B98036B81B}"/>
              </a:ext>
            </a:extLst>
          </p:cNvPr>
          <p:cNvSpPr>
            <a:spLocks xmlns:a="http://schemas.openxmlformats.org/drawingml/2006/main" noGrp="1"/>
          </p:cNvSpPr>
          <p:nvPr/>
        </p:nvSpPr>
        <p:spPr>
          <a:xfrm xmlns:a="http://schemas.openxmlformats.org/drawingml/2006/main">
            <a:off x="609600" y="54578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B5B1A8"/>
                </a:solidFill>
                <a:latin typeface="Arial"/>
                <a:ea typeface="Arial"/>
                <a:cs typeface="Arial"/>
              </a:defRPr>
            </a:defPPr>
          </a:lstStyle>
          <a:p xmlns:a="http://schemas.openxmlformats.org/drawingml/2006/main">
            <a:pPr>
              <a:defRPr sz="1575" b="0">
                <a:solidFill>
                  <a:srgbClr val="B5B1A8"/>
                </a:solidFill>
                <a:latin typeface="Arial"/>
                <a:ea typeface="Arial"/>
                <a:cs typeface="Arial"/>
              </a:defRPr>
            </a:pPr>
            <a:r>
              <a:rPr sz="1575" b="0">
                <a:solidFill>
                  <a:srgbClr val="B5B1A8"/>
                </a:solidFill>
                <a:latin typeface="Arial"/>
                <a:ea typeface="Arial"/>
                <a:cs typeface="Arial"/>
              </a:rPr>
              <a:t>Alternatives: Kim Hyun-soo</a:t>
            </a:r>
          </a:p>
        </p:txBody>
      </p:sp>
      <p:sp>
        <p:nvSpPr>
          <p:cNvPr id="20" name="">
            <a:extLst xmlns:a="http://schemas.openxmlformats.org/drawingml/2006/main">
              <a:ext uri="{FF2B5EF4-FFF2-40B4-BE49-F238E27FC236}">
                <a16:creationId xmlns:a16="http://schemas.microsoft.com/office/drawing/2014/main" id="{EA91B9AF-2900-4ED5-A57B-803289A58E3E}"/>
              </a:ext>
            </a:extLst>
          </p:cNvPr>
          <p:cNvSpPr>
            <a:spLocks xmlns:a="http://schemas.openxmlformats.org/drawingml/2006/main" noGrp="1"/>
          </p:cNvSpPr>
          <p:nvPr/>
        </p:nvSpPr>
        <p:spPr>
          <a:xfrm xmlns:a="http://schemas.openxmlformats.org/drawingml/2006/main">
            <a:off x="6572250" y="467677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C4A548"/>
                </a:solidFill>
                <a:latin typeface="Arial"/>
                <a:ea typeface="Arial"/>
                <a:cs typeface="Arial"/>
              </a:defRPr>
            </a:defPPr>
          </a:lstStyle>
          <a:p xmlns:a="http://schemas.openxmlformats.org/drawingml/2006/main">
            <a:pPr>
              <a:defRPr sz="1500" b="0">
                <a:solidFill>
                  <a:srgbClr val="C4A548"/>
                </a:solidFill>
                <a:latin typeface="Arial"/>
                <a:ea typeface="Arial"/>
                <a:cs typeface="Arial"/>
              </a:defRPr>
            </a:pPr>
            <a:r>
              <a:rPr sz="1500" b="0">
                <a:solidFill>
                  <a:srgbClr val="C4A548"/>
                </a:solidFill>
                <a:latin typeface="Arial"/>
                <a:ea typeface="Arial"/>
                <a:cs typeface="Arial"/>
              </a:rPr>
              <a:t>FATIMAH</a:t>
            </a:r>
          </a:p>
        </p:txBody>
      </p:sp>
      <p:sp>
        <p:nvSpPr>
          <p:cNvPr id="21" name="">
            <a:extLst xmlns:a="http://schemas.openxmlformats.org/drawingml/2006/main">
              <a:ext uri="{FF2B5EF4-FFF2-40B4-BE49-F238E27FC236}">
                <a16:creationId xmlns:a16="http://schemas.microsoft.com/office/drawing/2014/main" id="{DBE570B1-0B5A-4238-AEEF-7D4397D8E072}"/>
              </a:ext>
            </a:extLst>
          </p:cNvPr>
          <p:cNvSpPr>
            <a:spLocks xmlns:a="http://schemas.openxmlformats.org/drawingml/2006/main" noGrp="1"/>
          </p:cNvSpPr>
          <p:nvPr/>
        </p:nvSpPr>
        <p:spPr>
          <a:xfrm xmlns:a="http://schemas.openxmlformats.org/drawingml/2006/main">
            <a:off x="6572250" y="50101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4F1E9"/>
                </a:solidFill>
                <a:latin typeface="Arial"/>
                <a:ea typeface="Arial"/>
                <a:cs typeface="Arial"/>
              </a:defRPr>
            </a:defPPr>
          </a:lstStyle>
          <a:p xmlns:a="http://schemas.openxmlformats.org/drawingml/2006/main">
            <a:pPr>
              <a:defRPr sz="2400" b="1">
                <a:solidFill>
                  <a:srgbClr val="F4F1E9"/>
                </a:solidFill>
                <a:latin typeface="Arial"/>
                <a:ea typeface="Arial"/>
                <a:cs typeface="Arial"/>
              </a:defRPr>
            </a:pPr>
            <a:r>
              <a:rPr sz="2400" b="1">
                <a:solidFill>
                  <a:srgbClr val="F4F1E9"/>
                </a:solidFill>
                <a:latin typeface="Arial"/>
                <a:ea typeface="Arial"/>
                <a:cs typeface="Arial"/>
              </a:rPr>
              <a:t>Yeo Yann Yann</a:t>
            </a:r>
          </a:p>
        </p:txBody>
      </p:sp>
      <p:sp>
        <p:nvSpPr>
          <p:cNvPr id="22" name="">
            <a:extLst xmlns:a="http://schemas.openxmlformats.org/drawingml/2006/main">
              <a:ext uri="{FF2B5EF4-FFF2-40B4-BE49-F238E27FC236}">
                <a16:creationId xmlns:a16="http://schemas.microsoft.com/office/drawing/2014/main" id="{A3F21166-9112-4C6C-B3D8-57224B5BDAB5}"/>
              </a:ext>
            </a:extLst>
          </p:cNvPr>
          <p:cNvSpPr>
            <a:spLocks xmlns:a="http://schemas.openxmlformats.org/drawingml/2006/main" noGrp="1"/>
          </p:cNvSpPr>
          <p:nvPr/>
        </p:nvSpPr>
        <p:spPr>
          <a:xfrm xmlns:a="http://schemas.openxmlformats.org/drawingml/2006/main">
            <a:off x="6572250" y="54578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B5B1A8"/>
                </a:solidFill>
                <a:latin typeface="Arial"/>
                <a:ea typeface="Arial"/>
                <a:cs typeface="Arial"/>
              </a:defRPr>
            </a:defPPr>
          </a:lstStyle>
          <a:p xmlns:a="http://schemas.openxmlformats.org/drawingml/2006/main">
            <a:pPr>
              <a:defRPr sz="1575" b="0">
                <a:solidFill>
                  <a:srgbClr val="B5B1A8"/>
                </a:solidFill>
                <a:latin typeface="Arial"/>
                <a:ea typeface="Arial"/>
                <a:cs typeface="Arial"/>
              </a:defRPr>
            </a:pPr>
            <a:r>
              <a:rPr sz="1575" b="0">
                <a:solidFill>
                  <a:srgbClr val="B5B1A8"/>
                </a:solidFill>
                <a:latin typeface="Arial"/>
                <a:ea typeface="Arial"/>
                <a:cs typeface="Arial"/>
              </a:rPr>
              <a:t>Alternatives: Oon Shu An</a:t>
            </a:r>
          </a:p>
        </p:txBody>
      </p:sp>
    </p:spTree>
    <p:extLst>
      <p:ext uri="{BB962C8B-B14F-4D97-AF65-F5344CB8AC3E}">
        <p14:creationId xmlns:p14="http://schemas.microsoft.com/office/powerpoint/2010/main" val="1807085372"/>
      </p:ext>
    </p:extLst>
  </p:cSld>
</p:sld>
</file>

<file path=ppt/slides/slide13.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03E313-630F-4D30-B028-2D5A030544F8}"/>
              </a:ext>
            </a:extLst>
          </p:cNvPr>
          <p:cNvSpPr>
            <a:spLocks xmlns:a="http://schemas.openxmlformats.org/drawingml/2006/main" noGrp="1"/>
          </p:cNvSpPr>
          <p:nvPr/>
        </p:nvSpPr>
        <p:spPr>
          <a:xfrm xmlns:a="http://schemas.openxmlformats.org/drawingml/2006/main">
            <a:off x="609600" y="30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4A548"/>
                </a:solidFill>
                <a:latin typeface="Arial"/>
                <a:ea typeface="Arial"/>
                <a:cs typeface="Arial"/>
              </a:defRPr>
            </a:defPPr>
          </a:lstStyle>
          <a:p xmlns:a="http://schemas.openxmlformats.org/drawingml/2006/main">
            <a:pPr>
              <a:defRPr sz="1275" b="0">
                <a:solidFill>
                  <a:srgbClr val="C4A548"/>
                </a:solidFill>
                <a:latin typeface="Arial"/>
                <a:ea typeface="Arial"/>
                <a:cs typeface="Arial"/>
              </a:defRPr>
            </a:pPr>
            <a:r>
              <a:rPr sz="1275" b="0">
                <a:solidFill>
                  <a:srgbClr val="C4A548"/>
                </a:solidFill>
                <a:latin typeface="Arial"/>
                <a:ea typeface="Arial"/>
                <a:cs typeface="Arial"/>
              </a:rPr>
              <a:t>NCCA ENTERTAINMENT</a:t>
            </a:r>
          </a:p>
        </p:txBody>
      </p:sp>
      <p:sp>
        <p:nvSpPr>
          <p:cNvPr id="2" name="">
            <a:extLst xmlns:a="http://schemas.openxmlformats.org/drawingml/2006/main">
              <a:ext uri="{FF2B5EF4-FFF2-40B4-BE49-F238E27FC236}">
                <a16:creationId xmlns:a16="http://schemas.microsoft.com/office/drawing/2014/main" id="{53523F2E-1293-4AA3-BBC7-3AE7E962E42B}"/>
              </a:ext>
            </a:extLst>
          </p:cNvPr>
          <p:cNvSpPr>
            <a:spLocks xmlns:a="http://schemas.openxmlformats.org/drawingml/2006/main" noGrp="1"/>
          </p:cNvSpPr>
          <p:nvPr/>
        </p:nvSpPr>
        <p:spPr>
          <a:xfrm xmlns:a="http://schemas.openxmlformats.org/drawingml/2006/main">
            <a:off x="609600" y="9429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Production overview</a:t>
            </a:r>
          </a:p>
        </p:txBody>
      </p:sp>
      <p:sp>
        <p:nvSpPr>
          <p:cNvPr id="3" name="">
            <a:extLst xmlns:a="http://schemas.openxmlformats.org/drawingml/2006/main">
              <a:ext uri="{FF2B5EF4-FFF2-40B4-BE49-F238E27FC236}">
                <a16:creationId xmlns:a16="http://schemas.microsoft.com/office/drawing/2014/main" id="{D678231E-C66C-4C7C-BF57-14E8C37355ED}"/>
              </a:ext>
            </a:extLst>
          </p:cNvPr>
          <p:cNvSpPr>
            <a:spLocks xmlns:a="http://schemas.openxmlformats.org/drawingml/2006/main" noGrp="1"/>
          </p:cNvSpPr>
          <p:nvPr/>
        </p:nvSpPr>
        <p:spPr>
          <a:xfrm xmlns:a="http://schemas.openxmlformats.org/drawingml/2006/main">
            <a:off x="6096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5B1A8"/>
                </a:solidFill>
                <a:latin typeface="Arial"/>
                <a:ea typeface="Arial"/>
                <a:cs typeface="Arial"/>
              </a:defRPr>
            </a:defPPr>
          </a:lstStyle>
          <a:p xmlns:a="http://schemas.openxmlformats.org/drawingml/2006/main">
            <a:pPr>
              <a:defRPr sz="1050" b="0">
                <a:solidFill>
                  <a:srgbClr val="B5B1A8"/>
                </a:solidFill>
                <a:latin typeface="Arial"/>
                <a:ea typeface="Arial"/>
                <a:cs typeface="Arial"/>
              </a:defRPr>
            </a:pPr>
            <a:r>
              <a:rPr sz="1050" b="0">
                <a:solidFill>
                  <a:srgbClr val="B5B1A8"/>
                </a:solidFill>
                <a:latin typeface="Arial"/>
                <a:ea typeface="Arial"/>
                <a:cs typeface="Arial"/>
              </a:rPr>
              <a:t>SOURCE: FINAL WALK ONE-PAGER</a:t>
            </a:r>
          </a:p>
        </p:txBody>
      </p:sp>
      <p:sp>
        <p:nvSpPr>
          <p:cNvPr id="4" name="">
            <a:extLst xmlns:a="http://schemas.openxmlformats.org/drawingml/2006/main">
              <a:ext uri="{FF2B5EF4-FFF2-40B4-BE49-F238E27FC236}">
                <a16:creationId xmlns:a16="http://schemas.microsoft.com/office/drawing/2014/main" id="{EC4566C2-5B31-4F79-95CA-5019642F95CF}"/>
              </a:ext>
            </a:extLst>
          </p:cNvPr>
          <p:cNvSpPr>
            <a:spLocks xmlns:a="http://schemas.openxmlformats.org/drawingml/2006/main" noGrp="1"/>
          </p:cNvSpPr>
          <p:nvPr/>
        </p:nvSpPr>
        <p:spPr>
          <a:xfrm xmlns:a="http://schemas.openxmlformats.org/drawingml/2006/main">
            <a:off x="11049000"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4A548"/>
                </a:solidFill>
                <a:latin typeface="Arial"/>
                <a:ea typeface="Arial"/>
                <a:cs typeface="Arial"/>
              </a:defRPr>
            </a:defPPr>
          </a:lstStyle>
          <a:p xmlns:a="http://schemas.openxmlformats.org/drawingml/2006/main">
            <a:pPr>
              <a:defRPr sz="1050" b="0">
                <a:solidFill>
                  <a:srgbClr val="C4A548"/>
                </a:solidFill>
                <a:latin typeface="Arial"/>
                <a:ea typeface="Arial"/>
                <a:cs typeface="Arial"/>
              </a:defRPr>
            </a:pPr>
            <a:r>
              <a:rPr sz="1050" b="0">
                <a:solidFill>
                  <a:srgbClr val="C4A548"/>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00CE1DC7-672C-4AEA-8D1C-118EFADC8919}"/>
              </a:ext>
            </a:extLst>
          </p:cNvPr>
          <p:cNvSpPr>
            <a:spLocks xmlns:a="http://schemas.openxmlformats.org/drawingml/2006/main" noGrp="1"/>
          </p:cNvSpPr>
          <p:nvPr/>
        </p:nvSpPr>
        <p:spPr>
          <a:xfrm xmlns:a="http://schemas.openxmlformats.org/drawingml/2006/main">
            <a:off x="609600" y="1971675"/>
            <a:ext cx="10572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0">
                <a:solidFill>
                  <a:srgbClr val="C4A548"/>
                </a:solidFill>
                <a:latin typeface="Georgia"/>
                <a:ea typeface="Georgia"/>
                <a:cs typeface="Georgia"/>
              </a:defRPr>
            </a:defPPr>
          </a:lstStyle>
          <a:p xmlns:a="http://schemas.openxmlformats.org/drawingml/2006/main">
            <a:pPr>
              <a:defRPr sz="5100" b="0">
                <a:solidFill>
                  <a:srgbClr val="C4A548"/>
                </a:solidFill>
                <a:latin typeface="Georgia"/>
                <a:ea typeface="Georgia"/>
                <a:cs typeface="Georgia"/>
              </a:defRPr>
            </a:pPr>
            <a:r>
              <a:rPr sz="5100" b="0">
                <a:solidFill>
                  <a:srgbClr val="C4A548"/>
                </a:solidFill>
                <a:latin typeface="Georgia"/>
                <a:ea typeface="Georgia"/>
                <a:cs typeface="Georgia"/>
              </a:rPr>
              <a:t>$15M–$25M USD</a:t>
            </a:r>
          </a:p>
        </p:txBody>
      </p:sp>
      <p:sp>
        <p:nvSpPr>
          <p:cNvPr id="6" name="">
            <a:extLst xmlns:a="http://schemas.openxmlformats.org/drawingml/2006/main">
              <a:ext uri="{FF2B5EF4-FFF2-40B4-BE49-F238E27FC236}">
                <a16:creationId xmlns:a16="http://schemas.microsoft.com/office/drawing/2014/main" id="{AC4BA665-BA48-468F-B11B-8C88DF4646E4}"/>
              </a:ext>
            </a:extLst>
          </p:cNvPr>
          <p:cNvSpPr>
            <a:spLocks xmlns:a="http://schemas.openxmlformats.org/drawingml/2006/main" noGrp="1"/>
          </p:cNvSpPr>
          <p:nvPr/>
        </p:nvSpPr>
        <p:spPr>
          <a:xfrm xmlns:a="http://schemas.openxmlformats.org/drawingml/2006/main">
            <a:off x="609600" y="3286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SOURCE SCHEDULE</a:t>
            </a:r>
          </a:p>
        </p:txBody>
      </p:sp>
      <p:sp>
        <p:nvSpPr>
          <p:cNvPr id="7" name="">
            <a:extLst xmlns:a="http://schemas.openxmlformats.org/drawingml/2006/main">
              <a:ext uri="{FF2B5EF4-FFF2-40B4-BE49-F238E27FC236}">
                <a16:creationId xmlns:a16="http://schemas.microsoft.com/office/drawing/2014/main" id="{FBB8C942-CFCA-46B7-8C71-74F1FA4A4FD4}"/>
              </a:ext>
            </a:extLst>
          </p:cNvPr>
          <p:cNvSpPr>
            <a:spLocks xmlns:a="http://schemas.openxmlformats.org/drawingml/2006/main" noGrp="1"/>
          </p:cNvSpPr>
          <p:nvPr/>
        </p:nvSpPr>
        <p:spPr>
          <a:xfrm xmlns:a="http://schemas.openxmlformats.org/drawingml/2006/main">
            <a:off x="609600" y="3933825"/>
            <a:ext cx="4857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1E9"/>
                </a:solidFill>
                <a:latin typeface="Arial"/>
                <a:ea typeface="Arial"/>
                <a:cs typeface="Arial"/>
              </a:defRPr>
            </a:defPPr>
          </a:lstStyle>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Pre-production: November 2026</a:t>
            </a:r>
          </a:p>
          <a:p xmlns:a="http://schemas.openxmlformats.org/drawingml/2006/main">
            <a:r>
              <a:t/>
            </a:r>
          </a:p>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Photography: Mid-January 2027</a:t>
            </a:r>
          </a:p>
        </p:txBody>
      </p:sp>
      <p:sp>
        <p:nvSpPr>
          <p:cNvPr id="8" name="">
            <a:extLst xmlns:a="http://schemas.openxmlformats.org/drawingml/2006/main">
              <a:ext uri="{FF2B5EF4-FFF2-40B4-BE49-F238E27FC236}">
                <a16:creationId xmlns:a16="http://schemas.microsoft.com/office/drawing/2014/main" id="{3AF14EFF-04F3-4B5A-A7EB-2B239788AA3C}"/>
              </a:ext>
            </a:extLst>
          </p:cNvPr>
          <p:cNvSpPr>
            <a:spLocks xmlns:a="http://schemas.openxmlformats.org/drawingml/2006/main" noGrp="1"/>
          </p:cNvSpPr>
          <p:nvPr/>
        </p:nvSpPr>
        <p:spPr>
          <a:xfrm xmlns:a="http://schemas.openxmlformats.org/drawingml/2006/main">
            <a:off x="6572250" y="32861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4A548"/>
                </a:solidFill>
                <a:latin typeface="Arial"/>
                <a:ea typeface="Arial"/>
                <a:cs typeface="Arial"/>
              </a:defRPr>
            </a:defPPr>
          </a:lstStyle>
          <a:p xmlns:a="http://schemas.openxmlformats.org/drawingml/2006/main">
            <a:pPr>
              <a:defRPr sz="1875" b="0">
                <a:solidFill>
                  <a:srgbClr val="C4A548"/>
                </a:solidFill>
                <a:latin typeface="Arial"/>
                <a:ea typeface="Arial"/>
                <a:cs typeface="Arial"/>
              </a:defRPr>
            </a:pPr>
            <a:r>
              <a:rPr sz="1875" b="0">
                <a:solidFill>
                  <a:srgbClr val="C4A548"/>
                </a:solidFill>
                <a:latin typeface="Arial"/>
                <a:ea typeface="Arial"/>
                <a:cs typeface="Arial"/>
              </a:rPr>
              <a:t>SOURCE PACKAGE</a:t>
            </a:r>
          </a:p>
        </p:txBody>
      </p:sp>
      <p:sp>
        <p:nvSpPr>
          <p:cNvPr id="9" name="">
            <a:extLst xmlns:a="http://schemas.openxmlformats.org/drawingml/2006/main">
              <a:ext uri="{FF2B5EF4-FFF2-40B4-BE49-F238E27FC236}">
                <a16:creationId xmlns:a16="http://schemas.microsoft.com/office/drawing/2014/main" id="{C4E46E1D-0FD4-473C-AF7E-16530B65CE5C}"/>
              </a:ext>
            </a:extLst>
          </p:cNvPr>
          <p:cNvSpPr>
            <a:spLocks xmlns:a="http://schemas.openxmlformats.org/drawingml/2006/main" noGrp="1"/>
          </p:cNvSpPr>
          <p:nvPr/>
        </p:nvSpPr>
        <p:spPr>
          <a:xfrm xmlns:a="http://schemas.openxmlformats.org/drawingml/2006/main">
            <a:off x="6572250" y="3933825"/>
            <a:ext cx="4953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4F1E9"/>
                </a:solidFill>
                <a:latin typeface="Arial"/>
                <a:ea typeface="Arial"/>
                <a:cs typeface="Arial"/>
              </a:defRPr>
            </a:defPPr>
          </a:lstStyle>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Script: Available, final draft</a:t>
            </a:r>
          </a:p>
          <a:p xmlns:a="http://schemas.openxmlformats.org/drawingml/2006/main">
            <a:r>
              <a:t/>
            </a:r>
          </a:p>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Feature film: 109 pages</a:t>
            </a:r>
          </a:p>
          <a:p xmlns:a="http://schemas.openxmlformats.org/drawingml/2006/main">
            <a:r>
              <a:t/>
            </a:r>
          </a:p>
          <a:p xmlns:a="http://schemas.openxmlformats.org/drawingml/2006/main">
            <a:pPr>
              <a:defRPr sz="2175" b="0">
                <a:solidFill>
                  <a:srgbClr val="F4F1E9"/>
                </a:solidFill>
                <a:latin typeface="Arial"/>
                <a:ea typeface="Arial"/>
                <a:cs typeface="Arial"/>
              </a:defRPr>
            </a:pPr>
            <a:r>
              <a:rPr sz="2175" b="0">
                <a:solidFill>
                  <a:srgbClr val="F4F1E9"/>
                </a:solidFill>
                <a:latin typeface="Arial"/>
                <a:ea typeface="Arial"/>
                <a:cs typeface="Arial"/>
              </a:rPr>
              <a:t>Languages: Korean and English</a:t>
            </a:r>
          </a:p>
        </p:txBody>
      </p:sp>
      <p:sp>
        <p:nvSpPr>
          <p:cNvPr id="10" name="">
            <a:extLst xmlns:a="http://schemas.openxmlformats.org/drawingml/2006/main">
              <a:ext uri="{FF2B5EF4-FFF2-40B4-BE49-F238E27FC236}">
                <a16:creationId xmlns:a16="http://schemas.microsoft.com/office/drawing/2014/main" id="{896B9022-6893-4B73-A5FF-418C717FD2C0}"/>
              </a:ext>
            </a:extLst>
          </p:cNvPr>
          <p:cNvSpPr>
            <a:spLocks xmlns:a="http://schemas.openxmlformats.org/drawingml/2006/main" noGrp="1"/>
          </p:cNvSpPr>
          <p:nvPr/>
        </p:nvSpPr>
        <p:spPr>
          <a:xfrm xmlns:a="http://schemas.openxmlformats.org/drawingml/2006/main">
            <a:off x="609600" y="57531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B5B1A8"/>
                </a:solidFill>
                <a:latin typeface="Arial"/>
                <a:ea typeface="Arial"/>
                <a:cs typeface="Arial"/>
              </a:defRPr>
            </a:defPPr>
          </a:lstStyle>
          <a:p xmlns:a="http://schemas.openxmlformats.org/drawingml/2006/main">
            <a:pPr>
              <a:defRPr sz="1425" b="0">
                <a:solidFill>
                  <a:srgbClr val="B5B1A8"/>
                </a:solidFill>
                <a:latin typeface="Arial"/>
                <a:ea typeface="Arial"/>
                <a:cs typeface="Arial"/>
              </a:defRPr>
            </a:pPr>
            <a:r>
              <a:rPr sz="1425" b="0">
                <a:solidFill>
                  <a:srgbClr val="B5B1A8"/>
                </a:solidFill>
                <a:latin typeface="Arial"/>
                <a:ea typeface="Arial"/>
                <a:cs typeface="Arial"/>
              </a:rPr>
              <a:t>Schedule and budget reproduced from the source. Current readiness, financing and location access require confirmation.</a:t>
            </a:r>
          </a:p>
        </p:txBody>
      </p:sp>
    </p:spTree>
    <p:extLst>
      <p:ext uri="{BB962C8B-B14F-4D97-AF65-F5344CB8AC3E}">
        <p14:creationId xmlns:p14="http://schemas.microsoft.com/office/powerpoint/2010/main" val="1564347685"/>
      </p:ext>
    </p:extLst>
  </p:cSld>
</p:sld>
</file>

<file path=ppt/slides/slide14.xml><?xml version="1.0" encoding="utf-8"?>
<p:sld xmlns:p="http://schemas.openxmlformats.org/presentationml/2006/main">
  <p:cSld>
    <p:bg>
      <p:bgPr>
        <a:solidFill xmlns:a="http://schemas.openxmlformats.org/drawingml/2006/main">
          <a:srgbClr val="0C0C0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E0D34D-F400-40AF-9573-5FAA3C1BEFBE}"/>
              </a:ext>
            </a:extLst>
          </p:cNvPr>
          <p:cNvSpPr>
            <a:spLocks xmlns:a="http://schemas.openxmlformats.org/drawingml/2006/main" noGrp="1"/>
          </p:cNvSpPr>
          <p:nvPr/>
        </p:nvSpPr>
        <p:spPr>
          <a:xfrm xmlns:a="http://schemas.openxmlformats.org/drawingml/2006/main">
            <a:off x="609600" y="30480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4A548"/>
                </a:solidFill>
                <a:latin typeface="Arial"/>
                <a:ea typeface="Arial"/>
                <a:cs typeface="Arial"/>
              </a:defRPr>
            </a:defPPr>
          </a:lstStyle>
          <a:p xmlns:a="http://schemas.openxmlformats.org/drawingml/2006/main">
            <a:pPr>
              <a:defRPr sz="1275" b="0">
                <a:solidFill>
                  <a:srgbClr val="C4A548"/>
                </a:solidFill>
                <a:latin typeface="Arial"/>
                <a:ea typeface="Arial"/>
                <a:cs typeface="Arial"/>
              </a:defRPr>
            </a:pPr>
            <a:r>
              <a:rPr sz="1275" b="0">
                <a:solidFill>
                  <a:srgbClr val="C4A548"/>
                </a:solidFill>
                <a:latin typeface="Arial"/>
                <a:ea typeface="Arial"/>
                <a:cs typeface="Arial"/>
              </a:rPr>
              <a:t>NCCA ENTERTAINMENT</a:t>
            </a:r>
          </a:p>
        </p:txBody>
      </p:sp>
      <p:sp>
        <p:nvSpPr>
          <p:cNvPr id="2" name="">
            <a:extLst xmlns:a="http://schemas.openxmlformats.org/drawingml/2006/main">
              <a:ext uri="{FF2B5EF4-FFF2-40B4-BE49-F238E27FC236}">
                <a16:creationId xmlns:a16="http://schemas.microsoft.com/office/drawing/2014/main" id="{2B32A4EC-F3D1-486B-9FE6-89DCD90AA18B}"/>
              </a:ext>
            </a:extLst>
          </p:cNvPr>
          <p:cNvSpPr>
            <a:spLocks xmlns:a="http://schemas.openxmlformats.org/drawingml/2006/main" noGrp="1"/>
          </p:cNvSpPr>
          <p:nvPr/>
        </p:nvSpPr>
        <p:spPr>
          <a:xfrm xmlns:a="http://schemas.openxmlformats.org/drawingml/2006/main">
            <a:off x="609600" y="9429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FINAL WALK</a:t>
            </a:r>
          </a:p>
        </p:txBody>
      </p:sp>
      <p:sp>
        <p:nvSpPr>
          <p:cNvPr id="3" name="">
            <a:extLst xmlns:a="http://schemas.openxmlformats.org/drawingml/2006/main">
              <a:ext uri="{FF2B5EF4-FFF2-40B4-BE49-F238E27FC236}">
                <a16:creationId xmlns:a16="http://schemas.microsoft.com/office/drawing/2014/main" id="{0829F502-5B00-4CB0-B5C8-D344293C6FAC}"/>
              </a:ext>
            </a:extLst>
          </p:cNvPr>
          <p:cNvSpPr>
            <a:spLocks xmlns:a="http://schemas.openxmlformats.org/drawingml/2006/main" noGrp="1"/>
          </p:cNvSpPr>
          <p:nvPr/>
        </p:nvSpPr>
        <p:spPr>
          <a:xfrm xmlns:a="http://schemas.openxmlformats.org/drawingml/2006/main">
            <a:off x="609600" y="62674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5B1A8"/>
                </a:solidFill>
                <a:latin typeface="Arial"/>
                <a:ea typeface="Arial"/>
                <a:cs typeface="Arial"/>
              </a:defRPr>
            </a:defPPr>
          </a:lstStyle>
          <a:p xmlns:a="http://schemas.openxmlformats.org/drawingml/2006/main">
            <a:pPr>
              <a:defRPr sz="1050" b="0">
                <a:solidFill>
                  <a:srgbClr val="B5B1A8"/>
                </a:solidFill>
                <a:latin typeface="Arial"/>
                <a:ea typeface="Arial"/>
                <a:cs typeface="Arial"/>
              </a:defRPr>
            </a:pPr>
            <a:r>
              <a:rPr sz="1050" b="0">
                <a:solidFill>
                  <a:srgbClr val="B5B1A8"/>
                </a:solidFill>
                <a:latin typeface="Arial"/>
                <a:ea typeface="Arial"/>
                <a:cs typeface="Arial"/>
              </a:rPr>
              <a:t>© 2026 NCCA Entertainment. All rights reserved.</a:t>
            </a:r>
          </a:p>
        </p:txBody>
      </p:sp>
      <p:sp>
        <p:nvSpPr>
          <p:cNvPr id="4" name="">
            <a:extLst xmlns:a="http://schemas.openxmlformats.org/drawingml/2006/main">
              <a:ext uri="{FF2B5EF4-FFF2-40B4-BE49-F238E27FC236}">
                <a16:creationId xmlns:a16="http://schemas.microsoft.com/office/drawing/2014/main" id="{857471B1-D279-4878-9917-33290BAB69FD}"/>
              </a:ext>
            </a:extLst>
          </p:cNvPr>
          <p:cNvSpPr>
            <a:spLocks xmlns:a="http://schemas.openxmlformats.org/drawingml/2006/main" noGrp="1"/>
          </p:cNvSpPr>
          <p:nvPr/>
        </p:nvSpPr>
        <p:spPr>
          <a:xfrm xmlns:a="http://schemas.openxmlformats.org/drawingml/2006/main">
            <a:off x="11049000"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C4A548"/>
                </a:solidFill>
                <a:latin typeface="Arial"/>
                <a:ea typeface="Arial"/>
                <a:cs typeface="Arial"/>
              </a:defRPr>
            </a:defPPr>
          </a:lstStyle>
          <a:p xmlns:a="http://schemas.openxmlformats.org/drawingml/2006/main">
            <a:pPr>
              <a:defRPr sz="1050" b="0">
                <a:solidFill>
                  <a:srgbClr val="C4A548"/>
                </a:solidFill>
                <a:latin typeface="Arial"/>
                <a:ea typeface="Arial"/>
                <a:cs typeface="Arial"/>
              </a:defRPr>
            </a:pPr>
            <a:r>
              <a:rPr sz="1050" b="0">
                <a:solidFill>
                  <a:srgbClr val="C4A548"/>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698F68CF-BBCD-4F80-894C-80E8F7577002}"/>
              </a:ext>
            </a:extLst>
          </p:cNvPr>
          <p:cNvSpPr>
            <a:spLocks xmlns:a="http://schemas.openxmlformats.org/drawingml/2006/main" noGrp="1"/>
          </p:cNvSpPr>
          <p:nvPr/>
        </p:nvSpPr>
        <p:spPr>
          <a:xfrm xmlns:a="http://schemas.openxmlformats.org/drawingml/2006/main">
            <a:off x="609600" y="2124075"/>
            <a:ext cx="10572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F4F1E9"/>
                </a:solidFill>
                <a:latin typeface="Georgia"/>
                <a:ea typeface="Georgia"/>
                <a:cs typeface="Georgia"/>
              </a:defRPr>
            </a:defPPr>
          </a:lstStyle>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Let her walk one final runway.</a:t>
            </a:r>
          </a:p>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Let her speak.</a:t>
            </a:r>
          </a:p>
          <a:p xmlns:a="http://schemas.openxmlformats.org/drawingml/2006/main">
            <a:pPr>
              <a:defRPr sz="3600" b="0">
                <a:solidFill>
                  <a:srgbClr val="F4F1E9"/>
                </a:solidFill>
                <a:latin typeface="Georgia"/>
                <a:ea typeface="Georgia"/>
                <a:cs typeface="Georgia"/>
              </a:defRPr>
            </a:pPr>
            <a:r>
              <a:rPr sz="3600" b="0">
                <a:solidFill>
                  <a:srgbClr val="F4F1E9"/>
                </a:solidFill>
                <a:latin typeface="Georgia"/>
                <a:ea typeface="Georgia"/>
                <a:cs typeface="Georgia"/>
              </a:rPr>
              <a:t>Let the world watch.</a:t>
            </a:r>
          </a:p>
        </p:txBody>
      </p:sp>
      <p:sp>
        <p:nvSpPr>
          <p:cNvPr id="6" name="">
            <a:extLst xmlns:a="http://schemas.openxmlformats.org/drawingml/2006/main">
              <a:ext uri="{FF2B5EF4-FFF2-40B4-BE49-F238E27FC236}">
                <a16:creationId xmlns:a16="http://schemas.microsoft.com/office/drawing/2014/main" id="{E424C25E-0A3B-41C7-BFB8-E5C7EA42A601}"/>
              </a:ext>
            </a:extLst>
          </p:cNvPr>
          <p:cNvSpPr>
            <a:spLocks xmlns:a="http://schemas.openxmlformats.org/drawingml/2006/main" noGrp="1"/>
          </p:cNvSpPr>
          <p:nvPr/>
        </p:nvSpPr>
        <p:spPr>
          <a:xfrm xmlns:a="http://schemas.openxmlformats.org/drawingml/2006/main">
            <a:off x="609600" y="48196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C4A548"/>
                </a:solidFill>
                <a:latin typeface="Arial"/>
                <a:ea typeface="Arial"/>
                <a:cs typeface="Arial"/>
              </a:defRPr>
            </a:defPPr>
          </a:lstStyle>
          <a:p xmlns:a="http://schemas.openxmlformats.org/drawingml/2006/main">
            <a:pPr>
              <a:defRPr sz="2250" b="0">
                <a:solidFill>
                  <a:srgbClr val="C4A548"/>
                </a:solidFill>
                <a:latin typeface="Arial"/>
                <a:ea typeface="Arial"/>
                <a:cs typeface="Arial"/>
              </a:defRPr>
            </a:pPr>
            <a:r>
              <a:rPr sz="2250" b="0">
                <a:solidFill>
                  <a:srgbClr val="C4A548"/>
                </a:solidFill>
                <a:latin typeface="Arial"/>
                <a:ea typeface="Arial"/>
                <a:cs typeface="Arial"/>
              </a:rPr>
              <a:t>Kelly R. Tenney</a:t>
            </a:r>
          </a:p>
        </p:txBody>
      </p:sp>
      <p:sp>
        <p:nvSpPr>
          <p:cNvPr id="7" name="">
            <a:extLst xmlns:a="http://schemas.openxmlformats.org/drawingml/2006/main">
              <a:ext uri="{FF2B5EF4-FFF2-40B4-BE49-F238E27FC236}">
                <a16:creationId xmlns:a16="http://schemas.microsoft.com/office/drawing/2014/main" id="{3DFD6705-607E-4DD8-8760-922F85CD5FDF}"/>
              </a:ext>
            </a:extLst>
          </p:cNvPr>
          <p:cNvSpPr>
            <a:spLocks xmlns:a="http://schemas.openxmlformats.org/drawingml/2006/main" noGrp="1"/>
          </p:cNvSpPr>
          <p:nvPr/>
        </p:nvSpPr>
        <p:spPr>
          <a:xfrm xmlns:a="http://schemas.openxmlformats.org/drawingml/2006/main">
            <a:off x="609600" y="531495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4F1E9"/>
                </a:solidFill>
                <a:latin typeface="Arial"/>
                <a:ea typeface="Arial"/>
                <a:cs typeface="Arial"/>
              </a:defRPr>
            </a:defPPr>
          </a:lstStyle>
          <a:p xmlns:a="http://schemas.openxmlformats.org/drawingml/2006/main">
            <a:pPr>
              <a:defRPr sz="1875" b="0">
                <a:solidFill>
                  <a:srgbClr val="F4F1E9"/>
                </a:solidFill>
                <a:latin typeface="Arial"/>
                <a:ea typeface="Arial"/>
                <a:cs typeface="Arial"/>
              </a:defRPr>
            </a:pPr>
            <a:r>
              <a:rPr sz="1875" b="0">
                <a:solidFill>
                  <a:srgbClr val="F4F1E9"/>
                </a:solidFill>
                <a:latin typeface="Arial"/>
                <a:ea typeface="Arial"/>
                <a:cs typeface="Arial"/>
              </a:rPr>
              <a:t>NCCA Entertainment</a:t>
            </a:r>
          </a:p>
          <a:p xmlns:a="http://schemas.openxmlformats.org/drawingml/2006/main">
            <a:pPr>
              <a:defRPr sz="1875" b="0">
                <a:solidFill>
                  <a:srgbClr val="F4F1E9"/>
                </a:solidFill>
                <a:latin typeface="Arial"/>
                <a:ea typeface="Arial"/>
                <a:cs typeface="Arial"/>
              </a:defRPr>
            </a:pPr>
            <a:r>
              <a:rPr sz="1875" b="0">
                <a:solidFill>
                  <a:srgbClr val="F4F1E9"/>
                </a:solidFill>
                <a:latin typeface="Arial"/>
                <a:ea typeface="Arial"/>
                <a:cs typeface="Arial"/>
              </a:rPr>
              <a:t>contact@nccaentertainment.com</a:t>
            </a:r>
          </a:p>
        </p:txBody>
      </p:sp>
    </p:spTree>
    <p:extLst>
      <p:ext uri="{BB962C8B-B14F-4D97-AF65-F5344CB8AC3E}">
        <p14:creationId xmlns:p14="http://schemas.microsoft.com/office/powerpoint/2010/main" val="1760159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2026-10-14T15:13:23.3530000Z</dcterms:created>
  <dcterms:modified xsi:type="dcterms:W3CDTF">2026-10-14T15:13:23.3530000Z</dcterms:modified>
</coreProperties>
</file>